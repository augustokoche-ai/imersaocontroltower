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12 PROMPTS DA IMERSÃO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prompts,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projeto só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6278" y="1582301"/>
            <a:ext cx="2743171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742537" y="1582301"/>
            <a:ext cx="88522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822308" y="1582301"/>
            <a:ext cx="675283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NASCE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1981" y="1880744"/>
            <a:ext cx="2866259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76278" y="1982341"/>
            <a:ext cx="2743171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· segunda · analista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28240" y="1880744"/>
            <a:ext cx="1079771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42537" y="1982341"/>
            <a:ext cx="88522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nenhum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8010" y="1880744"/>
            <a:ext cx="6721704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22308" y="1982341"/>
            <a:ext cx="675283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tudo no navegador: bronze, SQL, dashboard e Genie sem curadoria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1981" y="2316303"/>
            <a:ext cx="2866259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6278" y="2417900"/>
            <a:ext cx="2743171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· terça · engenheiro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28240" y="2316303"/>
            <a:ext cx="1079771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742537" y="2417900"/>
            <a:ext cx="88522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 a 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8010" y="2316303"/>
            <a:ext cx="6721704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22308" y="2417900"/>
            <a:ext cx="675283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 em Python (aquecimento), bundle, silver, gold, IA no texto e métrica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1981" y="2751862"/>
            <a:ext cx="2866259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76278" y="2853460"/>
            <a:ext cx="2743171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· quarta · cientista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28240" y="2751862"/>
            <a:ext cx="1079771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742537" y="2853460"/>
            <a:ext cx="88522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a 9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8010" y="2751862"/>
            <a:ext cx="6721704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22308" y="2853460"/>
            <a:ext cx="675283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features, modelo, score e o dono perguntando: dashboard e Genie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1981" y="3187422"/>
            <a:ext cx="2866259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76278" y="3289019"/>
            <a:ext cx="2743171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· quinta · engenheiro de IA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28240" y="3187422"/>
            <a:ext cx="1079771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742537" y="3289019"/>
            <a:ext cx="88522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a 12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8010" y="3187422"/>
            <a:ext cx="6721704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822308" y="3289019"/>
            <a:ext cx="675283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agente de contratos, o app da Torre e as decisões no Lakebase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1981" y="3724579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14377" y="3762678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prompt 0 é o aquecimento: Python buscando uma API. Os 12 seguintes constroem a Torre, e cada um deixa algo novo no workspace.</a:t>
            </a:r>
            <a:endParaRPr lang="en-US" sz="11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11134050" y="6387940"/>
            <a:ext cx="30749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/ 13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1041374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1 DE 12 · NOITE 2 · TERÇA · ENGENHEIRO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1365216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projeto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vira código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61981" y="2052189"/>
            <a:ext cx="6111722" cy="1499654"/>
          </a:xfrm>
          <a:prstGeom prst="roundRect">
            <a:avLst>
              <a:gd name="adj" fmla="val 1016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4225" y="2249034"/>
            <a:ext cx="96983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3123" y="2287133"/>
            <a:ext cx="82372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ele cria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84225" y="266812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74721" y="2585576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bundle vertice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o projeto inteiro em arquivos: databricks.yml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84225" y="2949997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4721" y="2867449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job vertice_farol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roda toda segunda às 6h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4225" y="3231871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4721" y="3149323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tarefa conferencia_bronze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confere as 9 tabelas antes de tudo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64198" y="2052189"/>
            <a:ext cx="4365516" cy="1422662"/>
          </a:xfrm>
          <a:prstGeom prst="roundRect">
            <a:avLst>
              <a:gd name="adj" fmla="val 10712"/>
            </a:avLst>
          </a:prstGeom>
          <a:solidFill>
            <a:srgbClr val="0059DB"/>
          </a:solidFill>
          <a:ln/>
        </p:spPr>
      </p:sp>
      <p:sp>
        <p:nvSpPr>
          <p:cNvPr id="15" name="Shape 13"/>
          <p:cNvSpPr/>
          <p:nvPr/>
        </p:nvSpPr>
        <p:spPr>
          <a:xfrm>
            <a:off x="7286443" y="2249034"/>
            <a:ext cx="137583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75341" y="2287133"/>
            <a:ext cx="124595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número que prova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286443" y="2585576"/>
            <a:ext cx="407786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ok</a:t>
            </a:r>
            <a:endParaRPr lang="en-US" sz="3300" dirty="0"/>
          </a:p>
        </p:txBody>
      </p:sp>
      <p:sp>
        <p:nvSpPr>
          <p:cNvPr id="18" name="Text 16"/>
          <p:cNvSpPr txBox="1"/>
          <p:nvPr/>
        </p:nvSpPr>
        <p:spPr>
          <a:xfrm>
            <a:off x="7286443" y="3080864"/>
            <a:ext cx="4077868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9 tabelas da bronze com as linhas esperadas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1981" y="3716939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377" y="3755038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~40 s · todo o resto roda dentro deste job</a:t>
            </a:r>
            <a:endParaRPr lang="en-US" sz="11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1105178" y="6387940"/>
            <a:ext cx="33751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1041374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2 DE 12 · NOITE 2 · TERÇA · ENGENHEIRO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1365216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três ferramentas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viram uma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61981" y="2052189"/>
            <a:ext cx="6111722" cy="1987203"/>
          </a:xfrm>
          <a:prstGeom prst="roundRect">
            <a:avLst>
              <a:gd name="adj" fmla="val 7669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4225" y="2249034"/>
            <a:ext cx="96983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3123" y="2287133"/>
            <a:ext cx="82372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ele cria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84225" y="266812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74721" y="2585576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 vertice_medalhao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Lakeflow: você declara, ele acha a ordem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84225" y="2949997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4721" y="2867449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silver.tarefas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Excel + ClickUp + Project, mesmas colunas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4225" y="3231871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4721" y="3149323"/>
            <a:ext cx="5695808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+ 6 tabelas silver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projetos, status, custos, pessoas, timesheet, fornecedores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84225" y="3719420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74721" y="3636872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EXPECT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regras que param o pipeline se o dado quebrar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64198" y="2052189"/>
            <a:ext cx="4365516" cy="1619805"/>
          </a:xfrm>
          <a:prstGeom prst="roundRect">
            <a:avLst>
              <a:gd name="adj" fmla="val 9408"/>
            </a:avLst>
          </a:prstGeom>
          <a:solidFill>
            <a:srgbClr val="0059DB"/>
          </a:solidFill>
          <a:ln/>
        </p:spPr>
      </p:sp>
      <p:sp>
        <p:nvSpPr>
          <p:cNvPr id="17" name="Shape 15"/>
          <p:cNvSpPr/>
          <p:nvPr/>
        </p:nvSpPr>
        <p:spPr>
          <a:xfrm>
            <a:off x="7286443" y="2249034"/>
            <a:ext cx="137583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75341" y="2287133"/>
            <a:ext cx="124595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número que prova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286443" y="2585576"/>
            <a:ext cx="407786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4.917</a:t>
            </a:r>
            <a:endParaRPr lang="en-US" sz="3300" dirty="0"/>
          </a:p>
        </p:txBody>
      </p:sp>
      <p:sp>
        <p:nvSpPr>
          <p:cNvPr id="20" name="Text 18"/>
          <p:cNvSpPr txBox="1"/>
          <p:nvPr/>
        </p:nvSpPr>
        <p:spPr>
          <a:xfrm>
            <a:off x="7286443" y="3080864"/>
            <a:ext cx="407786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tarefas de 60 projetos. O custo não mudou: R$ 193,35 mi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61981" y="4204488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377" y="4242587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~2 min · a base de tudo que vem depois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1102995" y="6387940"/>
            <a:ext cx="33978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1041374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3 DE 12 · NOITE 2 · TERÇA · ENGENHEIRO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1365216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gold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responde ao dono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61981" y="2052189"/>
            <a:ext cx="6111722" cy="1781527"/>
          </a:xfrm>
          <a:prstGeom prst="roundRect">
            <a:avLst>
              <a:gd name="adj" fmla="val 8554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4225" y="2249034"/>
            <a:ext cx="96983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3123" y="2287133"/>
            <a:ext cx="82372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ele cria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84225" y="266812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74721" y="2585576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gold.projeto_situacao_atual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a fotografia: um projeto, hoje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84225" y="2949997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4721" y="2867449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gold.fato_projeto_semana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o filme: um projeto em cada sexta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4225" y="3231871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4721" y="3149323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gold.utilizacao_pessoa_semana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as pessoas: quem está parado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84225" y="351374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74721" y="3431196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tarefa testes_de_qualidade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10 testes que quebram o job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64198" y="2052189"/>
            <a:ext cx="4365516" cy="1619805"/>
          </a:xfrm>
          <a:prstGeom prst="roundRect">
            <a:avLst>
              <a:gd name="adj" fmla="val 9408"/>
            </a:avLst>
          </a:prstGeom>
          <a:solidFill>
            <a:srgbClr val="0059DB"/>
          </a:solidFill>
          <a:ln/>
        </p:spPr>
      </p:sp>
      <p:sp>
        <p:nvSpPr>
          <p:cNvPr id="17" name="Shape 15"/>
          <p:cNvSpPr/>
          <p:nvPr/>
        </p:nvSpPr>
        <p:spPr>
          <a:xfrm>
            <a:off x="7286443" y="2249034"/>
            <a:ext cx="137583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75341" y="2287133"/>
            <a:ext cx="124595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número que prova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286443" y="2585576"/>
            <a:ext cx="407786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· 10 · 4</a:t>
            </a:r>
            <a:endParaRPr lang="en-US" sz="3300" dirty="0"/>
          </a:p>
        </p:txBody>
      </p:sp>
      <p:sp>
        <p:nvSpPr>
          <p:cNvPr id="20" name="Text 18"/>
          <p:cNvSpPr txBox="1"/>
          <p:nvPr/>
        </p:nvSpPr>
        <p:spPr>
          <a:xfrm>
            <a:off x="7286443" y="3080864"/>
            <a:ext cx="407786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críticos, em atenção e melancias. R$ 6,47 mi de estouro previsto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61981" y="3998813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377" y="4036912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~3 min · usada pelo modelo (noite 3) e pelo app (noite 4)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1096348" y="6387940"/>
            <a:ext cx="34670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1041374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4 DE 12 · NOITE 2 · TERÇA · ENGENHEIRO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1365216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texto do status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vira coluna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61981" y="2052189"/>
            <a:ext cx="6111722" cy="1705329"/>
          </a:xfrm>
          <a:prstGeom prst="roundRect">
            <a:avLst>
              <a:gd name="adj" fmla="val 8936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4225" y="2249034"/>
            <a:ext cx="96983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3123" y="2287133"/>
            <a:ext cx="82372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ele cria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84225" y="266812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74721" y="2585576"/>
            <a:ext cx="5695808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gold.status_estruturado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causa, bloqueio, quem destrava, dias de impacto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84225" y="315567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4721" y="3073125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ai_classify + ai_extract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IA dentro do SQL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4225" y="343754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4721" y="3354998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tarefa status_com_ia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MERGE incremental: IA só no status novo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64198" y="2052189"/>
            <a:ext cx="4365516" cy="1619805"/>
          </a:xfrm>
          <a:prstGeom prst="roundRect">
            <a:avLst>
              <a:gd name="adj" fmla="val 9408"/>
            </a:avLst>
          </a:prstGeom>
          <a:solidFill>
            <a:srgbClr val="0059DB"/>
          </a:solidFill>
          <a:ln/>
        </p:spPr>
      </p:sp>
      <p:sp>
        <p:nvSpPr>
          <p:cNvPr id="15" name="Shape 13"/>
          <p:cNvSpPr/>
          <p:nvPr/>
        </p:nvSpPr>
        <p:spPr>
          <a:xfrm>
            <a:off x="7286443" y="2249034"/>
            <a:ext cx="137583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75341" y="2287133"/>
            <a:ext cx="124595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número que prova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286443" y="2585576"/>
            <a:ext cx="407786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163</a:t>
            </a:r>
            <a:endParaRPr lang="en-US" sz="3300" dirty="0"/>
          </a:p>
        </p:txBody>
      </p:sp>
      <p:sp>
        <p:nvSpPr>
          <p:cNvPr id="18" name="Text 16"/>
          <p:cNvSpPr txBox="1"/>
          <p:nvPr/>
        </p:nvSpPr>
        <p:spPr>
          <a:xfrm>
            <a:off x="7286443" y="3080864"/>
            <a:ext cx="407786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status lidos pela IA em ~2 min. PRJ-011: falta de SRE há 12 semanas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1981" y="3922614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377" y="3960713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~2 min · a "causa" no app e no Genie da noite 4</a:t>
            </a:r>
            <a:endParaRPr lang="en-US" sz="11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1097340" y="6387940"/>
            <a:ext cx="34566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1041374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5 DE 12 · NOITE 2 · TERÇA · ENGENHEIRO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1365216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KPI definido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vez só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61981" y="2052189"/>
            <a:ext cx="6111722" cy="1499654"/>
          </a:xfrm>
          <a:prstGeom prst="roundRect">
            <a:avLst>
              <a:gd name="adj" fmla="val 1016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4225" y="2249034"/>
            <a:ext cx="96983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3123" y="2287133"/>
            <a:ext cx="82372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ele cria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84225" y="266812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74721" y="2585576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gold.mv_projetos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metric view: a fórmula, não o número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84225" y="2949997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4721" y="2867449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 medidas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SPI, CPI, estouro, críticos, melancias…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4225" y="3231871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4721" y="3149323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tarefa metricas_governadas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a última caixa do job da noite 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64198" y="2052189"/>
            <a:ext cx="4365516" cy="1619805"/>
          </a:xfrm>
          <a:prstGeom prst="roundRect">
            <a:avLst>
              <a:gd name="adj" fmla="val 9408"/>
            </a:avLst>
          </a:prstGeom>
          <a:solidFill>
            <a:srgbClr val="0059DB"/>
          </a:solidFill>
          <a:ln/>
        </p:spPr>
      </p:sp>
      <p:sp>
        <p:nvSpPr>
          <p:cNvPr id="15" name="Shape 13"/>
          <p:cNvSpPr/>
          <p:nvPr/>
        </p:nvSpPr>
        <p:spPr>
          <a:xfrm>
            <a:off x="7286443" y="2249034"/>
            <a:ext cx="137583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75341" y="2287133"/>
            <a:ext cx="124595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número que prova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286443" y="2585576"/>
            <a:ext cx="407786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0,92 · 0,97</a:t>
            </a:r>
            <a:endParaRPr lang="en-US" sz="3300" dirty="0"/>
          </a:p>
        </p:txBody>
      </p:sp>
      <p:sp>
        <p:nvSpPr>
          <p:cNvPr id="18" name="Text 16"/>
          <p:cNvSpPr txBox="1"/>
          <p:nvPr/>
        </p:nvSpPr>
        <p:spPr>
          <a:xfrm>
            <a:off x="7286443" y="3080864"/>
            <a:ext cx="407786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SPI e CPI da carteira, iguais no SQL, no dashboard e no Genie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1981" y="3837090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377" y="3875189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~10 s · o Genie da noite 4 lê daqui</a:t>
            </a:r>
            <a:endParaRPr lang="en-US" sz="11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1096943" y="6387940"/>
            <a:ext cx="346082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1041374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6 DE 12 · NOITE 3 · QUARTA · CIENTISTA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1365216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descreve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projeto que vai estourar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61981" y="2052189"/>
            <a:ext cx="6111722" cy="1705329"/>
          </a:xfrm>
          <a:prstGeom prst="roundRect">
            <a:avLst>
              <a:gd name="adj" fmla="val 8936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4225" y="2249034"/>
            <a:ext cx="96983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3123" y="2287133"/>
            <a:ext cx="82372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ele cria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84225" y="266812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74721" y="2585576"/>
            <a:ext cx="5695808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ml.features_projeto_semana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um projeto numa semana, só olhando para trás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84225" y="315567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4721" y="3073125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alvos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estoura em 30 dias? e o quanto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4225" y="343754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4721" y="3354998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tarefa ml_features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mais uma caixa no mesmo job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64198" y="2052189"/>
            <a:ext cx="4365516" cy="1422662"/>
          </a:xfrm>
          <a:prstGeom prst="roundRect">
            <a:avLst>
              <a:gd name="adj" fmla="val 10712"/>
            </a:avLst>
          </a:prstGeom>
          <a:solidFill>
            <a:srgbClr val="0059DB"/>
          </a:solidFill>
          <a:ln/>
        </p:spPr>
      </p:sp>
      <p:sp>
        <p:nvSpPr>
          <p:cNvPr id="15" name="Shape 13"/>
          <p:cNvSpPr/>
          <p:nvPr/>
        </p:nvSpPr>
        <p:spPr>
          <a:xfrm>
            <a:off x="7286443" y="2249034"/>
            <a:ext cx="137583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75341" y="2287133"/>
            <a:ext cx="124595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número que prova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286443" y="2585576"/>
            <a:ext cx="407786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4.235</a:t>
            </a:r>
            <a:endParaRPr lang="en-US" sz="3300" dirty="0"/>
          </a:p>
        </p:txBody>
      </p:sp>
      <p:sp>
        <p:nvSpPr>
          <p:cNvPr id="18" name="Text 16"/>
          <p:cNvSpPr txBox="1"/>
          <p:nvPr/>
        </p:nvSpPr>
        <p:spPr>
          <a:xfrm>
            <a:off x="7286443" y="3080864"/>
            <a:ext cx="4077868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linhas: cada uma é um "momento" de um projeto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1981" y="3922614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377" y="3960713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~20 s · o schema ml é o laboratório do cientista</a:t>
            </a:r>
            <a:endParaRPr lang="en-US" sz="11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1107361" y="6387940"/>
            <a:ext cx="33524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1041374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7 DE 12 · NOITE 3 · QUARTA · CIENTISTA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1365216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modelo vale mais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 a regra de hoje?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61981" y="2052189"/>
            <a:ext cx="6111722" cy="1987203"/>
          </a:xfrm>
          <a:prstGeom prst="roundRect">
            <a:avLst>
              <a:gd name="adj" fmla="val 7669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4225" y="2249034"/>
            <a:ext cx="96983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3123" y="2287133"/>
            <a:ext cx="82372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ele cria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84225" y="266812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74721" y="2585576"/>
            <a:ext cx="5695808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ml.modelo_estouro_30d @prod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o modelo registrado no Unity Catalog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84225" y="315567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4721" y="3073125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ml.modelo_metricas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o modelo contra as regras simples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4225" y="343754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4721" y="3354998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experimento no MLflow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cada treino anotado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84225" y="3719420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74721" y="3636872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tarefa ml_modelo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treina de novo toda segunda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64198" y="2052189"/>
            <a:ext cx="4365516" cy="1619805"/>
          </a:xfrm>
          <a:prstGeom prst="roundRect">
            <a:avLst>
              <a:gd name="adj" fmla="val 9408"/>
            </a:avLst>
          </a:prstGeom>
          <a:solidFill>
            <a:srgbClr val="0059DB"/>
          </a:solidFill>
          <a:ln/>
        </p:spPr>
      </p:sp>
      <p:sp>
        <p:nvSpPr>
          <p:cNvPr id="17" name="Shape 15"/>
          <p:cNvSpPr/>
          <p:nvPr/>
        </p:nvSpPr>
        <p:spPr>
          <a:xfrm>
            <a:off x="7286443" y="2249034"/>
            <a:ext cx="137583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75341" y="2287133"/>
            <a:ext cx="124595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número que prova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286443" y="2585576"/>
            <a:ext cx="407786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AUC 0,92</a:t>
            </a:r>
            <a:endParaRPr lang="en-US" sz="3300" dirty="0"/>
          </a:p>
        </p:txBody>
      </p:sp>
      <p:sp>
        <p:nvSpPr>
          <p:cNvPr id="20" name="Text 18"/>
          <p:cNvSpPr txBox="1"/>
          <p:nvPr/>
        </p:nvSpPr>
        <p:spPr>
          <a:xfrm>
            <a:off x="7286443" y="3080864"/>
            <a:ext cx="407786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contra 0,50 da regra atual. 9 de 10 estouros achados 41 dias antes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61981" y="4204488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377" y="4242587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~1 min · com teste contra vazamento (&lt; 0,98)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1097439" y="6387940"/>
            <a:ext cx="345566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1041374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8 DE 12 · NOITE 3 · QUARTA · CIENTISTA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1365216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lista que o dono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abre na segunda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61981" y="2052189"/>
            <a:ext cx="6111722" cy="1423456"/>
          </a:xfrm>
          <a:prstGeom prst="roundRect">
            <a:avLst>
              <a:gd name="adj" fmla="val 10706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4225" y="2249034"/>
            <a:ext cx="96983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3123" y="2287133"/>
            <a:ext cx="82372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ele cria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84225" y="266812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74721" y="2585576"/>
            <a:ext cx="5695808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gold.score_estouro_30d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probabilidade, ranking, faixa e motivos em português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84225" y="315567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4721" y="3073125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tarefa ml_score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o job sai de 5 para 8 tarefas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64198" y="2052189"/>
            <a:ext cx="4365516" cy="1619805"/>
          </a:xfrm>
          <a:prstGeom prst="roundRect">
            <a:avLst>
              <a:gd name="adj" fmla="val 9408"/>
            </a:avLst>
          </a:prstGeom>
          <a:solidFill>
            <a:srgbClr val="0059DB"/>
          </a:solidFill>
          <a:ln/>
        </p:spPr>
      </p:sp>
      <p:sp>
        <p:nvSpPr>
          <p:cNvPr id="13" name="Shape 11"/>
          <p:cNvSpPr/>
          <p:nvPr/>
        </p:nvSpPr>
        <p:spPr>
          <a:xfrm>
            <a:off x="7286443" y="2249034"/>
            <a:ext cx="137583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75341" y="2287133"/>
            <a:ext cx="124595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número que prova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286443" y="2585576"/>
            <a:ext cx="407786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 · 4 · 19</a:t>
            </a:r>
            <a:endParaRPr lang="en-US" sz="3300" dirty="0"/>
          </a:p>
        </p:txBody>
      </p:sp>
      <p:sp>
        <p:nvSpPr>
          <p:cNvPr id="16" name="Text 14"/>
          <p:cNvSpPr txBox="1"/>
          <p:nvPr/>
        </p:nvSpPr>
        <p:spPr>
          <a:xfrm>
            <a:off x="7286443" y="3080864"/>
            <a:ext cx="407786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projetos em risco alto, médio e baixo. O PRJ-024 está ok hoje e tem 46% de estourar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61981" y="3837090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377" y="3875189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~45 s · a resposta da pergunta 4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1097836" y="6387940"/>
            <a:ext cx="34515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/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1041374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9 DE 12 · NOITE 3 · QUARTA · CIENTISTA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1365216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dono pergunta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 português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61981" y="2052189"/>
            <a:ext cx="6111722" cy="1705329"/>
          </a:xfrm>
          <a:prstGeom prst="roundRect">
            <a:avLst>
              <a:gd name="adj" fmla="val 8936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4225" y="2249034"/>
            <a:ext cx="96983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3123" y="2287133"/>
            <a:ext cx="82372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ele cria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84225" y="266812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74721" y="2585576"/>
            <a:ext cx="5695808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 "Projeto Farol · Portfólio"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3 páginas: Portfólio, Pessoas, Fornecedores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84225" y="315567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4721" y="3073125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Genie "Farol · Diretoria"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com instruções de negócio e SQL de exemplo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4225" y="343754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4721" y="3354998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benchmark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20 perguntas com a resposta certa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64198" y="2052189"/>
            <a:ext cx="4365516" cy="1619805"/>
          </a:xfrm>
          <a:prstGeom prst="roundRect">
            <a:avLst>
              <a:gd name="adj" fmla="val 9408"/>
            </a:avLst>
          </a:prstGeom>
          <a:solidFill>
            <a:srgbClr val="0059DB"/>
          </a:solidFill>
          <a:ln/>
        </p:spPr>
      </p:sp>
      <p:sp>
        <p:nvSpPr>
          <p:cNvPr id="15" name="Shape 13"/>
          <p:cNvSpPr/>
          <p:nvPr/>
        </p:nvSpPr>
        <p:spPr>
          <a:xfrm>
            <a:off x="7286443" y="2249034"/>
            <a:ext cx="137583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75341" y="2287133"/>
            <a:ext cx="124595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número que prova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286443" y="2585576"/>
            <a:ext cx="407786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 de 20</a:t>
            </a:r>
            <a:endParaRPr lang="en-US" sz="3300" dirty="0"/>
          </a:p>
        </p:txBody>
      </p:sp>
      <p:sp>
        <p:nvSpPr>
          <p:cNvPr id="18" name="Text 16"/>
          <p:cNvSpPr txBox="1"/>
          <p:nvPr/>
        </p:nvSpPr>
        <p:spPr>
          <a:xfrm>
            <a:off x="7286443" y="3080864"/>
            <a:ext cx="407786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perguntas certas no benchmark. Na segunda ele errava as 4 do dono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1981" y="3922614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377" y="3960713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~6 min · depois do score · dashboard e Genie como código no bundle</a:t>
            </a:r>
            <a:endParaRPr lang="en-US" sz="11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1052593" y="6387940"/>
            <a:ext cx="392206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/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1041374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10 DE 12 · NOITE 4 · QUINTA · ENGENHEIRO DE IA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1365216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agente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 lê contrato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61981" y="2052189"/>
            <a:ext cx="6111722" cy="1781527"/>
          </a:xfrm>
          <a:prstGeom prst="roundRect">
            <a:avLst>
              <a:gd name="adj" fmla="val 8554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4225" y="2249034"/>
            <a:ext cx="96983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3123" y="2287133"/>
            <a:ext cx="82372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ele cria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84225" y="266812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74721" y="2585576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ai_parse_document + ai_extract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PDF vira linha e coluna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84225" y="2949997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4721" y="2867449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silver.contratos_clausulas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72 cláusulas dos 8 contratos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4225" y="3231871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4721" y="3149323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gold.contratos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um contrato por linha, com multa, SLA e renovação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84225" y="351374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74721" y="3431196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Genie "Farol · Diretoria + Contratos"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responde em R$ e cita a cláusula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64198" y="2052189"/>
            <a:ext cx="4365516" cy="1619805"/>
          </a:xfrm>
          <a:prstGeom prst="roundRect">
            <a:avLst>
              <a:gd name="adj" fmla="val 9408"/>
            </a:avLst>
          </a:prstGeom>
          <a:solidFill>
            <a:srgbClr val="0059DB"/>
          </a:solidFill>
          <a:ln/>
        </p:spPr>
      </p:sp>
      <p:sp>
        <p:nvSpPr>
          <p:cNvPr id="17" name="Shape 15"/>
          <p:cNvSpPr/>
          <p:nvPr/>
        </p:nvSpPr>
        <p:spPr>
          <a:xfrm>
            <a:off x="7286443" y="2249034"/>
            <a:ext cx="137583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75341" y="2287133"/>
            <a:ext cx="124595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número que prova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286443" y="2585576"/>
            <a:ext cx="407786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R$ 1,12 mi</a:t>
            </a:r>
            <a:endParaRPr lang="en-US" sz="3300" dirty="0"/>
          </a:p>
        </p:txBody>
      </p:sp>
      <p:sp>
        <p:nvSpPr>
          <p:cNvPr id="20" name="Text 18"/>
          <p:cNvSpPr txBox="1"/>
          <p:nvPr/>
        </p:nvSpPr>
        <p:spPr>
          <a:xfrm>
            <a:off x="7286443" y="3080864"/>
            <a:ext cx="407786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multa cobrável da CodeForge. NuvemSul e DataPrime renovaram sozinhos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61981" y="3998813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377" y="4036912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benchmark 10 de 10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1089601" y="6387940"/>
            <a:ext cx="35371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 /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1041374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11 DE 12 · NOITE 4 · QUINTA · ENGENHEIRO DE IA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1365216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projeto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ganha uma URL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61981" y="2052189"/>
            <a:ext cx="6111722" cy="1781527"/>
          </a:xfrm>
          <a:prstGeom prst="roundRect">
            <a:avLst>
              <a:gd name="adj" fmla="val 8554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4225" y="2249034"/>
            <a:ext cx="96983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3123" y="2287133"/>
            <a:ext cx="82372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ele cria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84225" y="266812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74721" y="2585576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farol-torre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Databricks App (AppKit, React)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84225" y="2949997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4721" y="2867449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Projetos em risco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a lista com o score e a causa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4225" y="3231871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4721" y="3149323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Simulador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e se eu mover esta pessoa?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84225" y="351374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74721" y="3431196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Perguntar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o Genie dentro do app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64198" y="2052189"/>
            <a:ext cx="4365516" cy="1619805"/>
          </a:xfrm>
          <a:prstGeom prst="roundRect">
            <a:avLst>
              <a:gd name="adj" fmla="val 9408"/>
            </a:avLst>
          </a:prstGeom>
          <a:solidFill>
            <a:srgbClr val="0059DB"/>
          </a:solidFill>
          <a:ln/>
        </p:spPr>
      </p:sp>
      <p:sp>
        <p:nvSpPr>
          <p:cNvPr id="17" name="Shape 15"/>
          <p:cNvSpPr/>
          <p:nvPr/>
        </p:nvSpPr>
        <p:spPr>
          <a:xfrm>
            <a:off x="7286443" y="2249034"/>
            <a:ext cx="137583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75341" y="2287133"/>
            <a:ext cx="124595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número que prova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286443" y="2585576"/>
            <a:ext cx="407786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 dias</a:t>
            </a:r>
            <a:endParaRPr lang="en-US" sz="3300" dirty="0"/>
          </a:p>
        </p:txBody>
      </p:sp>
      <p:sp>
        <p:nvSpPr>
          <p:cNvPr id="20" name="Text 18"/>
          <p:cNvSpPr txBox="1"/>
          <p:nvPr/>
        </p:nvSpPr>
        <p:spPr>
          <a:xfrm>
            <a:off x="7286443" y="3080864"/>
            <a:ext cx="407786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recuperados no PRJ-011 movendo a COL0017, com R$ 22,1 mil/mês de saldo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61981" y="3998813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377" y="4036912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login do workspace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1060729" y="6387940"/>
            <a:ext cx="38374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/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1041374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12 DE 12 · NOITE 4 · QUINTA · ENGENHEIRO DE IA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1365216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decisão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sai do WhatsApp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61981" y="2052189"/>
            <a:ext cx="6111722" cy="1781527"/>
          </a:xfrm>
          <a:prstGeom prst="roundRect">
            <a:avLst>
              <a:gd name="adj" fmla="val 8554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4225" y="2249034"/>
            <a:ext cx="96983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3123" y="2287133"/>
            <a:ext cx="82372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ele cria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84225" y="266812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74721" y="2585576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Lakebase (Postgres)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um banco de verdade dentro do Databricks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84225" y="2949997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4721" y="2867449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torre.decisoes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quem aprovou, quando e por quê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4225" y="3231871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4721" y="3149323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botão Aprovar / Recusar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no simulador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84225" y="351374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74721" y="3431196"/>
            <a:ext cx="569580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tela Decisões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o histórico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64198" y="2052189"/>
            <a:ext cx="4365516" cy="1619805"/>
          </a:xfrm>
          <a:prstGeom prst="roundRect">
            <a:avLst>
              <a:gd name="adj" fmla="val 9408"/>
            </a:avLst>
          </a:prstGeom>
          <a:solidFill>
            <a:srgbClr val="0059DB"/>
          </a:solidFill>
          <a:ln/>
        </p:spPr>
      </p:sp>
      <p:sp>
        <p:nvSpPr>
          <p:cNvPr id="17" name="Shape 15"/>
          <p:cNvSpPr/>
          <p:nvPr/>
        </p:nvSpPr>
        <p:spPr>
          <a:xfrm>
            <a:off x="7286443" y="2249034"/>
            <a:ext cx="137583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75341" y="2287133"/>
            <a:ext cx="124595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número que prova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286443" y="2585576"/>
            <a:ext cx="407786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R$ 3,0 mi</a:t>
            </a:r>
            <a:endParaRPr lang="en-US" sz="3300" dirty="0"/>
          </a:p>
        </p:txBody>
      </p:sp>
      <p:sp>
        <p:nvSpPr>
          <p:cNvPr id="20" name="Text 18"/>
          <p:cNvSpPr txBox="1"/>
          <p:nvPr/>
        </p:nvSpPr>
        <p:spPr>
          <a:xfrm>
            <a:off x="7286443" y="3080864"/>
            <a:ext cx="407786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valor no ano 1, contra R$ 0,4 mi de custo para construir e manter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61981" y="3998813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377" y="4036912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dado vira decisão, e a decisão vira dado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1058546" y="6387940"/>
            <a:ext cx="38601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 / 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Farol</dc:title>
  <dc:subject>PptxGenJS Presentation</dc:subject>
  <dc:creator>PptxGenJS</dc:creator>
  <cp:lastModifiedBy>PptxGenJS</cp:lastModifiedBy>
  <cp:revision>1</cp:revision>
  <dcterms:created xsi:type="dcterms:W3CDTF">2026-10-20T19:31:19Z</dcterms:created>
  <dcterms:modified xsi:type="dcterms:W3CDTF">2026-10-20T19:31:19Z</dcterms:modified>
</cp:coreProperties>
</file>
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</p:sldIdLst>
  <p:notesMasterIdLst>
    <p:notesMasterId r:id="rId1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notesMaster" Target="notesMasters/notesMaster1.xml"/><Relationship Id="rId119" Type="http://schemas.openxmlformats.org/officeDocument/2006/relationships/presProps" Target="presProps.xml"/><Relationship Id="rId120" Type="http://schemas.openxmlformats.org/officeDocument/2006/relationships/viewProps" Target="viewProps.xml"/><Relationship Id="rId121" Type="http://schemas.openxmlformats.org/officeDocument/2006/relationships/theme" Target="theme/theme1.xml"/><Relationship Id="rId1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jpeg"/><Relationship Id="rId3" Type="http://schemas.openxmlformats.org/officeDocument/2006/relationships/image" Target="../media/image-45-3.jpeg"/><Relationship Id="rId4" Type="http://schemas.openxmlformats.org/officeDocument/2006/relationships/image" Target="../media/image-4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image" Target="../media/image-54-2.jpe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image" Target="../media/image-57-2.jpe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image" Target="../media/image-60-2.jpe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image" Target="../media/image-62-2.jpe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image" Target="../media/image-64-2.jpeg"/><Relationship Id="rId3" Type="http://schemas.openxmlformats.org/officeDocument/2006/relationships/image" Target="../media/image-6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image" Target="../media/image-66-2.jpeg"/><Relationship Id="rId3" Type="http://schemas.openxmlformats.org/officeDocument/2006/relationships/image" Target="../media/image-66-3.jpeg"/><Relationship Id="rId4" Type="http://schemas.openxmlformats.org/officeDocument/2006/relationships/image" Target="../media/image-6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image" Target="../media/image-67-2.jpeg"/><Relationship Id="rId3" Type="http://schemas.openxmlformats.org/officeDocument/2006/relationships/image" Target="../media/image-6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image" Target="../media/image-68-2.jpeg"/><Relationship Id="rId3" Type="http://schemas.openxmlformats.org/officeDocument/2006/relationships/image" Target="../media/image-68-3.jpeg"/><Relationship Id="rId4" Type="http://schemas.openxmlformats.org/officeDocument/2006/relationships/image" Target="../media/image-6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image" Target="../media/image-74-2.jpeg"/><Relationship Id="rId3" Type="http://schemas.openxmlformats.org/officeDocument/2006/relationships/image" Target="../media/image-74-3.jpeg"/><Relationship Id="rId4" Type="http://schemas.openxmlformats.org/officeDocument/2006/relationships/image" Target="../media/image-7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image" Target="../media/image-76-2.jpeg"/><Relationship Id="rId3" Type="http://schemas.openxmlformats.org/officeDocument/2006/relationships/image" Target="../media/image-7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image" Target="../media/image-82-2.jpeg"/><Relationship Id="rId3" Type="http://schemas.openxmlformats.org/officeDocument/2006/relationships/image" Target="../media/image-82-3.jpeg"/><Relationship Id="rId4" Type="http://schemas.openxmlformats.org/officeDocument/2006/relationships/image" Target="../media/image-8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image" Target="../media/image-84-2.jpeg"/><Relationship Id="rId3" Type="http://schemas.openxmlformats.org/officeDocument/2006/relationships/image" Target="../media/image-8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image" Target="../media/image-85-2.jpeg"/><Relationship Id="rId3" Type="http://schemas.openxmlformats.org/officeDocument/2006/relationships/image" Target="../media/image-8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image" Target="../media/image-86-2.jpeg"/><Relationship Id="rId3" Type="http://schemas.openxmlformats.org/officeDocument/2006/relationships/image" Target="../media/image-86-3.jpeg"/><Relationship Id="rId4" Type="http://schemas.openxmlformats.org/officeDocument/2006/relationships/image" Target="../media/image-8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image" Target="../media/image-87-2.jpeg"/><Relationship Id="rId3" Type="http://schemas.openxmlformats.org/officeDocument/2006/relationships/image" Target="../media/image-8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image" Target="../media/image-93-2.jpeg"/><Relationship Id="rId3" Type="http://schemas.openxmlformats.org/officeDocument/2006/relationships/image" Target="../media/image-9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image" Target="../media/image-94-2.jpeg"/><Relationship Id="rId3" Type="http://schemas.openxmlformats.org/officeDocument/2006/relationships/image" Target="../media/image-9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image" Target="../media/image-95-2.jpeg"/><Relationship Id="rId3" Type="http://schemas.openxmlformats.org/officeDocument/2006/relationships/image" Target="../media/image-9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image" Target="../media/image-96-2.jpeg"/><Relationship Id="rId3" Type="http://schemas.openxmlformats.org/officeDocument/2006/relationships/image" Target="../media/image-9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image" Target="../media/image-97-2.jpeg"/><Relationship Id="rId3" Type="http://schemas.openxmlformats.org/officeDocument/2006/relationships/image" Target="../media/image-9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image" Target="../media/image-98-2.jpeg"/><Relationship Id="rId3" Type="http://schemas.openxmlformats.org/officeDocument/2006/relationships/image" Target="../media/image-9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image" Target="../media/image-99-2.jpeg"/><Relationship Id="rId3" Type="http://schemas.openxmlformats.org/officeDocument/2006/relationships/image" Target="../media/image-9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image" Target="../media/image-100-2.jpeg"/><Relationship Id="rId3" Type="http://schemas.openxmlformats.org/officeDocument/2006/relationships/image" Target="../media/image-10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image" Target="../media/image-101-2.jpeg"/><Relationship Id="rId3" Type="http://schemas.openxmlformats.org/officeDocument/2006/relationships/image" Target="../media/image-10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image" Target="../media/image-102-2.jpeg"/><Relationship Id="rId3" Type="http://schemas.openxmlformats.org/officeDocument/2006/relationships/image" Target="../media/image-10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image" Target="../media/image-103-2.jpeg"/><Relationship Id="rId3" Type="http://schemas.openxmlformats.org/officeDocument/2006/relationships/image" Target="../media/image-10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image" Target="../media/image-104-2.jpeg"/><Relationship Id="rId3" Type="http://schemas.openxmlformats.org/officeDocument/2006/relationships/image" Target="../media/image-104-3.jpeg"/><Relationship Id="rId4" Type="http://schemas.openxmlformats.org/officeDocument/2006/relationships/image" Target="../media/image-10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image" Target="../media/image-105-2.jpeg"/><Relationship Id="rId3" Type="http://schemas.openxmlformats.org/officeDocument/2006/relationships/image" Target="../media/image-10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image" Target="../media/image-106-2.jpeg"/><Relationship Id="rId3" Type="http://schemas.openxmlformats.org/officeDocument/2006/relationships/image" Target="../media/image-10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image" Target="../media/image-107-2.jpeg"/><Relationship Id="rId3" Type="http://schemas.openxmlformats.org/officeDocument/2006/relationships/image" Target="../media/image-10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image" Target="../media/image-108-2.jpeg"/><Relationship Id="rId3" Type="http://schemas.openxmlformats.org/officeDocument/2006/relationships/image" Target="../media/image-10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image" Target="../media/image-109-2.jpeg"/><Relationship Id="rId3" Type="http://schemas.openxmlformats.org/officeDocument/2006/relationships/image" Target="../media/image-10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image" Target="../media/image-110-2.jpeg"/><Relationship Id="rId3" Type="http://schemas.openxmlformats.org/officeDocument/2006/relationships/image" Target="../media/image-110-3.jpeg"/><Relationship Id="rId4" Type="http://schemas.openxmlformats.org/officeDocument/2006/relationships/image" Target="../media/image-1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image" Target="../media/image-111-2.jpeg"/><Relationship Id="rId3" Type="http://schemas.openxmlformats.org/officeDocument/2006/relationships/image" Target="../media/image-1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image" Target="../media/image-112-2.jpeg"/><Relationship Id="rId3" Type="http://schemas.openxmlformats.org/officeDocument/2006/relationships/image" Target="../media/image-1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image" Target="../media/image-113-2.jpeg"/><Relationship Id="rId3" Type="http://schemas.openxmlformats.org/officeDocument/2006/relationships/image" Target="../media/image-113-3.jpeg"/><Relationship Id="rId4" Type="http://schemas.openxmlformats.org/officeDocument/2006/relationships/image" Target="../media/image-1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image" Target="../media/image-114-2.jpeg"/><Relationship Id="rId3" Type="http://schemas.openxmlformats.org/officeDocument/2006/relationships/image" Target="../media/image-1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image" Target="../media/image-1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image" Target="../media/image-1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era engenheiro de dados.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é o CTO da Vértice.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70741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3363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95608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95608" y="270741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de clientes (41 em andamento)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6990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 mi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406990" y="270741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carteira contratada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96128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18372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9118372" y="270741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ferramentas: 20 no Excel, 25 no ClickUp, 15 no MS Project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514439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711284"/>
            <a:ext cx="90693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749383"/>
            <a:ext cx="7583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é hoje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84225" y="41303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74721" y="4047825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controla o projeto numa ferramenta diferente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4225" y="441224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74721" y="432969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PMO junta tudo à mão, toda sexta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4225" y="46941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74721" y="461157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do status semanal está quase todo verde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84745" y="3514439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711284"/>
            <a:ext cx="14082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749383"/>
            <a:ext cx="1279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custo de não saber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6990" y="41303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97485" y="4047825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aparece quando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reclama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6990" y="441224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97485" y="432969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escopo cresce e ninguém cobra aditivo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6990" y="46941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97485" y="461157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num projeto, faltando em outro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1981" y="516648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14377" y="520458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 fictícia, dado simulado com seed fixa: todo mundo chega exatamente nos mesmos números. "Hoje" no dataset é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16/10/2026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054677" y="6387940"/>
            <a:ext cx="39003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/ 116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PEDIDO DO DONO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perguntas, em português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13414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atraso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estão atrasados, e de quais clientes?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046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6394290" y="1779146"/>
            <a:ext cx="125945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3188" y="1817245"/>
            <a:ext cx="1124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dinheiro · noite 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94290" y="2191886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esse atraso vai me custar?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1981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4225" y="3277709"/>
            <a:ext cx="114317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315808"/>
            <a:ext cx="10039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gente · noite 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84225" y="3690448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Tenho gente parada enquanto outro projeto pede gente?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046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94290" y="3277709"/>
            <a:ext cx="11686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3188" y="3315808"/>
            <a:ext cx="10305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futuro · noite 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94290" y="3690448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vai dar errado no próximo mês?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61981" y="45921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302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noite 4 junta tudo numa tela que o dono usa, com o contrato do fornecedor na conversa.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52494" y="6387940"/>
            <a:ext cx="39230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/ 116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PRIMEIRA 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todo mundo já quer resposta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620400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6925" y="1858519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282868" y="1791846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"Quais projetos estão atrasados?"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1981" y="2401431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25" y="2639550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DIRETORIA FINANCEIRA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82868" y="2572876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esse atraso vai nos custar?"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61981" y="3182461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96925" y="3420580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E ALOCAÇÃO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82868" y="3353907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"Tem gente parada enquanto outro projeto pede gente?"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61981" y="3963492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6925" y="420161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COMERCIAL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82868" y="4134937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"Para qual cliente eu ligo antes que ele me ligue?"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61981" y="4744522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6925" y="498264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JURÍDICO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282868" y="4915968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"Essa multa do fornecedor a gente consegue cobrar?"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61981" y="5525552"/>
            <a:ext cx="10667733" cy="679433"/>
          </a:xfrm>
          <a:prstGeom prst="roundRect">
            <a:avLst>
              <a:gd name="adj" fmla="val 16822"/>
            </a:avLst>
          </a:prstGeom>
          <a:solidFill>
            <a:srgbClr val="0F1E3D"/>
          </a:solidFill>
          <a:ln w="12700">
            <a:solidFill>
              <a:srgbClr val="467C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3275" y="577002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89218" y="5703348"/>
            <a:ext cx="8215171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"Preciso disso para ontem."</a:t>
            </a:r>
            <a:endParaRPr lang="en-US" sz="17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45747" y="6387940"/>
            <a:ext cx="39932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/ 116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Dois clientes, dois objetivos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58480"/>
          </a:xfrm>
          <a:prstGeom prst="roundRect">
            <a:avLst>
              <a:gd name="adj" fmla="val 6199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4161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2327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do projeto · o dono da Vértice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85895" cy="742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Saber, todo dia, quais projetos estão atrasados, quanto isso custa e o que fazer, em vez de descobrir quando o cliente reclama.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4225" y="31570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21" y="30745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de 100% dos projetos, das 3 ferramentas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25" y="34389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21" y="335638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"Por que o projeto X atrasou?" em menos de 1 minuto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4225" y="37208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21" y="36382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decisão de realocação registrada e rastreável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1095" y="1582301"/>
            <a:ext cx="5238619" cy="2458480"/>
          </a:xfrm>
          <a:prstGeom prst="roundRect">
            <a:avLst>
              <a:gd name="adj" fmla="val 619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3340" y="1779146"/>
            <a:ext cx="174442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2237" y="1817245"/>
            <a:ext cx="162929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da imersão · você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13340" y="2191886"/>
            <a:ext cx="4985895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Sair com um projeto de ponta a ponta no GitHub e o discurso pronto para vender ao dono.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13340" y="29094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82687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chapéus numa semana: analista, engenheiro, cientista, engenheiro de IA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39696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314419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na sua conta Databricks Free Edition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67884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59629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pitch de 3 minutos com ROI em reais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46739" y="6387940"/>
            <a:ext cx="39829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/ 116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DOR · MEDIDO NO DADO DA VÉRTICE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dono descobre o atraso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o cliente reclama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49915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34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 com SPI ou CPI abaixo de 0,9. Sete críticos, espalhados nas três ferramentas.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4424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6669" y="1779146"/>
            <a:ext cx="52068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75567" y="1817245"/>
            <a:ext cx="356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86669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86669" y="2610975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 se nada mudar. 8 projetos com escopo crescendo sem aditivo desde o 6º mês.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66868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9112" y="1779146"/>
            <a:ext cx="4668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8010" y="1817245"/>
            <a:ext cx="3005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89112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189112" y="2610975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faróis verdes no status desta sexta. Pelo número, só 24 projetos estão ok.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35790"/>
            <a:ext cx="52654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773889"/>
            <a:ext cx="362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 9%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567619"/>
            <a:ext cx="3138988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uso de dois SREs seniores num projeto que ainda está no desenho, enquanto o checkout do varejo pede SRE toda semana.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64424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86669" y="3735790"/>
            <a:ext cx="83946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75567" y="3773889"/>
            <a:ext cx="6881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86669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endParaRPr lang="en-US" sz="3300" dirty="0"/>
          </a:p>
        </p:txBody>
      </p:sp>
      <p:sp>
        <p:nvSpPr>
          <p:cNvPr id="28" name="Text 26"/>
          <p:cNvSpPr txBox="1"/>
          <p:nvPr/>
        </p:nvSpPr>
        <p:spPr>
          <a:xfrm>
            <a:off x="4586669" y="4567619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CodeForge entrega 41% depois do prometido, e compras tem o nome dela escrito de 4 jeitos.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66868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9112" y="3735790"/>
            <a:ext cx="8268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78010" y="3773889"/>
            <a:ext cx="6750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Calendário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189112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189112" y="4567619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freeze da Black Friday. No ano passado, ele travou os 3 projetos de e-commerce por 10 semanas.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1046343" y="6387940"/>
            <a:ext cx="3987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/ 116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fluxo só, da fonte à decisão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246653" cy="2820222"/>
          </a:xfrm>
          <a:prstGeom prst="roundRect">
            <a:avLst>
              <a:gd name="adj" fmla="val 67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40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1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ClickUp, Project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semanal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RH, timesheet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financeiro, compras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contratos em PDF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97532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418893" y="1582301"/>
            <a:ext cx="2697095" cy="2820222"/>
          </a:xfrm>
          <a:prstGeom prst="roundRect">
            <a:avLst>
              <a:gd name="adj" fmla="val 56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41138" y="1779146"/>
            <a:ext cx="168419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30036" y="1817245"/>
            <a:ext cx="15666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 · Unity Catalog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41138" y="2115688"/>
            <a:ext cx="2252606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55435" y="2191886"/>
            <a:ext cx="210497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C98B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Bronze · como veio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41138" y="2541127"/>
            <a:ext cx="2252606" cy="571486"/>
          </a:xfrm>
          <a:prstGeom prst="roundRect">
            <a:avLst>
              <a:gd name="adj" fmla="val 15556"/>
            </a:avLst>
          </a:prstGeom>
          <a:solidFill>
            <a:srgbClr val="25252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55435" y="2617325"/>
            <a:ext cx="210497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9FB0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Silver · as 3 ferramentas num modelo só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41138" y="3176111"/>
            <a:ext cx="2252606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55435" y="3252309"/>
            <a:ext cx="210497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E8C3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Gold · KPIs governados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641138" y="3614250"/>
            <a:ext cx="2342710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· ai_classify e ai_extract nos status · Metric View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204886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26248" y="1582301"/>
            <a:ext cx="2246554" cy="2820222"/>
          </a:xfrm>
          <a:prstGeom prst="roundRect">
            <a:avLst>
              <a:gd name="adj" fmla="val 6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48492" y="1779146"/>
            <a:ext cx="6769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37390" y="1817245"/>
            <a:ext cx="5191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Previsão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74849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938987" y="2115688"/>
            <a:ext cx="167603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de estouro em 30 dias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48492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38987" y="2603236"/>
            <a:ext cx="167603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 por projeto, com motivo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861700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183061" y="1582301"/>
            <a:ext cx="2246653" cy="2820222"/>
          </a:xfrm>
          <a:prstGeom prst="roundRect">
            <a:avLst>
              <a:gd name="adj" fmla="val 67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0530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49420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Decisão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40530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595801" y="211568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40530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595801" y="239756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em português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40530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595801" y="2679435"/>
            <a:ext cx="1676136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de aprovação + Lakebase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0530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595801" y="3166983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agente de contratos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61981" y="458031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14377" y="461841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KPIs são definidos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reusados no dashboard, no Genie, no app e no agente.</a:t>
            </a:r>
            <a:endParaRPr lang="en-US" sz="1100" dirty="0"/>
          </a:p>
        </p:txBody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1056760" y="6387940"/>
            <a:ext cx="3878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/ 116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SE BENEFICIA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pessoa da Vértice usa uma porta diferente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8086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843935" y="1582301"/>
            <a:ext cx="41204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PRECISA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034533" y="1582301"/>
            <a:ext cx="44521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USA A TORRE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196765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80862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Dono e diretoria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29638" y="1880744"/>
            <a:ext cx="419059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43935" y="1982341"/>
            <a:ext cx="412048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atrasam e quanto custa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920236" y="1880744"/>
            <a:ext cx="450947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34533" y="1982341"/>
            <a:ext cx="445212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de portfólio + pergunta ao Genie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196765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180862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Gerente de projeto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29638" y="2316303"/>
            <a:ext cx="419059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43935" y="2417900"/>
            <a:ext cx="412048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do projeto, causa do desvio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20236" y="2316303"/>
            <a:ext cx="450947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34533" y="2417900"/>
            <a:ext cx="445212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causa extraída do status semanal, sem farol de enfeite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196765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180862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29638" y="2751862"/>
            <a:ext cx="419059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843935" y="2853460"/>
            <a:ext cx="412048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visão só, simular realocação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20236" y="2751862"/>
            <a:ext cx="450947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34533" y="2853460"/>
            <a:ext cx="445212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app: simula, aprova e registra a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196765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180862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 e controller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29638" y="3187422"/>
            <a:ext cx="419059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843935" y="3289019"/>
            <a:ext cx="412048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margem por contrato, estouro previsto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920236" y="3187422"/>
            <a:ext cx="450947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34533" y="3289019"/>
            <a:ext cx="445212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e margem projetada governados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196765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180862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29638" y="3622981"/>
            <a:ext cx="419059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843935" y="3724579"/>
            <a:ext cx="412048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consultoria subcontratada que atrasa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20236" y="3622981"/>
            <a:ext cx="450947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034533" y="3724579"/>
            <a:ext cx="445212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 de fornecedor e a multa que dá para cobrar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196765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180862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CTO (você)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729638" y="4058541"/>
            <a:ext cx="419059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843935" y="4160138"/>
            <a:ext cx="412048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 e operar tudo isso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920236" y="4058541"/>
            <a:ext cx="450947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034533" y="4160138"/>
            <a:ext cx="445212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bundle, pipeline, modelo, app, com Claude Code</a:t>
            </a:r>
            <a:endParaRPr lang="en-US" sz="11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1046938" y="6387940"/>
            <a:ext cx="39808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/ 116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EMPRESAS SE BENEFICIAM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empresa que vive de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202579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921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houses e integradoras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dezenas de projetos de clientes, cada squad com sua ferramenta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6669" y="1779146"/>
            <a:ext cx="91874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7705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Consultorias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projetos, banco de horas, margem por contrato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9112" y="1779146"/>
            <a:ext cx="157882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457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 de grandes empresas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corporativo com projetos internos e fornecedores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96309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8567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Agências e produtoras digitais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 com prazo de cliente e equipe compartilhada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6360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15166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Engenharia e construção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SPI e CPI, com obra no lugar de sprint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101151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670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Qualquer PMO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planilha de sexta é a única verdade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047236" y="6387940"/>
            <a:ext cx="3977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/ 116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CHEGAMOS LÁ · 4 NOITES, 4 CHAPÉUS, 1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termina com algo rodando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630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711282" y="1582301"/>
            <a:ext cx="16626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CHAPÉU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538548" y="1582301"/>
            <a:ext cx="354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PERGUNTA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176908" y="1582301"/>
            <a:ext cx="43040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ENTREGÁVEL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19/10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596985" y="1880744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711282" y="1982341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Analista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4251" y="1880744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8548" y="1982341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Databricks faz? Quem está atrasado?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62611" y="1880744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76908" y="1982341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das 3 ferramentas, SPI/CPI em SQL, 1º dashboard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1981" y="2530809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632406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20/10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596985" y="2530809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711282" y="2632406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Engenheiro de Dados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4251" y="2530809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38548" y="2632406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integrar tudo e rodar sozinho?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62611" y="2530809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76908" y="2632406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pipeline, IA nos textos, KPIs governados, Genie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180874"/>
            <a:ext cx="835004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2471"/>
            <a:ext cx="630666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21/10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596985" y="3180874"/>
            <a:ext cx="182726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711282" y="3282471"/>
            <a:ext cx="1662619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Cientista de Dados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24251" y="3180874"/>
            <a:ext cx="363836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38548" y="3282471"/>
            <a:ext cx="3546156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vão estourar em 30 dias?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062611" y="3180874"/>
            <a:ext cx="436710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76908" y="3282471"/>
            <a:ext cx="4304049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no Unity Catalog, score por projeto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61981" y="3632903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34500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22/10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96985" y="3632903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711282" y="3734500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Engenheiro de IA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424251" y="3632903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38548" y="3734500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dono, que não escreve SQL?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062611" y="3632903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176908" y="3734500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agente de contratos, app + Lakebase, pitch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61981" y="4409965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377" y="444806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Repositório: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tudo no Databricks Free Edition · trilha sem código em todas as noites</a:t>
            </a:r>
            <a:endParaRPr lang="en-US" sz="110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1002092" y="6387940"/>
            <a:ext cx="44472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/ 116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CAMINHO DAS 4 NOITES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só,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camada por noite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39001" y="6387940"/>
            <a:ext cx="40634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/ 116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O DADO MORA NO FIM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pouca tabela, de propósito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10247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8807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955057"/>
            <a:ext cx="2202379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tabelas, o dado como veio, sujeira inclusa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arquivos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3838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6083" y="2212126"/>
            <a:ext cx="96200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4981" y="2250225"/>
            <a:ext cx="8155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 · 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6083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6083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limpas: as 3 ferramentas viraram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(+ 2 dos contratos, noite 4)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65696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387940" y="2212126"/>
            <a:ext cx="118047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6838" y="2250225"/>
            <a:ext cx="104278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noites 2 a 4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7940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7940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por pergunta do dono, prontas para dashboard, Genie e app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7553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9798" y="2212126"/>
            <a:ext cx="80543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8696" y="2250225"/>
            <a:ext cx="652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· noite 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9798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9798" y="2955057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e métricas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o modelo registrado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76278" y="4130969"/>
            <a:ext cx="41091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OBJETO DA GOLD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055962" y="4130969"/>
            <a:ext cx="54822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811692" y="4130969"/>
            <a:ext cx="5723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1981" y="442941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4531009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41665" y="442941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055962" y="4531009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97395" y="442941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811692" y="4531009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atrasa, de qual cliente, quanto custa (SPI, CPI, estouro, melancia)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86497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6278" y="4966568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fato_projeto_semana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41665" y="486497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55962" y="4966568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97395" y="486497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11692" y="4966568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 semana a semana (base do modelo)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5300530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540212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utilizacao_pessoa_semana · status_estruturado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941665" y="5300530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55962" y="540212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97395" y="5300530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11692" y="540212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 · por que travou (IA)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61981" y="5736089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76278" y="583768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 · score_estouro_30d · contratos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941665" y="5736089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55962" y="583768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3 · 4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97395" y="5736089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811692" y="583768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· o que vem aí · o que o contrato diz</a:t>
            </a:r>
            <a:endParaRPr lang="en-US" sz="1100" dirty="0"/>
          </a:p>
        </p:txBody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11010228" y="6387940"/>
            <a:ext cx="43626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/ 116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SEGUNDA, 19/10 · ANALISTA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tudo,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converter nada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navegador. Planilha, JSON e XML viram tabela com o mesmo comando, e o SQL responde as perguntas 1 e 2.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QUE VOCÊ ENTREGA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entregas,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todas no navegador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498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48934" y="1582301"/>
            <a:ext cx="4193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509876" y="1582301"/>
            <a:ext cx="60377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VOCÊ SABE QUE CHEGOU LÁ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34637" y="1880744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48934" y="1982341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Ambiente no Databricks Free Edition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5579" y="1880744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09876" y="1982341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bronze, silver, gold e o volume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34637" y="2332773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48934" y="243437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JSON e XML lidos com o mesmo comando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95579" y="2332773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09876" y="243437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bronze, contagens iguais às da verificação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134637" y="278480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48934" y="288640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encontrada antes de virar decisão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95579" y="278480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09876" y="288640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exemplo 03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23683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338429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34637" y="323683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48934" y="3338429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95579" y="323683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509876" y="3338429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dos 41 projetos em andamento (exemplo 05)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61981" y="3688861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9045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134637" y="3688861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48934" y="379045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em dinheiro, e o farol desmentido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395579" y="3688861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09876" y="379045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melancias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(exemplo 06)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61981" y="4140890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4248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134637" y="4140890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248934" y="424248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publicado e o Genie errando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95579" y="4140890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09876" y="424248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dashboard da bronze e as 4 perguntas no Genie sem curadoria</a:t>
            </a:r>
            <a:endParaRPr lang="en-US" sz="12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1001298" y="6387940"/>
            <a:ext cx="44555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/ 116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passos,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pela interface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462647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conta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098884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cartão, tudo serverless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31352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34887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3857132" y="1779146"/>
            <a:ext cx="122968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46029" y="1817245"/>
            <a:ext cx="10939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a casa do dado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857132" y="2191886"/>
            <a:ext cx="1955457" cy="98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schemas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bronze.raw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48521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69883" y="1582301"/>
            <a:ext cx="23248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592127" y="1779146"/>
            <a:ext cx="100615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81025" y="1817245"/>
            <a:ext cx="8614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os arquivos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592127" y="2191886"/>
            <a:ext cx="195556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baixe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dados-vertice.zip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Drive e suba cada pasta no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8361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04978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7222" y="1779146"/>
            <a:ext cx="91140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16120" y="1817245"/>
            <a:ext cx="7629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SQL Editor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327222" y="2191886"/>
            <a:ext cx="1955457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01-ingestao-bronze.sql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GitHub, cole e rode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1981" y="3564940"/>
            <a:ext cx="10667733" cy="1152893"/>
          </a:xfrm>
          <a:prstGeom prst="roundRect">
            <a:avLst>
              <a:gd name="adj" fmla="val 9914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826" y="3736385"/>
            <a:ext cx="10691609" cy="81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 mesmo comando para CSV, Excel, JSON e XML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TABLE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read_files(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'/Volumes/lakehouse_vertice/bronze/raw/excel/'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format =&gt;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headerRows =&gt; 1, inferColumnTypes =&gt; false);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484483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377" y="488292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mostra esperado × obtido. Hoje: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 18 ok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1002291" y="6387940"/>
            <a:ext cx="44452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/ 116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VOLUME RAW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arquivos,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jeito que cada sistema exporta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68898"/>
          </a:xfrm>
          <a:prstGeom prst="roundRect">
            <a:avLst>
              <a:gd name="adj" fmla="val 4629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13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/Volumes/lakehouse_vertice/bronze/raw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pmo/         projetos · status_semanal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excel/       20 planilhas .xlsx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clickup/     25 exports .json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msproject/   15 arquivos .xml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rh/          colaboradores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timesheet/   apontamentos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financeiro/  custos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compras/     entregas_fornecedor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documentos/  8 contratos em PDF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(lidos na noite 4)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7908" r="7908" t="0" b="0"/>
          <a:stretch/>
        </p:blipFill>
        <p:spPr>
          <a:xfrm>
            <a:off x="6191095" y="1582301"/>
            <a:ext cx="5238619" cy="3555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91095" y="5189011"/>
            <a:ext cx="544816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20 planilhas no volume: arquivo de verdade, um por projeto, cada gerente com o seu nome de arquivo.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01894" y="6387940"/>
            <a:ext cx="44493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/ 116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do dono por trás de cada uma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2015281"/>
            <a:ext cx="30775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64097" y="2015281"/>
            <a:ext cx="116433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12248" y="2015281"/>
            <a:ext cx="140073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87703" y="2015281"/>
            <a:ext cx="45008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 PARA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2313723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2415321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· status_semanal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9800" y="2313723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64097" y="2415321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· 3.911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97950" y="2313723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12248" y="2415321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(CSV)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73406" y="2313723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87703" y="2415321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e o farol de toda sexta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1981" y="2749283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85088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excel_tarefas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49800" y="2749283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064097" y="285088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97950" y="2749283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12248" y="285088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73406" y="2749283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87703" y="285088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1981" y="318484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644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clickup_tarefas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949800" y="318484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064097" y="328644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97950" y="318484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12248" y="328644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JSON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73406" y="318484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7703" y="328644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61981" y="362040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2199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msproject_tarefas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949800" y="362040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064097" y="372199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297950" y="362040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12248" y="372199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XML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73406" y="362040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987703" y="372199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61981" y="405596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415755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949800" y="405596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064097" y="415755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97950" y="405596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2248" y="415755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73406" y="405596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87703" y="415755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2: quanto custa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61981" y="449152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593118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 · apontamentos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949800" y="449152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064097" y="4593118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· 30.883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297950" y="449152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12248" y="4593118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· timesheet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73406" y="449152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987703" y="4593118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gente parada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61981" y="4927080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5028677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949800" y="4927080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064097" y="5028677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297950" y="4927080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12248" y="5028677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873406" y="4927080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87703" y="5028677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consultoria que atrasa (e a multa da noite 4)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61981" y="545153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14377" y="548963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entra como texto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inferColumnTypes =&gt; false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no CSV e no Excel: se o Databricks adivinhasse o tipo, a sujeira sumiria antes de a gente ver.</a:t>
            </a:r>
            <a:endParaRPr lang="en-US" sz="1100" dirty="0"/>
          </a:p>
        </p:txBody>
      </p:sp>
      <p:pic>
        <p:nvPicPr>
          <p:cNvPr id="6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7" name="Text 64"/>
          <p:cNvSpPr txBox="1"/>
          <p:nvPr/>
        </p:nvSpPr>
        <p:spPr>
          <a:xfrm>
            <a:off x="11012311" y="6387940"/>
            <a:ext cx="43409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/ 116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1 DE 9 · BRONZE.PROJETOS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do PMO: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qual ferramenta cada projeto vive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54866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projeto (41 em andamento, 19 concluídos)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311876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303621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cliente, segmento, tipo, valor do contrato, orçamento, início, fim previsto, gerente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6063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52376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codigo_ferramenta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 chave para achar o cronograma no Excel, no ClickUp ou no Project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40938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40113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(R$ 208,6 mi em andamento)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221212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225022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54866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data_inicio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2 formatos: 2025-03-14 e 14/03/2025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1308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3054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 escrita de 8 jeitos: Excel, excel, Planilha, ClickUp, click up, Project…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40063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31809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projetos sem código da ferramenta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4578930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826" y="4750376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projeto_id | cliente              | ferramenta | codigo_ferramenta                          | valor_contrato | data_inicio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PRJ-001    | Fintech Pagar Fácil  | MS Project | PRJ-001_migracao_do_mainframe_para_clo.xml | 7957000.00     | 14/03/2025</a:t>
            </a:r>
            <a:endParaRPr lang="en-US" sz="9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02489" y="6387940"/>
            <a:ext cx="4443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/ 116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2 DE 9 · BRONZE.STATUS_SEMANAL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sexta, o gerente escreve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aconteceu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 × sexta-feira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(verde, amarelo, vermelho), % concluído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 livre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entregas e bloqueios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único histórico de avanço que existe: as ferramentas só guardam o % de hoje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é do gerente, e gerente é otimista: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 hoje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escrito Verde, VERDE, verde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vazio, "N/A", "ver ata da reunião", texto em CAIXA ALTA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PRJ-011 · 2026-10-16 · amarelo · "Bloqueios: Sem SRE alocado: pipeline de deploy quebrado e ninguém para corrigir. Impacto estimado: 1 semana."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1981" y="446542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450352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2, a IA lê esse texto e devolve a causa como coluna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gold.status_estruturado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02787" y="6387940"/>
            <a:ext cx="4440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/ 116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3 DE 9 · BRONZE.EXCEL_TAREFAS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do seu jeito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3964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963689"/>
          </a:xfrm>
          <a:prstGeom prst="roundRect">
            <a:avLst>
              <a:gd name="adj" fmla="val 514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linha de planilha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read_files aponta para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lê as 20 de uma vez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colunas renomeadas ("% Concluído" → pct_concluido), valor intocado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243181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502237" y="3281280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como texto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número de série (45700 = 13/02/2025)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como "45%" ou 0.45, e 11 tarefas acima de 100%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13340" y="42260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03835" y="414347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TOTAL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fim que soma tudo de novo</a:t>
            </a:r>
            <a:endParaRPr lang="en-US" sz="12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3220" y="6387940"/>
            <a:ext cx="47475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/ 116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4 DE 9 · BRONZE.CLICKUP_TAREFAS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exports da API,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lista dentro de lista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arquivo é uma lista (um projeto),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explode()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abre uma linha por tarefa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JSON a gente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deixa inferir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 tipo: é o que mantém a estrutura aninhada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166983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3205082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5860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50352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milissegundos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desde 1970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86794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78539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escrito de 12 jeitos (to do, Em andamento, DONE…)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% e a baseline escondidos numa lista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custom_fields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1010228" y="6387940"/>
            <a:ext cx="43626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/ 116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5 DE 9 · BRONZE.MSPROJECT_TAREFAS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cronogramas do Project,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&lt;Task&gt; por linha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rowTag =&gt; 'Task'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&lt;Task&gt; vira uma linha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baseline, início e fim reais e % concluído, tudo aninhado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961308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999407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38039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29785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no formato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PT40H0M0S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 tarefas-resumo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(fases e o projeto inteiro) que somam as de baixo: contar tudo dobra as horas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fase está na tarefa de cima, não na própria tarefa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81356" y="6387940"/>
            <a:ext cx="4662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 / 116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6 DE 9 · BRONZE.COLABORADORES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520 pessoas: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papel, custo e quem saiu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RH (deviam ser 520)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 (dev, qa, sre, tech_lead…), senioridade,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custo/hora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admissão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desligamento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mostra os squads com rotatividade (PRJ-016 e PRJ-030)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pessoas duplicadas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mesmo id, nome e papel em CAIXA ALTA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DISTINCT não resolve, porque as linhas são diferentes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nome            | papel     | senioridade | custo_hora | data_admissao | data_desligamento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COL0001        | Débora Pacheco  | tech_lead | pleno       | 155.47     | 2024-04-29    |</a:t>
            </a:r>
            <a:endParaRPr lang="en-US" sz="10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79173" y="6387940"/>
            <a:ext cx="4685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/ 116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7 DE 9 · BRONZE.APONTAMENTOS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timesheet: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 × apontadas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 × projeto × semana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quem diz onde cada pessoa está: dá para saber o squad de cada projeto sem outra planilha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= disponível − apontado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SREs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apontam de 2% a 9% no PRJ-007, que ainda está no discovery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enquanto isso, o PRJ-011 reclama de falta de SRE há 12 semanas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apontar mais que o disponível é hora extra: legítimo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projeto_id | semana_inicio | horas_disponiveis | horas_apontadas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COL0017        | PRJ-007    | 2026-10-12    | 40.0              | 2.4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2526" y="6387940"/>
            <a:ext cx="47547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/ 116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8 DE 9 · BRONZE.CUSTOS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real gasto,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lançamento por lançamento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pessoal, consultoria, cloud, licenças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 total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o CPI, diz se cada real gasto entregou um real de trabalho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 valores com vírgula decimal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(1245,78)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try_cast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ingênuo transforma em nulo e some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R$ 5,41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(dá R$ 187,94 mi)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estornos negativos, que são legítimos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lancamento_id | projeto_id | data       | categoria | descricao                                 | valor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L0000001      | PRJ-001    | 2025-01-10 | pessoal   | Folha alocada PRJ-001 semana 2025-01-06   | 1245.78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3518" y="6387940"/>
            <a:ext cx="4744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/ 116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9 DE 9 · BRONZE.ENTREGAS_FORNECEDOR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consultoria prometeu,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quando entregou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 = consultoria subcontratada pela Vértice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aqui a Vértice é a contratante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 entregas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5 fornecedores: pedido, prometido, entregue, valor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 real ÷ prometido mostra quem cumpre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45520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372659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4 vira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que a Vértice cobra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cruzando com o contrato em PDF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entrega com prazo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0% no prazo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vem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normalizar, vira 4 fornecedores medianos e some do ranking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entregas em atraso hoje, todas dela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3121" y="6387940"/>
            <a:ext cx="47485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/ 116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 PRONTA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9 tabelas no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Explorer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2488"/>
          <a:stretch/>
        </p:blipFill>
        <p:spPr>
          <a:xfrm>
            <a:off x="761981" y="1455304"/>
            <a:ext cx="10667733" cy="44448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963692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10 itens porque o exemplo 05 cria a view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rascunho_tarefas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Logo depois da ingestão você vê 9.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83539" y="6387940"/>
            <a:ext cx="4640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/ 116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DO SQL · COMO GESTÃO DE PROJETOS MEDE UM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dizia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Hoje é o fim do 3º mês.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582301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de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linha vermelha é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dia da entrega.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2096638"/>
            <a:ext cx="1716997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9073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635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041974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67593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58579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1981" y="2706223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foi combinado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90735" y="2474454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43131" y="2474454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pronto em 3 meses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67593" y="2474454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2F2F39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61981" y="3036415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realidade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981" y="3284059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está pronto hoje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90735" y="3052289"/>
            <a:ext cx="4960020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43131" y="3052289"/>
            <a:ext cx="499992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pronto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50755" y="3052289"/>
            <a:ext cx="1653340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50755" y="3052289"/>
            <a:ext cx="1719474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25%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267593" y="3052289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280293" y="3064989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 mês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1981" y="3614250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dinheiro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1981" y="3861894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já foi gasto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90735" y="3630125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131" y="3630125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 gastos · o orçamento inteiro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267593" y="3630125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9280293" y="3642825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69171" y="2127197"/>
            <a:ext cx="19050" cy="20954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45369" y="1943051"/>
            <a:ext cx="401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00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61981" y="426828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377" y="430638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perguntas, três números: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(100%),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(75%),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custou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(R$ 300 mil). Tudo o que vem agora é dividir um pelo outro.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0973617" y="6387940"/>
            <a:ext cx="4743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 / 116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· SCHEDULE PERFORMANCE INDEX · ÍNDICE DE PRAZO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SPI: quanto do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estar pronto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628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 estar pronto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 · pelo plano, no fim do 3º mês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756922"/>
            <a:ext cx="7137222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756922"/>
            <a:ext cx="726421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439530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 pronto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68717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valor agregado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455404"/>
            <a:ext cx="5352916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455404"/>
            <a:ext cx="5408541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97645" y="2455404"/>
            <a:ext cx="1784305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761981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32850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36660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715848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75% ÷ 100%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230185"/>
            <a:ext cx="499249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"andou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do que devia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". Em tempo: 3 meses ÷ 0,75 =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meses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Um mês de atraso, se o ritmo não mudar.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328507"/>
            <a:ext cx="11452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366606"/>
            <a:ext cx="100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régua da Torre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6990" y="3753947"/>
            <a:ext cx="1920132" cy="25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6990" y="3753947"/>
            <a:ext cx="1996938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 &lt; 0,80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27122" y="3753947"/>
            <a:ext cx="960017" cy="253994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27122" y="3753947"/>
            <a:ext cx="998417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atenção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287139" y="3753947"/>
            <a:ext cx="1920331" cy="253994"/>
          </a:xfrm>
          <a:prstGeom prst="rect">
            <a:avLst/>
          </a:prstGeom>
          <a:solidFill>
            <a:srgbClr val="5AD47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87139" y="3753947"/>
            <a:ext cx="199714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≥ 0,90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6990" y="4084139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Nosso exemplo (0,75) é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Na Vértice,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PRJ-016: 0,63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+298 dias projetados.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/ 116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· COST PERFORMANCE INDEX · ÍNDICE DE CUSTO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CPI: o que foi entregue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quanto,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75% de R$ 300 mil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R$ 225 mil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283468" y="1661674"/>
            <a:ext cx="2146246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 · custo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44729" y="2264909"/>
            <a:ext cx="8584985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97125" y="2264909"/>
            <a:ext cx="8769893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138012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176111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525352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= 225 ÷ 300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039690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gasto comprou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R$ 0,75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entrega. Os outros 25 centavos viraram retrabalho, hora extra, escopo que ninguém cobrou.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138012"/>
            <a:ext cx="105744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176111"/>
            <a:ext cx="9148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6990" y="3550752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Aqui os dois deram 0,75 por coincidência. Dá para estar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prazo e estourando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(hora extra para entregar) 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atrasado e barato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(time parado). Por isso a Torre olha os dois.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6990" y="4269871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PRJ-009, CPI 0,77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E 8 projetos com o CPI caindo desde o 6º mês.</a:t>
            </a:r>
            <a:endParaRPr lang="en-US" sz="11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71037" y="6387940"/>
            <a:ext cx="4770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/ 116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· ESTIMATE AT COMPLETION · ESTIMATIVA NO TÉRMINO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EAC: 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vai custar no fim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· o combinado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Vai custar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= orçamento ÷ CPI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264909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264909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83468" y="2264909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83468" y="2264909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R$ 100 mil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61981" y="285226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1981" y="309991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duração ÷ SPI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44729" y="2868144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997125" y="286814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83468" y="2868144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3468" y="2868144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+ 1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4225" y="374124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3123" y="377934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128587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300 ÷ 0,75 = R$ 400 mil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84225" y="4642925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previsto: R$ 100 mil.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o primeiro número que o dono quer ouvir, e sai de três colunas: orçamento, % concluído e custo real.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84745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741247"/>
            <a:ext cx="77993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779346"/>
            <a:ext cx="626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406990" y="4077789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29" name="Text 27"/>
          <p:cNvSpPr txBox="1"/>
          <p:nvPr/>
        </p:nvSpPr>
        <p:spPr>
          <a:xfrm>
            <a:off x="6406990" y="4573076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somando só quem estoura. O maior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PRJ-021, R$ 1,78 mi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Resposta da pergunta 2 do dono.</a:t>
            </a:r>
            <a:endParaRPr lang="en-US" sz="11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1008045" y="6387940"/>
            <a:ext cx="43853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/ 116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× NÚMERO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255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015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92499" cy="66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 o gerente põe uma cor no status: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verde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amarelo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ou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No olhômetro. É a mensagem do pedreiro: </a:t>
            </a:r>
            <a:pPr algn="l" indent="0" marL="0">
              <a:lnSpc>
                <a:spcPct val="115385"/>
              </a:lnSpc>
              <a:buNone/>
            </a:pPr>
            <a:r>
              <a:rPr lang="en-US" sz="1300" i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"tá tudo certo, chefe"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300010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49538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41 projetos em andamento, pelo gerente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6990" y="1779146"/>
            <a:ext cx="7552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5888" y="1817245"/>
            <a:ext cx="6005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406990" y="2191886"/>
            <a:ext cx="4992499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não tem opinião. Ele divide o que está pronto pelo que devia estar.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6990" y="277726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ok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6406990" y="327254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SPI e CPI. Os outros 17 estão em atenção ou críticos.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4067173"/>
            <a:ext cx="10667733" cy="932633"/>
          </a:xfrm>
          <a:prstGeom prst="roundRect">
            <a:avLst>
              <a:gd name="adj" fmla="val 16340"/>
            </a:avLst>
          </a:prstGeom>
          <a:solidFill>
            <a:srgbClr val="1E1E24"/>
          </a:solidFill>
          <a:ln w="6350">
            <a:solidFill>
              <a:srgbClr val="467C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4225" y="4340216"/>
            <a:ext cx="10632174" cy="46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= verde por fora, vermelho por dentro. </a:t>
            </a:r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projetos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Vértice (PRJ-012, 028, 034, 042) estão verdes para o gerente e abaixo de 0,9 pelo número. Ninguém mentiu. Só ninguém fez a conta.</a:t>
            </a:r>
            <a:endParaRPr lang="en-US" sz="13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0979173" y="6387940"/>
            <a:ext cx="4685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/ 116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GLOSSÁRIO · AS SIGLAS FICAM EM INGLÊS, ATÉ NO PMO BRASILEIRO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siglas, em uma linha cada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788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862587" y="1582301"/>
            <a:ext cx="25851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INGLÊS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6946" y="1582301"/>
            <a:ext cx="2846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PORTUGUÊS (PMBOK)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542718" y="1582301"/>
            <a:ext cx="3923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48290" y="188074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62587" y="1982341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Planned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62649" y="188074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6946" y="1982341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Planejado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28421" y="188074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42718" y="1982341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 hoje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324538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426135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748290" y="2324538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62587" y="2426135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Earned Value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62649" y="2324538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6946" y="2426135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Agregado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428421" y="2324538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42718" y="2426135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 de verdade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2768332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2869930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748290" y="2768332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862587" y="2869930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62649" y="2768332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6946" y="2869930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428421" y="2768332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42718" y="2869930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foi gasto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61981" y="3212127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313724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748290" y="3212127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862587" y="3313724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 Performance Index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462649" y="3212127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576946" y="3313724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Prazo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428421" y="3212127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542718" y="3313724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PV · abaixo de 1 é atraso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61981" y="3655921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3757519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1748290" y="3655921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862587" y="3757519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 Performance Index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462649" y="3655921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76946" y="3757519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Custo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428421" y="3655921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542718" y="3757519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AC · abaixo de 1 é estouro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61981" y="4099715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201313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748290" y="4099715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62587" y="4201313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Budget at Completion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462649" y="4099715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576946" y="4201313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 no Término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428421" y="4099715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542718" y="4201313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orçamento original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61981" y="4543510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4645107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748290" y="4543510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862587" y="4645107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Estimate at Completion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4462649" y="4543510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576946" y="4645107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Estimativa no Término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7428421" y="4543510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542718" y="4645107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÷ CPI · quanto vai custar no fim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761981" y="498730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76278" y="5088902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1748290" y="498730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862587" y="5088902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 · Variance at Completion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462649" y="498730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576946" y="5088902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no Término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7428421" y="498730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542718" y="5088902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− BAC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761981" y="5431099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76278" y="5532696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1748290" y="5431099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862587" y="5532696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462649" y="5431099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576946" y="5532696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base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7428421" y="5431099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542718" y="5532696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original, contra o qual tudo é medido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61981" y="598919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14377" y="602728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Régua da Torre: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ou CPI &lt; 0,9 = atenção · &lt; 0,8 =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Definida uma vez, usada em toda query, dashboard, Genie e app.</a:t>
            </a:r>
            <a:endParaRPr lang="en-US" sz="1100" dirty="0"/>
          </a:p>
        </p:txBody>
      </p:sp>
      <p:pic>
        <p:nvPicPr>
          <p:cNvPr id="8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3" name="Text 80"/>
          <p:cNvSpPr txBox="1"/>
          <p:nvPr/>
        </p:nvSpPr>
        <p:spPr>
          <a:xfrm>
            <a:off x="10977090" y="6387940"/>
            <a:ext cx="47073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/ 116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OS 6 EXEMPLOS SQL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primeiro SELECT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resposta do dono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06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84366" y="1582301"/>
            <a:ext cx="28513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54604" y="1582301"/>
            <a:ext cx="515924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ELE MOSTRA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primeiro SELECT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0069" y="1880744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4366" y="1982341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40306" y="1880744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54604" y="1982341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projetos, 41 em andamento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ORDER BY e DISTINCT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70069" y="2316303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4366" y="241790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BY, DISTINCT, CAST, SUM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0306" y="2316303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4604" y="241790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R$ 305,2 mi; a ferramenta escrita de 8 jeitos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WHERE e a sujeira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70069" y="275186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84366" y="285346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FILTER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0306" y="275186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4604" y="285346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sujeira, antes de virarem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· GROUP BY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70069" y="318742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384366" y="328901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date_trunc, try_cast, replace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40306" y="318742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54604" y="328901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mês; o try_cast que perde 671 lançamentos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· UNION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70069" y="362298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84366" y="372457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40306" y="362298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4604" y="372457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SPI de cada projeto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 · quanto custa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270069" y="405854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384366" y="4160138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KPI, janela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40306" y="405854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54604" y="4160138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estouro; 7 críticos; 4 melancias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61981" y="458299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14377" y="462109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exemplo existe em dois notebooks: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branco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(você digita) e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resolvido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(para conferir).</a:t>
            </a:r>
            <a:endParaRPr lang="en-US" sz="11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10970343" y="6387940"/>
            <a:ext cx="47774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/ 116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01 · SELECT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catálogo,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onde cada projeto vive?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bronze.projetos)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bronze.excel_tarefas)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linhas_no_excel,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bronze.clickup_tarefas)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tarefas_no_clickup,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tarefas_no_project;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COUNT(*). Antes de calcular qualquer KPI, olhe o dado. Sempre.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semanais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11946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03691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mesma informação com três caras: data em texto, em número de série e em milissegundos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78480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482290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exemplo-01-primeiro-select.sql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GitHub. Copie, cole no SQL Editor e rode bloco a bloco.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1335" y="6387940"/>
            <a:ext cx="4767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/ 116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02 · ORDER BY, DISTINCT E CAST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vale a carteira,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quais os maiores contratos?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 armadilha: ordenar texto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valor_contrato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PRJ-052 em 1º?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com CAST, ordena como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PRJ-017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ferramenta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bronze tudo é texto: sem CAST, ORDER BY ordena como palavra, e '8380000' passa na frente de '15275000'.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maior contrato de verdade: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PRJ-017, R$ 15,3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(o texto dizia PRJ-052)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R$ 208,6 mi em andamento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ferramenta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Excel, excel, Planilha, ClickUp, Clickup…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exemplo-02-order-by-e-distinct.sql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primeira sujeira do dia é o retrato do problema do CTO: cada um registra do seu jeito.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0938" y="6387940"/>
            <a:ext cx="47712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 / 116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03 · WHERE E A SUJEIRA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confiar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nesse número?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'%/%'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'%-%'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arquivo, tarefa, horas_previstas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=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conta duas vezes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'%,%'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vírgula decimal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COUNT(*) FILTER. Dado sujo não dá erro: dá um número errado, em silêncio.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2192878"/>
          </a:xfrm>
          <a:prstGeom prst="roundRect">
            <a:avLst>
              <a:gd name="adj" fmla="val 6950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×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de TOTAL no Excel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tarefas-resumo no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custos com vírgula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pessoas duplicadas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vazios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95342" y="48126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85838" y="4730136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jeitos · status do ClickUp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1981" y="527235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531045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exemplo-03-where-e-a-sujeira.sql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12 achados. É o exemplo mais importante do dia, e tudo que ele acha é o que a silver conserta amanhã.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81356" y="6387940"/>
            <a:ext cx="4662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 / 116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04 · GROUP BY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gasta por mês?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quebra: '12345,67' não é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não quebra... e joga 671 linhas fora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try_cast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-- 3. o certo: vírgula vira ponto antes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date_trunc(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'MONTH'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DATE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BY, date_trunc, try_cast, replace. A primeira query falha de propósito; a segunda "funciona" e mente.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try_cast: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R$ 187,94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(671 lançamentos sumiram)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certo: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custo real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é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R$ 117,8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quase dois terços; consultoria R$ 29,4 mi; cloud R$ 23,0 mi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exemplo-04-group-by-custo-no-tempo.sql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diferença de R$ 5,41 mi é o tamanho de um erro silencioso.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1434" y="6387940"/>
            <a:ext cx="47661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/ 116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UNION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três ferramentas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numa fila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266993"/>
          </a:xfrm>
          <a:prstGeom prst="roundRect">
            <a:avLst>
              <a:gd name="adj" fmla="val 504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93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tarefa,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data texto OU série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&lt;&gt;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'clickup'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milissegundos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...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'msproject'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PT40H0M0S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Summary = 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SPI = horas agregadas ÷ horas planejadas até 16/10/2026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JOIN. Cada ferramenta é traduzida para as mesmas 7 colunas e empilhada: um rascunho à mão da silver de amanhã.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/ 1.643 tarefas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2.119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1.155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numa tabela só, pela primeira vez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 cada um: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PRJ-016, 0,63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exemplo-05-union-quais-projetos-atrasados.sql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Rode inteiro: ele cria a view que o exemplo 06, o dashboard e a verificação usam.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1831" y="6387940"/>
            <a:ext cx="47619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/ 116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PERGUNTA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7 críticos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6349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561568" y="1582301"/>
            <a:ext cx="29753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651063" y="1582301"/>
            <a:ext cx="5754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432987" y="1582301"/>
            <a:ext cx="5439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184649" y="1582301"/>
            <a:ext cx="11759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 · Integração com laboratórios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47271" y="1880744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61568" y="1982341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Operadora Bem Cuidar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36766" y="1880744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51063" y="1982341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318690" y="1880744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32987" y="1982341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70352" y="1880744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184649" y="1982341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R$ 257 mil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316303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1790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PRJ-030 · APIs de Open Finance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47271" y="2316303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61568" y="241790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36766" y="2316303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51063" y="241790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18690" y="2316303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432987" y="241790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070352" y="2316303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184649" y="241790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R$ 363 mil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1981" y="275186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5346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PRJ-039 · Antifraude em tempo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7271" y="275186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561568" y="285346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Banco Meridiano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36766" y="275186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51063" y="285346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18690" y="275186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32987" y="285346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0352" y="275186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84649" y="285346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R$ 130 mil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318742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8901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 · Prontuário eletrônico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47271" y="318742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61568" y="328901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 Diagnóstica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36766" y="318742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651063" y="328901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318690" y="318742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432987" y="328901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0352" y="318742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184649" y="328901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R$ 518 mil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61981" y="362298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72457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 · Checkout e meios de pagamento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47271" y="362298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561568" y="372457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Supermercados Bom Preço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536766" y="362298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651063" y="372457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318690" y="362298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432987" y="372457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0070352" y="362298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184649" y="372457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R$ 310 mil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1981" y="405854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16013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PRJ-027 · Migração do mainframe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447271" y="405854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561568" y="416013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Corretora Valor Real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536766" y="405854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651063" y="416013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318690" y="405854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432987" y="416013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0,79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070352" y="405854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184649" y="416013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R$ 497 mil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61981" y="4494100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76278" y="459569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PRJ-054 · Migração do mainframe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447271" y="4494100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561568" y="459569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536766" y="4494100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651063" y="459569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0,80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318690" y="4494100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432987" y="459569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0,93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0070352" y="4494100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184649" y="459569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R$ 410 mil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761981" y="500585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14377" y="504395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trabalho entregue ÷ trabalho que devia estar pronto.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Abaixo de 0,8 é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abaixo de 0,9, atenção (mais 10 projetos).</a:t>
            </a:r>
            <a:endParaRPr lang="en-US" sz="1100" dirty="0"/>
          </a:p>
        </p:txBody>
      </p:sp>
      <p:pic>
        <p:nvPicPr>
          <p:cNvPr id="8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2" name="Text 79"/>
          <p:cNvSpPr txBox="1"/>
          <p:nvPr/>
        </p:nvSpPr>
        <p:spPr>
          <a:xfrm>
            <a:off x="10964390" y="6387940"/>
            <a:ext cx="48393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/ 116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QUANTO CUSTA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vai perder?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custo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farol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QUALIFY ROW_NUMBER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... = 1)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spi, cpi, farol,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eac,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- orcamento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GREATEST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orcamento / cpi - orcamento))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()  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estouro_total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LEAST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(spi, cpi);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aritmética de KPI, janela (SUM OVER). EV = orçamento × % pronto; CPI = EV ÷ custo; EAC = orçamento ÷ CPI.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0432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960713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críticos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atenção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melancias: verdes para o gerente, abaixo de 0,9 pelo número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exemplo-06-quanto-custa-o-atraso.sql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Responde a pergunta 2 do dono.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001298" y="6387940"/>
            <a:ext cx="44555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/ 116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PERGUNTA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custa: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 o farol mente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previsto: EAC − orçamento, só de quem estoura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risco: 7 críticos e 10 em atenção, de 41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melancias: farol verde do gerente com SPI abaixo de 0,9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322125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316519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melancias: verdes por fora, vermelhas por dentro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665644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PRJ-012 · PRJ-028 · PRJ-034 · PRJ-042: o gerente publicou verde na sexta; o número diz atraso. A regra da Vértice é verde só com SPI ≥ 0,95.</a:t>
            </a:r>
            <a:endParaRPr lang="en-US" sz="13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72526" y="6387940"/>
            <a:ext cx="47547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 / 116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1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dados: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SQLs prontos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aba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1926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3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dashboard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24347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683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renomeie: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Noite 1 (bronze)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24635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713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Create from 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cole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6278" y="2960812"/>
            <a:ext cx="20692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094555" y="2960812"/>
            <a:ext cx="47952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 NO GITHUB (COPIE E COLE)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33928" y="2960812"/>
            <a:ext cx="3516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 TRAZER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1981" y="325925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278" y="3360852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80258" y="325925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94555" y="3360852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dashboard-dataset-projetos.sql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19631" y="325925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33928" y="3360852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linhas: SPI, CPI, situação, farol, estouro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61981" y="369481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3796411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 por mês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980258" y="369481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094555" y="3796411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dashboard-dataset-custos.sql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819631" y="369481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3928" y="3796411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 com mês e categoria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23197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14377" y="427007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primeiro dataset lê a view do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 05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rode o 05 antes. Repare no SQL: CAST, replace e try_to_date em toda coluna. É o preço de ler a bronze.</a:t>
            </a:r>
            <a:endParaRPr lang="en-US" sz="11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0970343" y="6387940"/>
            <a:ext cx="47774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/ 116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2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gráficos: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visualization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um prompt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89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92303" y="1582301"/>
            <a:ext cx="82400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DIGITE NO QUADRO DO GRÁFICO (ASSISTENTE)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78006" y="188074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303" y="1982341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valor_contrato, em reais, título "Carteira em andamento"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61981" y="2291499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393096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risco · críticos · melancias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78006" y="2291499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92303" y="2393096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em_risco (depois: critico; depois: melancia)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61981" y="270225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0385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por projeto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78006" y="270225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92303" y="280385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horizontais com o SPI de cada projeto, do menor para o maior, cor pela situacao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1981" y="311301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14607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ferramenta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78006" y="311301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92303" y="3214607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com a quantidade de projetos por ferramenta, cor pela situacao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1981" y="3523765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2536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78006" y="3523765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92303" y="362536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do custo (soma de valor) por mês, cor pela categoria, dataset Custos por mês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1981" y="393452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036118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78006" y="393452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392303" y="4036118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com projeto, cliente, ferramenta, spi, cpi, situacao, farol, estouro_previsto e atraso_projetado_dias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61981" y="442147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377" y="445957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Confira no topo: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R$ 208,6 mi · 17 em risco · 7 críticos · 4 melancias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Depois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(canto superior direito). Prompts e o jeito "à mão":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passo-a-passo-dashboard-e-genie.md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0963596" y="6387940"/>
            <a:ext cx="4847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 / 116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da bronze,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publicado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221" r="13221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3221" r="13221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Noite 1 (bronze)": funciona, mas cada gráfico repete o CASE, o replace e a conversão de data. Na noite 2 isso some.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64588" y="6387940"/>
            <a:ext cx="48373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 / 116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GENIE PASSO A PASSO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o Genie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fazer as 4 perguntas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2519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7729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(2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New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 → bronze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marque projetos, status_semanal, excel_tarefas, clickup_tarefas, msproject_tarefas, colaboradores, apontamentos e custos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renomeie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· Noite 1 (bronze, sem curadoria)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66088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57833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nenhuma instrução: é de propósito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565931"/>
          </a:xfrm>
          <a:prstGeom prst="roundRect">
            <a:avLst>
              <a:gd name="adj" fmla="val 593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9414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8342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e cole, uma de cada vez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13340" y="2153787"/>
            <a:ext cx="4985895" cy="1289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Quais projetos estão atrasados, e de quais clientes?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Quanto esse atraso vai me custar?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Tenho gente parada enquanto outro projeto pede gente?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vai dar errado no próximo mês?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13340" y="3557102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code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cada resposta e compare com os exemplos 05 e 06.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964192" y="6387940"/>
            <a:ext cx="4841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/ 116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GENIE SEM CURADORIA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na bronze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727" r="15727" t="0" b="0"/>
          <a:stretch/>
        </p:blipFill>
        <p:spPr>
          <a:xfrm>
            <a:off x="761981" y="1455304"/>
            <a:ext cx="5238619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34886"/>
          </a:xfrm>
          <a:prstGeom prst="roundRect">
            <a:avLst>
              <a:gd name="adj" fmla="val 5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8848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7352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erra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 que hoje é 16/10/2026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270564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soma a linha de TOTAL do Excel e as tarefas-resumo do Project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75811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vê 4 CodeForges diferentes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12253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3998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 com confiança: "nenhum atraso custa nada"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39805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65736" y="3436157"/>
            <a:ext cx="482740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de IA é o mesmo da noite 2. O que muda é o que está embaixo dele.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74609" y="6387940"/>
            <a:ext cx="47330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 / 116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180315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FRASE DO PRIMEIRO DIA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126998"/>
            <a:ext cx="11094443" cy="170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"São </a:t>
            </a:r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projetos</a:t>
            </a:r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risco, espalhados em três ferramentas. Quatro deles estão com farol verde."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79991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que o novo CTO responde ao dono no fim da noite 1. Na noite 4, a frase vem com o quanto custa, a causa e a decisão.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64688" y="6387940"/>
            <a:ext cx="4836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/ 116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TERÇA, 20/10 · ENGENHEIRO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Integrar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vez, para sempre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prompts no Claude Code viram um projeto de verdade: pipeline, testes, IA nos textos, métrica governada, dashboard e Genie, tudo em código.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+ o bundle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11591"/>
          </a:xfrm>
          <a:prstGeom prst="roundRect">
            <a:avLst>
              <a:gd name="adj" fmla="val 54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615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82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a CLI do Databricks e o Claude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auth login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seu workspace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abrir o Claude Code na pasta da noite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37506"/>
            <a:ext cx="10535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075605"/>
            <a:ext cx="9108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cada prompt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84225" y="3412147"/>
            <a:ext cx="4794130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1070" y="3583592"/>
            <a:ext cx="4583061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5392" y="1582301"/>
            <a:ext cx="965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61956" y="1582301"/>
            <a:ext cx="4007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91095" y="1880744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5392" y="1982341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47659" y="1880744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61956" y="1982341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+ conferência da bronze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095" y="2308068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5392" y="2409666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47659" y="2308068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61956" y="2409666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silver: as 3 ferramentas viram uma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1095" y="2735393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5392" y="2836990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47659" y="2735393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61956" y="2836990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+ testes de qualidade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1095" y="3162717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5392" y="3264314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347659" y="3162717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61956" y="3264314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no status semanal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91095" y="3590041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05392" y="3691639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347659" y="3590041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1956" y="3691639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(mv_projetos)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91095" y="4017366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05392" y="4118963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347659" y="4017366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61956" y="4118963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e Genie como código</a:t>
            </a:r>
            <a:endParaRPr lang="en-US" sz="105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65382" y="6387940"/>
            <a:ext cx="4829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 / 116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VERTICE_FAROL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ordem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é sugestão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177005"/>
          </a:xfrm>
          <a:prstGeom prst="roundRect">
            <a:avLst>
              <a:gd name="adj" fmla="val 3344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388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981" y="587360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377" y="591170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tarefas na noite 2; a noite 3 pendura as 3 do modelo no mesmo job (em azul). Se a conferência falha, nada roda.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02291" y="6387940"/>
            <a:ext cx="44452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 / 116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 verdes,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minutos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85976"/>
            <a:ext cx="10667733" cy="17824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981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84225" y="3661080"/>
            <a:ext cx="87538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73123" y="3699179"/>
            <a:ext cx="7254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84225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s · as 9 tabelas da bronze, contadas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73363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95608" y="3661080"/>
            <a:ext cx="7808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84505" y="3699179"/>
            <a:ext cx="6271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medalhão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695608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min · silver + gold no pipeline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84745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6990" y="3661080"/>
            <a:ext cx="13675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5888" y="3699179"/>
            <a:ext cx="123739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+ testes + métrica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406990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~30 s · só status novo vai para a IA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896128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18372" y="3661080"/>
            <a:ext cx="17463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207270" y="3699179"/>
            <a:ext cx="163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→ modelo → score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9118372" y="4073820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~2,5 min · noite 3</a:t>
            </a:r>
            <a:endParaRPr lang="en-US" sz="11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3518" y="6387940"/>
            <a:ext cx="4744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 / 116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VERTICE_MEDALHAO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declara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cada tabela é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o Lakeflow acha a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10667733" cy="4144065"/>
          </a:xfrm>
          <a:prstGeom prst="roundRect">
            <a:avLst>
              <a:gd name="adj" fmla="val 3371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2161327"/>
            <a:ext cx="10375641" cy="385197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71335" y="6387940"/>
            <a:ext cx="4767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 / 116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grafo que o Lakeflow desenha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sozinho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49" y="1455304"/>
            <a:ext cx="10584996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64588" y="6387940"/>
            <a:ext cx="48373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/ 116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tabelas limpas: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resolvida uma vez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5415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587163" y="1582301"/>
            <a:ext cx="4748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272351" y="1582301"/>
            <a:ext cx="83647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LIMPEZA FEZ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1710885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54158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72866" y="1880744"/>
            <a:ext cx="685188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87163" y="1982341"/>
            <a:ext cx="474857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8054" y="1880744"/>
            <a:ext cx="8271660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72351" y="1982341"/>
            <a:ext cx="836478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viram uma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linha de TOTAL, sem tarefa-resumo, data de série e milissegundo convertidas (Excel 1.643 · ClickUp 2.119 · Project 1.155)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1981" y="2481399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582996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72866" y="2481399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587163" y="2582996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58054" y="2481399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72351" y="2582996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 unificada; ferramenta de 8 jeitos vira excel, clickup ou msproject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1981" y="2908723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3010321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status_semanal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72866" y="2908723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87163" y="3010321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58054" y="2908723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2351" y="3010321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em minúsculas; status vazio sinalizado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1981" y="3336048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437645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472866" y="3336048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587163" y="3437645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158054" y="3336048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72351" y="3437645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vírgula decimal recuperada: os 671 lançamentos voltam (R$ 193,35 mi)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1981" y="3763372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864970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472866" y="3763372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587163" y="3864970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158054" y="3763372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272351" y="3864970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duplicatas do RH removidas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1981" y="4190697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92294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apontamentos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472866" y="4190697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87163" y="4292294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158054" y="4190697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272351" y="4292294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 alinhada à sexta do status; hora extra sinalizada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61981" y="4618021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719619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472866" y="4618021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87163" y="4719619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158054" y="4618021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272351" y="4719619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4 jeitos vira 1; atraso calculado</a:t>
            </a:r>
            <a:endParaRPr lang="en-US" sz="105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65581" y="6387940"/>
            <a:ext cx="48269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 / 116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SILVER.TAREFAS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 e Project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mesma tabela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6458"/>
          <a:stretch/>
        </p:blipFill>
        <p:spPr>
          <a:xfrm>
            <a:off x="761981" y="1455304"/>
            <a:ext cx="10667733" cy="43178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836695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Mesmas colunas, mesmo tipo, mesma régua, não importa de onde veio. É aqui que o "juntar à mão" da noite 1 vira código testado.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65283" y="6387940"/>
            <a:ext cx="48300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 / 116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A GOLD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objetos,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cada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80043"/>
            <a:ext cx="6286343" cy="28144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38819" y="1455304"/>
            <a:ext cx="4190895" cy="2944640"/>
          </a:xfrm>
          <a:prstGeom prst="roundRect">
            <a:avLst>
              <a:gd name="adj" fmla="val 51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61063" y="1652149"/>
            <a:ext cx="13361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49961" y="1690248"/>
            <a:ext cx="12046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cria cada um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6106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51559" y="1988691"/>
            <a:ext cx="3698148" cy="1028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projeto_situacao_atual, fato_projeto_semana, utilizacao_pessoa_semana (pipeline), status_estruturado (IA), mv_projetos (métrica)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61063" y="317581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51559" y="3093266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score_estouro_30d (o modelo)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61063" y="345768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651559" y="3375139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contratos (IA nos PDFs)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61063" y="3707811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13460" y="3745910"/>
            <a:ext cx="373777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tabela tem COMMENT: é o que o Genie lê para entender o que cada coluna quer dizer.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5701" y="6387940"/>
            <a:ext cx="4721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 / 116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1 DE 5 · GOLD.PROJETO_SITUACAO_ATUAL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fotografia de hoje: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perguntas 1 e 2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72636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6105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 (60)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cadastro: cliente, segmento, ferramenta, gerente, contrato, prazo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EV, AC calculados sobre 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das 3 ferramentas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CPI, EAC,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margem, atraso projetado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situação: ok, atenção, crítico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53140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44885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do gerente × farol calculado, e a coluna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1095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0059D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3340" y="1779146"/>
            <a:ext cx="4349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02237" y="1817245"/>
            <a:ext cx="26745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13340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10 · 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13340" y="2522078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críticos · em atenção · melancias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871616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327800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o mesmo da noite 1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13340" y="3627545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 · 0,97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413340" y="403393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da carteira · margem projetada 20,4%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65779" y="6387940"/>
            <a:ext cx="4824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 / 116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2 DE 5 · GOLD.FATO_PROJETO_SEMANA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× semana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8724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223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 linhas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 e AC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acumulados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até cada sexta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EAC semana a semana; farol do gerente vigente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disponíveis, apontadas e ociosas da equipe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EV histórico vem do status semanal: as ferramentas só guardam o % de hoje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0444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901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linha do SPI e do CPI da carteira no dashboard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"qual era o SPI do PRJ-016 em setembro?" no Genie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base do modelo da 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linha é um "momento" do projeto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72190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75999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 que vira teste: PV, EV e AC já são acumulados. Somar semanas do mesmo projeto conta duas vezes.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66176" y="6387940"/>
            <a:ext cx="482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 / 116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3 DE 5 · GOLD.UTILIZACAO_PESSOA_SEMANA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8266" r="18266" t="0" b="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681816"/>
          </a:xfrm>
          <a:prstGeom prst="roundRect">
            <a:avLst>
              <a:gd name="adj" fmla="val 56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17541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16394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 × projeto × semana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utilização = apontado ÷ disponível; custo da hora parada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SPI do projeto na mesma semana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55633"/>
            <a:ext cx="8003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793732"/>
            <a:ext cx="6474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resposta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17472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9217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SREs seniores, a ~5,5% no PRJ-007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4565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3740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PRJ-011 está sem SRE há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semanas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57 dias de impacto no status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óbvia vira simulação na noite 4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64985" y="6387940"/>
            <a:ext cx="48331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/ 116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GOLD.STATUS_ESTRUTURADO · A FUNÇÃO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livre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867646"/>
          </a:xfrm>
          <a:prstGeom prst="roundRect">
            <a:avLst>
              <a:gd name="adj" fmla="val 1317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10691609" cy="531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'["change_freeze","falta_sre","dependencia_fornecedor","rotatividade",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"mudanca_escopo","bug_retrabalho","aprovacao_cliente","sem_bloqueio"]'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'{"bloqueio": ..., "quem_destrava": ..., "dias_impacto": {"type": "number"}}'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61981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4225" y="2811888"/>
            <a:ext cx="120398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3123" y="2849987"/>
            <a:ext cx="10672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Regra · custo zero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2.954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984225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"sem bloqueios" e status vazio: não precisa de IA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77124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0059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9369" y="2811888"/>
            <a:ext cx="12640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88266" y="2849987"/>
            <a:ext cx="11296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· últimos 90 dias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99369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599369" y="3554820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com bloqueio, em ~2 minutos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92267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14512" y="2811888"/>
            <a:ext cx="164550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3410" y="2849987"/>
            <a:ext cx="15264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Palavra-chave · histórico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14512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14512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IA custaria caro e não muda decisão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1981" y="4285647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4323746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Causas nos últimos 90 dias: escopo 42 · bug 37 · aprovação do cliente 35 · fornecedor 28 ·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 12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rotatividade 9. O MERGE só processa status novo: IA cobra por chamada.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1001894" y="6387940"/>
            <a:ext cx="44493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 / 116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A IA NO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travou,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a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00" y="1455304"/>
            <a:ext cx="8877096" cy="4444889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3121" y="6387940"/>
            <a:ext cx="47485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 / 116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GOLD.MV_PROJETOS · A MÉTRICA GOVERNADA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definido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16829"/>
          </a:xfrm>
          <a:prstGeom prst="roundRect">
            <a:avLst>
              <a:gd name="adj" fmla="val 436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2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METRICS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 YAML 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$$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gold.projeto_situacao_atual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filter: status = 'em_andamento'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measures: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spi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SUM(ev) / SUM(pv)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estouro_previsto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SUM(estouro_previsto)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projetos_em_risco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COUNT(1) FILTER (WHERE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situacao IN ('atenção','crítico'))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191095" y="1582301"/>
            <a:ext cx="5238619" cy="3139004"/>
          </a:xfrm>
          <a:prstGeom prst="roundRect">
            <a:avLst>
              <a:gd name="adj" fmla="val 48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13340" y="1779146"/>
            <a:ext cx="11143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02237" y="1817245"/>
            <a:ext cx="9740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importa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dashboard, Genie e app pedem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MEASURE(spi)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recebem a mesma fórmula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reescreve SPI num CASE escondido dentro de um gráfico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3835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metric view só, de propósito: é a dos números da diretoria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13340" y="3629133"/>
            <a:ext cx="4794130" cy="895328"/>
          </a:xfrm>
          <a:prstGeom prst="roundRect">
            <a:avLst>
              <a:gd name="adj" fmla="val 12766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0185" y="3800578"/>
            <a:ext cx="4583061" cy="558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MEASURE(spi), MEASURE(estouro_previsto)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-- 0,92 · R$ 6.465.127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70938" y="6387940"/>
            <a:ext cx="47712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 / 116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A METRIC VIEW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medidas, 9 dimensões,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dono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51" y="1455304"/>
            <a:ext cx="6102783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064198" y="1455304"/>
            <a:ext cx="4365516" cy="2322355"/>
          </a:xfrm>
          <a:prstGeom prst="roundRect">
            <a:avLst>
              <a:gd name="adj" fmla="val 65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86443" y="1652149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5341" y="169024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28644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76938" y="1988691"/>
            <a:ext cx="3879753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medida com a explicação em português (SPI, CPI, EAC, estouro, margem, em risco, críticos,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86443" y="276446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476938" y="2681915"/>
            <a:ext cx="387975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fonte: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filtrada para em andamento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86443" y="32520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76938" y="3169464"/>
            <a:ext cx="387975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usa: o dashboard Portfólio e o Genie Diretoria (em "Related assets")</a:t>
            </a:r>
            <a:endParaRPr lang="en-US" sz="12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64192" y="6387940"/>
            <a:ext cx="4841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/ 116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TESTES DE QUALIDADE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o dado de ontem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o dado errado de hoje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93114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8234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testes, depois do medalhão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60 projetos têm cronograma na silver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veio da ferramenta do cadastro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da silver = linha de TOTAL de cada planilha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pessoa; CodeForge virou 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limpeza não mudou o custo total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4225" y="360760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4721" y="352505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do status bate com o das ferramentas (&lt; 1%)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1095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13340" y="1779146"/>
            <a:ext cx="9831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2237" y="1817245"/>
            <a:ext cx="8375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quebra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115688"/>
            <a:ext cx="4985895" cy="524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WHEN passou THEN 'ok'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ELSE raise_error('Teste ' || n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|| ' falhou') END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2742040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raise_error interrompe o job antes de o dashboard mostrar meio dado com cara de dado inteiro. Verificação da noite: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de 20 ok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65283" y="6387940"/>
            <a:ext cx="48300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 / 116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COMO CÓDIGO · PORTFÓLIO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Portfólio",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sobre a gold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657" r="15657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376" r="14376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páginas: Portfólio, Pessoas e Fornecedores. É um JSON no Git, gerado por script e publicado pelo bundle: tem diff, revisão e rollback.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64886" y="6387940"/>
            <a:ext cx="48342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 / 116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· FORNECEDORES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promete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não cumpre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27483"/>
            <a:ext cx="5238619" cy="279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5392" y="1455304"/>
            <a:ext cx="28111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237035" y="1455304"/>
            <a:ext cx="21615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÷ PROMETIDO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91095" y="1753747"/>
            <a:ext cx="2931642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5392" y="185534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(4 grafias)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122738" y="1753747"/>
            <a:ext cx="23069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237035" y="185534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1095" y="218930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5392" y="229090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122738" y="218930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37035" y="229090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91095" y="262486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5392" y="272646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22738" y="262486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237035" y="272646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191095" y="3060425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05392" y="316202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SecureOps Segurança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122738" y="3060425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237035" y="316202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191095" y="3495984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5392" y="3597582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Pixel Design Studio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122738" y="3495984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237035" y="3597582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5304" y="6387940"/>
            <a:ext cx="47258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 / 116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GENIE CURADO · "FAROL · DIRETORIA"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modelo de IA,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acerta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493" r="14493" t="0" b="0"/>
          <a:stretch/>
        </p:blipFill>
        <p:spPr>
          <a:xfrm>
            <a:off x="761981" y="1455304"/>
            <a:ext cx="5257669" cy="393690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493" r="14493" t="0" b="0"/>
          <a:stretch/>
        </p:blipFill>
        <p:spPr>
          <a:xfrm>
            <a:off x="6172046" y="1455304"/>
            <a:ext cx="5257669" cy="393690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455704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com COMMENT em toda tabela, a metric view, instruções de negócio ("hoje é 16/10/2026", as regras de corte) e 9 SQLs de exemplo. Também é código no bundle.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65382" y="6387940"/>
            <a:ext cx="4829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 / 116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QUE MUDOU DA NOITE 1 PARA CÁ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números,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sem ninguém juntar à mão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2680625" y="2015281"/>
            <a:ext cx="49494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BRONZE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668326" y="2015281"/>
            <a:ext cx="37929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231372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2415321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Integração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6328" y="231372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80625" y="2415321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view com CASE, replace e conversão de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54029" y="231372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68326" y="2415321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silver.tarefas, testada, num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1981" y="276575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6278" y="286735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6328" y="276575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680625" y="286735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 repetida em cada query e gráfico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54029" y="276575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68326" y="286735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mv_projetos: uma fórmula para todos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1981" y="3217782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31938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atrasou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66328" y="3217782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680625" y="331938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3.911 textos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54029" y="3217782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68326" y="331938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 como coluna (IA)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66981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771409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66328" y="366981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680625" y="3771409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554029" y="366981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8326" y="3771409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acerta, com instrução e exemplo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1981" y="412184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223438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Atualizar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566328" y="412184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680625" y="4223438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 tudo de novo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54029" y="412184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68326" y="4223438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toda segunda às 6h</a:t>
            </a:r>
            <a:endParaRPr lang="en-US" sz="12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0965779" y="6387940"/>
            <a:ext cx="4824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 / 116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QUARTA, 21/10 · CIENTISTA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o atraso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ele acontecer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4: o que vai dar errado no próximo mês? Um modelo, treinado com o passado de cada projeto, que avisa 40 dias antes.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tarefas a mais no mesmo job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4824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132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1 · features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ml.features_projeto_semana: uma linha por projeto e semana, só olhando para trás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12315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10959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comparação com as regras de hoje, MLflow e registro no Unity Catalog (@prod)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11097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969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score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gold.score_estouro_30d: probabilidade, ranking, faixa e motivos em português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1981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4225" y="3367499"/>
            <a:ext cx="16567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3123" y="3405598"/>
            <a:ext cx="1538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laboratório: schema ml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4225" y="3780239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features, métricas e o modelo moram fora da gold. Na gold fica só a resposta: o score.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1095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13340" y="3367499"/>
            <a:ext cx="5251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02237" y="3405598"/>
            <a:ext cx="36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13340" y="3742140"/>
            <a:ext cx="4794130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10185" y="3913586"/>
            <a:ext cx="4583061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413340" y="451106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tarefas, 4 a 5 minutos.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012311" y="6387940"/>
            <a:ext cx="43409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 / 116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AS FEATURES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descreve um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vai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7729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190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está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o pior dos dois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físico × % do prazo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97708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8312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onde vai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em 4 e 8 semanas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semanas com CPI caindo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86669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77164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do último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66868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9112" y="1779146"/>
            <a:ext cx="9753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78010" y="1817245"/>
            <a:ext cx="8295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e custo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da equipe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do custo em consultoria e cloud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89112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79608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saídas do squad em 12 semanas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1981" y="3221651"/>
            <a:ext cx="10667733" cy="1003573"/>
          </a:xfrm>
          <a:prstGeom prst="roundRect">
            <a:avLst>
              <a:gd name="adj" fmla="val 15185"/>
            </a:avLst>
          </a:prstGeom>
          <a:solidFill>
            <a:srgbClr val="0059DB"/>
          </a:solidFill>
          <a:ln/>
        </p:spPr>
      </p:sp>
      <p:sp>
        <p:nvSpPr>
          <p:cNvPr id="30" name="Shape 28"/>
          <p:cNvSpPr/>
          <p:nvPr/>
        </p:nvSpPr>
        <p:spPr>
          <a:xfrm>
            <a:off x="984225" y="3418497"/>
            <a:ext cx="316628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73123" y="3456596"/>
            <a:ext cx="3108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do gerente, já classificado pela IA da noite 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84225" y="3831236"/>
            <a:ext cx="10632174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quantos dos últimos 4 status citaram freeze, falta de SRE, fornecedor, rotatividade, escopo, retrabalho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1981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4225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984225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(projeto × semana)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377124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99369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1.643</a:t>
            </a:r>
            <a:endParaRPr lang="en-US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4599369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de treino, com rótulo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992267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14512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16,7%</a:t>
            </a:r>
            <a:endParaRPr lang="en-US" sz="2600" dirty="0"/>
          </a:p>
        </p:txBody>
      </p:sp>
      <p:sp>
        <p:nvSpPr>
          <p:cNvPr id="41" name="Text 39"/>
          <p:cNvSpPr txBox="1"/>
          <p:nvPr/>
        </p:nvSpPr>
        <p:spPr>
          <a:xfrm>
            <a:off x="8214512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taxa base: estoura em 30 dias</a:t>
            </a:r>
            <a:endParaRPr lang="en-US" sz="115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0983539" y="6387940"/>
            <a:ext cx="4640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 / 116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MODELO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mais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de hoje?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9508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PREVÊ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865269" y="1582301"/>
            <a:ext cx="5035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578039" y="1582301"/>
            <a:ext cx="4926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LEITURA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atual (SPI ou CPI &lt; 0,9)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750972" y="1880744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65269" y="1982341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63742" y="1880744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78039" y="1982341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vê o que já aconteceu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da folga (quem está mais perto de 0,9)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50972" y="2332773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65269" y="243437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63742" y="2332773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78039" y="243437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baseline honesto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4988991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(HistGradientBoosting)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50972" y="2784802"/>
            <a:ext cx="712770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65269" y="288640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63742" y="2784802"/>
            <a:ext cx="4965973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78039" y="288640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ganha da folga, sem vazamento (assert &lt; 0,98)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4225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 10</a:t>
            </a:r>
            <a:endParaRPr lang="en-US" sz="3300" dirty="0"/>
          </a:p>
        </p:txBody>
      </p:sp>
      <p:sp>
        <p:nvSpPr>
          <p:cNvPr id="27" name="Text 25"/>
          <p:cNvSpPr txBox="1"/>
          <p:nvPr/>
        </p:nvSpPr>
        <p:spPr>
          <a:xfrm>
            <a:off x="984225" y="4068661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estouros do teste apareceram no top 5 da semana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77124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99369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dias</a:t>
            </a:r>
            <a:endParaRPr lang="en-US" sz="3300" dirty="0"/>
          </a:p>
        </p:txBody>
      </p:sp>
      <p:sp>
        <p:nvSpPr>
          <p:cNvPr id="30" name="Text 28"/>
          <p:cNvSpPr txBox="1"/>
          <p:nvPr/>
        </p:nvSpPr>
        <p:spPr>
          <a:xfrm>
            <a:off x="4599369" y="4068661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antecedência, em média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992267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14512" y="3573373"/>
            <a:ext cx="3112573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corte no tempo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214512" y="448775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treina até mar/2026, testa a partir de abr/2026: o futuro nunca entra no treino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981356" y="6387940"/>
            <a:ext cx="4662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 / 116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MLFLOW E UNITY CATALOG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treino registrado,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melhor em @prod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888" r="15888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76035"/>
            <a:ext cx="5257669" cy="302243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lakehouse_vertice.ml.modelo_estouro_30d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tem versão, alias @prod e linhagem até a bronze. O score em lote roda no job, e o resultado vai para a gold.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4609" y="6387940"/>
            <a:ext cx="47330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 / 116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GOLD.SCORE_ESTOURO_30D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que o dono abre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segunda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7065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365117" y="1582301"/>
            <a:ext cx="83043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392203" y="1582301"/>
            <a:ext cx="5699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168868" y="1582301"/>
            <a:ext cx="6175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FAIXA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991272" y="1582301"/>
            <a:ext cx="761711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MOTIVOS (EM PORTUGUÊS)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50820" y="1880744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65117" y="198234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77906" y="1880744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392203" y="198234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54571" y="1880744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68868" y="198234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76975" y="1880744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91272" y="198234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0,63; ritmo do último mês em 56% do planejado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1981" y="2299833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0143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50820" y="2299833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65117" y="240143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77906" y="2299833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92203" y="240143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54571" y="2299833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68868" y="240143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76975" y="2299833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991272" y="240143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0,77; falta de SRE em 4 dos últimos 4 status; 38% das horas paradas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1981" y="2718923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2052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50820" y="2718923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365117" y="282052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77906" y="2718923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92203" y="282052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54571" y="2718923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168868" y="282052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6975" y="2718923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991272" y="282052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status semanal o índice já é 0,90: o cronograma da ferramenta diz 0,94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1981" y="3138012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3961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250820" y="3138012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365117" y="323961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277906" y="3138012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392203" y="323961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0,46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54571" y="3138012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168868" y="323961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876975" y="3138012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991272" y="323961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0,01 do corte de 0,9 (índice 0,91)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61981" y="3557102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65869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250820" y="3557102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365117" y="365869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277906" y="3557102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392203" y="365869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054571" y="3557102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168868" y="365869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876975" y="3557102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91272" y="365869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0,00 do corte; consultoria atrasando em 2 dos últimos 4 status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61981" y="3976191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07778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1250820" y="3976191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365117" y="407778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277906" y="3976191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392203" y="407778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54571" y="3976191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68868" y="407778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876975" y="3976191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991272" y="407778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ritmo do último mês em 74%; squad perdendo gente: 2 saídas em 12 semanas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61981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84225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4 · 19</a:t>
            </a:r>
            <a:endParaRPr lang="en-US" sz="2600" dirty="0"/>
          </a:p>
        </p:txBody>
      </p:sp>
      <p:sp>
        <p:nvSpPr>
          <p:cNvPr id="71" name="Text 69"/>
          <p:cNvSpPr txBox="1"/>
          <p:nvPr/>
        </p:nvSpPr>
        <p:spPr>
          <a:xfrm>
            <a:off x="984225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 · médio · baixo, dos 41 em andamento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4377124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599369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2600" dirty="0"/>
          </a:p>
        </p:txBody>
      </p:sp>
      <p:sp>
        <p:nvSpPr>
          <p:cNvPr id="74" name="Text 72"/>
          <p:cNvSpPr txBox="1"/>
          <p:nvPr/>
        </p:nvSpPr>
        <p:spPr>
          <a:xfrm>
            <a:off x="4599369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críticos ou em atenção: probabilidade 1,0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7992267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0059DB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214512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600" dirty="0"/>
          </a:p>
        </p:txBody>
      </p:sp>
      <p:sp>
        <p:nvSpPr>
          <p:cNvPr id="77" name="Text 75"/>
          <p:cNvSpPr txBox="1"/>
          <p:nvPr/>
        </p:nvSpPr>
        <p:spPr>
          <a:xfrm>
            <a:off x="8214512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"ok" para a regra, mas com risco alto ou médio</a:t>
            </a:r>
            <a:endParaRPr lang="en-US" sz="1150" dirty="0"/>
          </a:p>
        </p:txBody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9" name="Text 76"/>
          <p:cNvSpPr txBox="1"/>
          <p:nvPr/>
        </p:nvSpPr>
        <p:spPr>
          <a:xfrm>
            <a:off x="10975701" y="6387940"/>
            <a:ext cx="4721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116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SCORE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57" y="1455304"/>
            <a:ext cx="6657581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5304" y="6387940"/>
            <a:ext cx="47258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76 / 116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"UAU"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hoje, 46% de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20845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0718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de hoje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0,91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diz ok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7124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599369" y="1779146"/>
            <a:ext cx="740153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8266" y="1817245"/>
            <a:ext cx="584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99369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46%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99369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cruzar 0,9 nos próximos 30 dias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2267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4512" y="1779146"/>
            <a:ext cx="9247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3410" y="1817245"/>
            <a:ext cx="7768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calendário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14512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214512" y="2610975"/>
            <a:ext cx="311257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change freeze da Black Friday: marketplace sem deploy até 10/01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89744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86589"/>
            <a:ext cx="19683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824688"/>
            <a:ext cx="18621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 lição de qualidade: PRJ-013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199329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status de sexta diz 43%; a planilha diz 45%. O modelo usa o boletim e vê índice 0,90; a ferramenta diz 0,94. Quando as fontes não batem, o modelo avisa antes de o número "melhorar" no papel.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85721" y="6387940"/>
            <a:ext cx="4617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 / 116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16916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QUINTA, 22/10 · ENGENHEIRO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493007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dado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decisão do dono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37825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IA lê os contratos em PDF, a Torre vira um app, e a decisão fica gravada com nome e hora.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script que sobe tudo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0384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064890" y="1582301"/>
            <a:ext cx="85805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agente de contratos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50593" y="1880744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4890" y="1982341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ai_parse_document + ai_extract nos 8 PDFs →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gold.contratos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Genie "Farol · Diretoria + Contratos"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1981" y="2316303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1790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o 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50593" y="2316303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64890" y="241790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farol-torre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(AppKit): Projetos em risco, Simulador, Perguntar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1981" y="2751862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5346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aprovação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50593" y="2751862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4890" y="285346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Decisões, gravando no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(Postgres) com o usuário e o horário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1981" y="3301719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8826" y="3473165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 zero, na ordem que funciona: Lakebase → contratos → Genie → app</a:t>
            </a:r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aulas/aula-04-engenheiro-ia/torre-app/scripts/subir-tudo.sh SEU-PERFIL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1981" y="413989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17799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é um usuário do Unity Catalog: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conceder-acesso.sh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dá USE e SELECT na gold e na silver antes do build. O primeiro acesso pede "Authorize", feito por uma pessoa.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76197" y="6387940"/>
            <a:ext cx="4716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 / 116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AGENTE QUE LÊ CONTRATO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PDFs,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na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65481" y="6387940"/>
            <a:ext cx="48280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 / 116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 LIÇÃO DO AI_EXTRACT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schema, texto.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schema, dado.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3938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9204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15688"/>
            <a:ext cx="4794130" cy="1005656"/>
          </a:xfrm>
          <a:prstGeom prst="roundRect">
            <a:avLst>
              <a:gd name="adj" fmla="val 11365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1070" y="2287133"/>
            <a:ext cx="4583061" cy="669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{"multa_atraso": "0,2% do valor da entrega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atrasada por dia corrido, limitada a 5%",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"renovacao_automatica": "renovado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automaticamente por mais 12 meses"}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97542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dá para somar nem comparar.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1095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13340" y="1779146"/>
            <a:ext cx="170443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2237" y="1817245"/>
            <a:ext cx="15877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JSON schema tipado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13340" y="2115688"/>
            <a:ext cx="4794130" cy="1171347"/>
          </a:xfrm>
          <a:prstGeom prst="roundRect">
            <a:avLst>
              <a:gd name="adj" fmla="val 975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10185" y="2287133"/>
            <a:ext cx="4583061" cy="83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multa_atraso_pct_dia  0.5 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teto_multa_pct        10.0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renovacao_automatica  true    (boolean)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aviso_previo_dias     90      (integer)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data_fim_vigencia     2026-12-31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413340" y="3363233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coluna: filtra, soma, cruza com as entregas.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1002489" y="6387940"/>
            <a:ext cx="4443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81 / 116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PDF virou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e coluna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00994"/>
            <a:ext cx="5257669" cy="24645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062014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contrato por linha: fornecedor e objeto, lidos do PDF.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95964"/>
            <a:ext cx="5257669" cy="247459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5062014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colunas tipadas: data, booleano, inteiro e decimal. null = contrato sem multa por atraso.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3617" y="6387940"/>
            <a:ext cx="4743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82 / 116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· O QUE O CONTRATO DIZ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Dinheiro na mesa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prazo vencendo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8964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7873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cobrável da CodeForge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R$ 1,12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498589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entregas atrasadas na vigência atual × 0,5% ao dia, com teto de 10% por entrega (cláusula 6). Dá para descontar das próximas faturas.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8967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7403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Aviso prévio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13340" y="2115688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7637" y="221728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Cloud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484777" y="2115688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9074" y="221728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14 dias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13340" y="253477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7637" y="263637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84777" y="253477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9074" y="263637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15 dias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13340" y="295386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27637" y="305546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Observa360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4777" y="295386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9074" y="305546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 em 15 dias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13340" y="3372956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27637" y="347455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84777" y="3372956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99074" y="347455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dias · não renova sozinho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13340" y="381744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e DataPrime renovaram sozinhos: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R$ 21,4 mi/ano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971434" y="6387940"/>
            <a:ext cx="47661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 / 116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1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9685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8223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mostra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 (7 críticos, 4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270564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6349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55243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multa a cobrar de fornecedor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29168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283431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alto risco em 30 dias (modelo da noite 3)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40440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321860"/>
            <a:ext cx="3530575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com SPI, CPI, farol, estouro, atraso, a causa que a IA leu e a probabilidade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a gold pelo SQL warehouse: os mesmos números do dashboard e do Genie.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64688" y="6387940"/>
            <a:ext cx="4836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 / 116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2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Simulador: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se eu mover essa pessoa?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2486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1136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 → PRJ-011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SRE sênior a 6% no PRJ-007, que ainda está no discovery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151 h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paradas viram produção no mês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758113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dias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cronograma recuperados no PRJ-011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R$ 30.123 de ociosidade a menos − R$ 7.992 de mobilização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8157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73321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saldo de R$ 22.131/mês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dias recuperados vêm do que a IA leu no status: 57 dias de impacto por falta de SRE.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65779" y="6387940"/>
            <a:ext cx="4824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85 / 116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3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gravadas no Lakebase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968" y="1455304"/>
            <a:ext cx="4132645" cy="266693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04229"/>
          </a:xfrm>
          <a:prstGeom prst="roundRect">
            <a:avLst>
              <a:gd name="adj" fmla="val 58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107550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93361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funciona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simulador, o dono escreve a justificativa e aprova ou recusa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47624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vai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torre.decisoes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num Postgres do Lakebase, com o usuário do login e o horário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9637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lista o histórico: quem decidiu o quê, quando e por quê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53388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451337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analítico na gold (warehouse); transação no Lakebase (Postgres)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015" y="4274634"/>
            <a:ext cx="2981665" cy="158746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965382" y="6387940"/>
            <a:ext cx="4829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86 / 116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4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dentro da Torre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2192878"/>
          </a:xfrm>
          <a:prstGeom prst="roundRect">
            <a:avLst>
              <a:gd name="adj" fmla="val 69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85365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7428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"Farol · Diretoria + Contratos"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projetos, causa do atraso, gente parada, risco em 30 dias e o contrato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dá para cobrar de multa da CodeForge?"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R$ 1.122.967,66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120 entregas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96378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SQL que rodou: dá para conferir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benchmark: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 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certas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5800" y="6387940"/>
            <a:ext cx="47207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 / 116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PITCH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Torre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no ano 1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R$ 3,0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valor no ano 1: multa cobrada, atraso evitado, gente realocada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R$ 0,4 mi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custo para construir e manter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noites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Excel espalhado à decisão gravada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142633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12984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dono ganhou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84225" y="36719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4721" y="3589446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segunda: quem atrasa, quanto custa, quem está parado, o que vem aí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84225" y="395386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74721" y="3871320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farol que segue o número, não a percepção do gerente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84225" y="423574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74721" y="4153193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contrato na conversa: multa cobrada e renovação decidida, não automática</a:t>
            </a:r>
            <a:endParaRPr lang="en-US" sz="12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65878" y="6387940"/>
            <a:ext cx="4823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 / 116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ENTREGÁVEIS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workspace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fim da quinta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2270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284752" y="1582301"/>
            <a:ext cx="93918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analista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70455" y="1880744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4752" y="1982341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e volume · 9 tabelas na bronze · 6 exemplos SQL · dashboard "Projeto Farol · Noite 1 (bronze)" · Genie "Farol · Noite 1 (bronze, sem curadoria)"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48139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58299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engenheiro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70455" y="248139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4752" y="258299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vertice · job vertice_farol · pipeline vertice_medalhao · silver (7) · gold (5) · IA nos status · mv_projetos · 10 testes · dashboard "Projeto Farol · Portfólio" · Genie "Farol · Diretoria"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3082054"/>
            <a:ext cx="140847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3183652"/>
            <a:ext cx="122707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cientista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70455" y="3082054"/>
            <a:ext cx="925925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84752" y="3183652"/>
            <a:ext cx="9391891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 · experimento MLflow · modelo ml.modelo_estouro_30d @prod · gold.score_estouro_30d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50937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61097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engenheiro de 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170455" y="350937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84752" y="361097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farol_contratos · gold.contratos · Genie "Farol · Diretoria + Contratos" · app farol-torre (4 abas) · Lakebase farol-torre · pitch</a:t>
            </a:r>
            <a:endParaRPr lang="en-US" sz="10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66275" y="6387940"/>
            <a:ext cx="4819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 / 116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NÚMEROS DE REFERÊNCIA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o seu número bateu,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chegou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18/18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R$ 6,47 mi · 7 críticos · 4 melancias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0663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908" y="1779146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806" y="1817245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2908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20/20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2908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4.917 tarefas · 163 status com IA · CodeForge ×1,41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59346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1590" y="1779146"/>
            <a:ext cx="56860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0488" y="1817245"/>
            <a:ext cx="4064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1590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1590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 · 9 de 10 avisados · 41 dias antes · PRJ-024 em 46%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58029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0273" y="1779146"/>
            <a:ext cx="5757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69171" y="1817245"/>
            <a:ext cx="4138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0273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10/10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0273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· R$ 1,12 mi de multa · 19 dias e R$ 22,1 mil/mês no simulador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3500846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538945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tem um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esperado × obtido. "CONFIRA" quer dizer que o problema está na carga ou na query, não no dado: a seed é fixa.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65878" y="6387940"/>
            <a:ext cx="4823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 / 116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198819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APÊNDICE · TOUR PELO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12037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recursos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Databricks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94953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tela que usamos para montar o Projeto Farol, no Free Edition, com o que ela faz e em que noite entrou.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MAPA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workspace,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blocos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36343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23306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· Git folder · bundle · notebooks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4586669" y="1779146"/>
            <a:ext cx="10988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9578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SQL Warehouse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9112" y="1779146"/>
            <a:ext cx="126748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1332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 · schemas · tabelas · volumes · lineage · metric views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3252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19333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 · Lakeflow pipeline · Jobs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1054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9647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 · Query History · AI/BI Dashboard · Genie · funções de 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9574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108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· modelo no Unity Catalog · Lakebase · Apps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1981" y="428852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377" y="432662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isto existe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Edition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sem cartão de crédito. O que não existe está no último slide.</a:t>
            </a:r>
            <a:endParaRPr lang="en-US" sz="11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92 / 116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e bundle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"disco" do Databricks: pastas, notebooks, arquivos SQL, dashboards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 deploy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copia o repositório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.bundle/vertice/dev/files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código vem do Git, nunca é editado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em diante: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metricas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1831" y="6387940"/>
            <a:ext cx="47619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 / 116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Notebook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texto, código e resultado na mesma página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Python, SQL, Scala ou R, célula a célula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3619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27939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tarefa de job sem mudar uma linha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624766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662865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037506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02-modelo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03-score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que treinam e pontuam o modelo dentro do job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65084" y="6387940"/>
            <a:ext cx="48321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94 / 116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Serverless: ninguém liga cluster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Databricks liga a máquina quando a tarefa começa e desliga no fim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notebook aberto por uma pessoa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tarefa de job e pipeline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 o processamento das 4 noites. No Free Edition não há cluster clássico: é só serverless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66176" y="6387940"/>
            <a:ext cx="482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 / 116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Warehouse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motor que responde SQL: editor, dashboard, Genie, app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Free Edition dá um: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Starter Warehouse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2X-Small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dorme sozinho quando ninguém pergunta nada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warehouse serve as 4 noites e o app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65779" y="6387940"/>
            <a:ext cx="4824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 / 116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Catalog: catálogo e schemas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endereço de todo dado: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catálogo.schema.tabela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permissão, dono, comentário e histórico num lugar só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modelo, função e volume também moram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 arquitetura medalhão: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(como chegou),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(limpo e unificado),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(pronto para o dono)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6197" y="6387940"/>
            <a:ext cx="4716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97 / 116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 e tabelas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6063" r="16063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Delta: arquivo no storage com transação, versão e schema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aba mostra dono, amostra, histórico, permissão e lineage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1: 9 tabelas na bronze, uma por fonte, mais o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rascunho_tarefas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 view que junta as 3 ferramentas à mão)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66275" y="6387940"/>
            <a:ext cx="4819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 / 116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 ·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Volume: a pasta de arquivos crus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616" r="4616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 governada pelo Unity Catalog para qualquer arquivo: xlsx, json, xml, pdf, csv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lê direto daqui, no formato certo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bronze.raw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as 20 planilhas, os 25 JSON do ClickUp, os 15 XML do Project, os PDFs de contrato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66672" y="6387940"/>
            <a:ext cx="48156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 / 116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Ingestion: os conectores prontos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conectores gerenciados: Salesforce, SQL Server, SharePoint, Google Drive, ServiceNow…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4914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408872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Databricks puxa o dado incremental, sem código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959919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998018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372659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usamos: os arquivos chegam por volume. Na vida real, é aqui que entra o ClickUp de verdade ou o SharePoint do PMO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20636" y="6387940"/>
            <a:ext cx="52944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/ 116</a:t>
            </a:r>
            <a:endParaRPr lang="en-US" sz="1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pipeline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820118"/>
            <a:ext cx="6455308" cy="27881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escreve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quê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(SQL de cada tabela), o Databricks resolve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a ordem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desenha o grafo sozinho, a partir dos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expectativas de qualidade em cada tabela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vertice_medalhao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as 3 ferramentas desaguando em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silver.tarefas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57643" y="6387940"/>
            <a:ext cx="49095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 / 116</a:t>
            </a:r>
            <a:endParaRPr lang="en-US" sz="10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 ·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Jobs &amp; Pipelines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de tudo que roda sozinho, com agenda e as últimas execuções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 e verde lado a lado: o histórico conta a história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job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vertice_farol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(agendado, pausado no ensaio) e o pipeline. Os ✕ são os ensaios com erro, corrigidos no código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28771" y="6387940"/>
            <a:ext cx="5209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102 / 116</a:t>
            </a:r>
            <a:endParaRPr lang="en-US" sz="1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 ·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job, tarefa a tarefa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187534"/>
            <a:ext cx="10667733" cy="17824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981" y="3140393"/>
            <a:ext cx="5257669" cy="1629131"/>
          </a:xfrm>
          <a:prstGeom prst="roundRect">
            <a:avLst>
              <a:gd name="adj" fmla="val 9354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984225" y="3337238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73123" y="3375337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984225" y="375632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74721" y="3673780"/>
            <a:ext cx="4807592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com dependência: pipeline, SQL, notebook, dashboard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84225" y="424387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174721" y="4161329"/>
            <a:ext cx="4807592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não depende roda em paralelo; se o teste falha, nada depois roda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046" y="3140393"/>
            <a:ext cx="5257669" cy="1629131"/>
          </a:xfrm>
          <a:prstGeom prst="roundRect">
            <a:avLst>
              <a:gd name="adj" fmla="val 9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94290" y="333723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3188" y="337533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394290" y="3749978"/>
            <a:ext cx="5005707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tarefas: conferência da bronze → medalhão → testes e IA no status (em paralelo) → métrica → features → modelo → score</a:t>
            </a:r>
            <a:endParaRPr lang="en-US" sz="11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26589" y="6387940"/>
            <a:ext cx="52325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103 / 116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 ·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Lineage: de onde veio, para onde vai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698" r="14698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lista: quem lê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projeto_situacao_atual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(Genie, dashboard, metric view, job) e de onde ela vem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9246" r="9246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grafo: silver → gold → metric view e as features do ml, coluna a coluna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28425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32235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desenhou isto. O Unity Catalog anota sozinho cada leitura e cada escrita.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19941" y="6387940"/>
            <a:ext cx="53016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104 / 116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 ·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Metric view: a fórmula num lugar só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10" y="1182261"/>
            <a:ext cx="5917850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KPI, não o número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MEASURE(cpi)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sempre ΣEV ÷ ΣAC, em qualquer grão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comentário de cada medida ensina o Genie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uma metric view só, a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mv_projetos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11 medidas: SPI 0,92 · CPI 0,97 · 7 críticos · 4 melancias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20933" y="6387940"/>
            <a:ext cx="5291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 / 116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321909"/>
            <a:ext cx="6455308" cy="17846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escreve, roda, vê a tabela, baixa, vira gráfico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assistente gera e explica SQL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3619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27939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escolhe o compute no canto: warehouse ou Lakebase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inteira: os 6 exemplos. Aqui, o topo de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gold.score_estouro_30d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motivos de cada projeto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20536" y="6387940"/>
            <a:ext cx="5295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106 / 116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Query History: o que cada um perguntou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consulta que passou pelo warehouse: quem, quando, quanto tempo, de onde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abre o plano e o perfil de cada uma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o SQL que o Genie escreveu por trás de cada resposta. É assim que se audita a IA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30954" y="6387940"/>
            <a:ext cx="51871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107 / 116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 ·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AI/BI Dashboard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7834" r="7834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painel publicado sobre tabelas do Unity Catalog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filtros, páginas, agenda por e-mail e "Ask Genie" embaixo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versionado em JSON, no repositório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sobre a bronze, noite 2 sobre a gold: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Portfólio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3 páginas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21032" y="6387940"/>
            <a:ext cx="52902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108 / 116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 ·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Funções de IA dentro do SQL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232" r="1023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ai_query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ai_parse_document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IA como função SQL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sobre a tabela inteira, sem API key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a causa de cada bloqueio, lida no texto livre do status semanal. O PRJ-011 grita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há 12 semanas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21429" y="6387940"/>
            <a:ext cx="5286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109 / 116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 ·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Agent: pergunta em português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1015" r="11015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tela do dono: as 4 perguntas já sugeridas, modo Agent ligado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10689" r="10689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curadoria: instruções, SQL de exemplo e benchmark (20/20 na noite 2)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09376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13186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curadoria, na bronze, ele erra (noite 1). Com metric view e instruções, acerta (noite 2).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57643" y="6387940"/>
            <a:ext cx="49095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110 / 116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 ·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MLflow: o caderno do cientista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8118" r="8118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treino vira uma execução: parâmetros, métricas, gráficos, o modelo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comparar treinos lado a lado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3: AUC 0,92 contra 0,50 da regra atual. 9 de 10 estouros avisados com 41 dias de antecedência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94552" y="6387940"/>
            <a:ext cx="45256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 / 116</a:t>
            </a:r>
            <a:endParaRPr lang="en-US" sz="10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 ·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no Unity Catalog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358753"/>
            <a:ext cx="6455308" cy="37109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é objeto de catálogo, como uma tabela: dono, permissão, versões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alias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@prod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diz qual versão o job usa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trocar de versão é mover o alias, não reescrever código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ml.modelo_estouro_30d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@prod, no laboratório do cientista. O score sai em lote, gravado na gold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65779" y="6387940"/>
            <a:ext cx="4824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112 / 116</a:t>
            </a:r>
            <a:endParaRPr lang="en-US" sz="1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 ·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Lakebase: um Postgres dentro do Databricks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640" r="10640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Postgres 17, 1 CU, branch production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10640" r="10640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tabela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torre.decisoes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onde o app grava cada aprovação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09376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13186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lakehouse é ótimo para ler muito. O Lakebase é para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gravar uma linha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milissegundos: a decisão do dono.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63596" y="6387940"/>
            <a:ext cx="4847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113 / 116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 ·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Apps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95404"/>
            <a:ext cx="6455308" cy="34376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site de verdade (React + Node) hospedado no workspace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do warehouse, grava no Lakebase, conversa com o Genie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1º acesso, cada pessoa clica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Authorize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app age em nome dela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projetos em risco, o simulador COL0017 → PRJ-011 e o botão Aprovar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56850" y="6387940"/>
            <a:ext cx="49177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114 / 116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FREE EDITION NÃO TEM (MEDIDO EM 18/10/2026)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que fizemos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lugar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407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6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tem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 clássico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endpoint de modelo próprio (só Foundation Models)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Knowledge Assistant e Supervisor Agent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046" y="1582301"/>
            <a:ext cx="525766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394290" y="1779146"/>
            <a:ext cx="10317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3188" y="1817245"/>
            <a:ext cx="8881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Fizemos assim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9429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4785" y="2115688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em serverless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9429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4785" y="2397561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 do modelo em lote, gravado na gold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9429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4785" y="2679435"/>
            <a:ext cx="4807592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contratos viram a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gold.contratos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Genie "Diretoria + Contratos"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377" y="34908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empresa, os mesmos arquivos rodam iguais: o bundle só troca o profile.</a:t>
            </a:r>
            <a:endParaRPr lang="en-US" sz="11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57842" y="6387940"/>
            <a:ext cx="49074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115 / 116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39577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719617"/>
            <a:ext cx="11094443" cy="7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Bora </a:t>
            </a:r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3687273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 · uma pasta por noite, com README, roteiro e verificação.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116</Slides>
  <Notes>116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116</vt:i4>
      </vt:variant>
    </vt:vector>
  </HeadingPairs>
  <TitlesOfParts>
    <vt:vector size="1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Farol · Imersão Databricks + Claude Code</dc:title>
  <dc:subject>PptxGenJS Presentation</dc:subject>
  <dc:creator>PptxGenJS</dc:creator>
  <cp:lastModifiedBy>PptxGenJS</cp:lastModifiedBy>
  <cp:revision>1</cp:revision>
  <dcterms:created xsi:type="dcterms:W3CDTF">2026-10-19T16:49:21Z</dcterms:created>
  <dcterms:modified xsi:type="dcterms:W3CDTF">2026-10-19T16:49:21Z</dcterms:modified>
</cp:coreProperties>
</file>
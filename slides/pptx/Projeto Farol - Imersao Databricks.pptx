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</p:sldIdLst>
  <p:notesMasterIdLst>
    <p:notesMasterId r:id="rId1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notesMaster" Target="notesMasters/notesMaster1.xml"/><Relationship Id="rId133" Type="http://schemas.openxmlformats.org/officeDocument/2006/relationships/presProps" Target="presProps.xml"/><Relationship Id="rId134" Type="http://schemas.openxmlformats.org/officeDocument/2006/relationships/viewProps" Target="viewProps.xml"/><Relationship Id="rId135" Type="http://schemas.openxmlformats.org/officeDocument/2006/relationships/theme" Target="theme/theme1.xml"/><Relationship Id="rId1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jpe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image" Target="../media/image-32-2.jpe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image" Target="../media/image-36-2.jpe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image" Target="../media/image-37-2.jpe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image" Target="../media/image-39-2.jpe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image" Target="../media/image-41-2.jpe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image" Target="../media/image-42-2.jpe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image" Target="../media/image-47-2.jpe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image" Target="../media/image-48-2.jpe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image" Target="../media/image-49-2.jpe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image" Target="../media/image-54-2.jpe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image" Target="../media/image-56-2.jpe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image" Target="../media/image-57-2.jpeg"/><Relationship Id="rId3" Type="http://schemas.openxmlformats.org/officeDocument/2006/relationships/image" Target="../media/image-5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image" Target="../media/image-68-2.jpeg"/><Relationship Id="rId3" Type="http://schemas.openxmlformats.org/officeDocument/2006/relationships/image" Target="../media/image-6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image" Target="../media/image-71-2.jpeg"/><Relationship Id="rId3" Type="http://schemas.openxmlformats.org/officeDocument/2006/relationships/image" Target="../media/image-71-3.jpeg"/><Relationship Id="rId4" Type="http://schemas.openxmlformats.org/officeDocument/2006/relationships/image" Target="../media/image-7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image" Target="../media/image-72-2.jpeg"/><Relationship Id="rId3" Type="http://schemas.openxmlformats.org/officeDocument/2006/relationships/image" Target="../media/image-72-3.jpeg"/><Relationship Id="rId4" Type="http://schemas.openxmlformats.org/officeDocument/2006/relationships/image" Target="../media/image-7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image" Target="../media/image-74-2.jpeg"/><Relationship Id="rId3" Type="http://schemas.openxmlformats.org/officeDocument/2006/relationships/image" Target="../media/image-7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image" Target="../media/image-78-2.jpeg"/><Relationship Id="rId3" Type="http://schemas.openxmlformats.org/officeDocument/2006/relationships/image" Target="../media/image-7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image" Target="../media/image-80-2.jpeg"/><Relationship Id="rId3" Type="http://schemas.openxmlformats.org/officeDocument/2006/relationships/image" Target="../media/image-8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image" Target="../media/image-82-2.jpeg"/><Relationship Id="rId3" Type="http://schemas.openxmlformats.org/officeDocument/2006/relationships/image" Target="../media/image-8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image" Target="../media/image-83-2.jpeg"/><Relationship Id="rId3" Type="http://schemas.openxmlformats.org/officeDocument/2006/relationships/image" Target="../media/image-8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image" Target="../media/image-84-2.png"/><Relationship Id="rId3" Type="http://schemas.openxmlformats.org/officeDocument/2006/relationships/image" Target="../media/image-8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image" Target="../media/image-85-2.jpeg"/><Relationship Id="rId3" Type="http://schemas.openxmlformats.org/officeDocument/2006/relationships/image" Target="../media/image-8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image" Target="../media/image-8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image" Target="../media/image-87-2.jpeg"/><Relationship Id="rId3" Type="http://schemas.openxmlformats.org/officeDocument/2006/relationships/image" Target="../media/image-8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image" Target="../media/image-88-2.jpeg"/><Relationship Id="rId3" Type="http://schemas.openxmlformats.org/officeDocument/2006/relationships/image" Target="../media/image-88-3.jpeg"/><Relationship Id="rId4" Type="http://schemas.openxmlformats.org/officeDocument/2006/relationships/image" Target="../media/image-8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image" Target="../media/image-89-2.jpeg"/><Relationship Id="rId3" Type="http://schemas.openxmlformats.org/officeDocument/2006/relationships/image" Target="../media/image-8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image" Target="../media/image-9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image" Target="../media/image-9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image" Target="../media/image-92-2.jpeg"/><Relationship Id="rId3" Type="http://schemas.openxmlformats.org/officeDocument/2006/relationships/image" Target="../media/image-9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image" Target="../media/image-93-2.jpeg"/><Relationship Id="rId3" Type="http://schemas.openxmlformats.org/officeDocument/2006/relationships/image" Target="../media/image-9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image" Target="../media/image-95-2.jpeg"/><Relationship Id="rId3" Type="http://schemas.openxmlformats.org/officeDocument/2006/relationships/image" Target="../media/image-9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image" Target="../media/image-9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image" Target="../media/image-97-2.jpeg"/><Relationship Id="rId3" Type="http://schemas.openxmlformats.org/officeDocument/2006/relationships/image" Target="../media/image-9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image" Target="../media/image-9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image" Target="../media/image-99-2.jpeg"/><Relationship Id="rId3" Type="http://schemas.openxmlformats.org/officeDocument/2006/relationships/image" Target="../media/image-99-3.jpeg"/><Relationship Id="rId4" Type="http://schemas.openxmlformats.org/officeDocument/2006/relationships/image" Target="../media/image-9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image" Target="../media/image-100-2.jpeg"/><Relationship Id="rId3" Type="http://schemas.openxmlformats.org/officeDocument/2006/relationships/image" Target="../media/image-10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image" Target="../media/image-101-2.jpeg"/><Relationship Id="rId3" Type="http://schemas.openxmlformats.org/officeDocument/2006/relationships/image" Target="../media/image-10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image" Target="../media/image-102-2.jpeg"/><Relationship Id="rId3" Type="http://schemas.openxmlformats.org/officeDocument/2006/relationships/image" Target="../media/image-102-3.jpeg"/><Relationship Id="rId4" Type="http://schemas.openxmlformats.org/officeDocument/2006/relationships/image" Target="../media/image-10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image" Target="../media/image-10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image" Target="../media/image-10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image" Target="../media/image-10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image" Target="../media/image-106-2.jpeg"/><Relationship Id="rId3" Type="http://schemas.openxmlformats.org/officeDocument/2006/relationships/image" Target="../media/image-10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image" Target="../media/image-10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image" Target="../media/image-10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image" Target="../media/image-109-2.jpeg"/><Relationship Id="rId3" Type="http://schemas.openxmlformats.org/officeDocument/2006/relationships/image" Target="../media/image-10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image" Target="../media/image-110-2.jpeg"/><Relationship Id="rId3" Type="http://schemas.openxmlformats.org/officeDocument/2006/relationships/image" Target="../media/image-1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image" Target="../media/image-1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image" Target="../media/image-112-2.jpeg"/><Relationship Id="rId3" Type="http://schemas.openxmlformats.org/officeDocument/2006/relationships/image" Target="../media/image-1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image" Target="../media/image-1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image" Target="../media/image-1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image" Target="../media/image-1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image" Target="../media/image-116-2.png"/><Relationship Id="rId3" Type="http://schemas.openxmlformats.org/officeDocument/2006/relationships/image" Target="../media/image-1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image" Target="../media/image-1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image" Target="../media/image-118-2.jpeg"/><Relationship Id="rId3" Type="http://schemas.openxmlformats.org/officeDocument/2006/relationships/image" Target="../media/image-118-3.jpeg"/><Relationship Id="rId4" Type="http://schemas.openxmlformats.org/officeDocument/2006/relationships/image" Target="../media/image-1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image" Target="../media/image-1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image" Target="../media/image-120-2.jpeg"/><Relationship Id="rId3" Type="http://schemas.openxmlformats.org/officeDocument/2006/relationships/image" Target="../media/image-1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image" Target="../media/image-121-2.jpeg"/><Relationship Id="rId3" Type="http://schemas.openxmlformats.org/officeDocument/2006/relationships/image" Target="../media/image-1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image" Target="../media/image-122-2.jpeg"/><Relationship Id="rId3" Type="http://schemas.openxmlformats.org/officeDocument/2006/relationships/image" Target="../media/image-1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image" Target="../media/image-123-2.jpeg"/><Relationship Id="rId3" Type="http://schemas.openxmlformats.org/officeDocument/2006/relationships/image" Target="../media/image-123-3.jpeg"/><Relationship Id="rId4" Type="http://schemas.openxmlformats.org/officeDocument/2006/relationships/image" Target="../media/image-1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image" Target="../media/image-124-2.jpeg"/><Relationship Id="rId3" Type="http://schemas.openxmlformats.org/officeDocument/2006/relationships/image" Target="../media/image-124-3.jpeg"/><Relationship Id="rId4" Type="http://schemas.openxmlformats.org/officeDocument/2006/relationships/image" Target="../media/image-1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image" Target="../media/image-125-2.jpeg"/><Relationship Id="rId3" Type="http://schemas.openxmlformats.org/officeDocument/2006/relationships/image" Target="../media/image-1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image" Target="../media/image-1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image" Target="../media/image-1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png"/><Relationship Id="rId2" Type="http://schemas.openxmlformats.org/officeDocument/2006/relationships/image" Target="../media/image-1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9-image-1.png"/><Relationship Id="rId2" Type="http://schemas.openxmlformats.org/officeDocument/2006/relationships/image" Target="../media/image-1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png"/><Relationship Id="rId2" Type="http://schemas.openxmlformats.org/officeDocument/2006/relationships/image" Target="../media/image-1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Você é o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único profissional de dados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 Vértice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2533587" cy="1702353"/>
          </a:xfrm>
          <a:prstGeom prst="roundRect">
            <a:avLst>
              <a:gd name="adj" fmla="val 8952"/>
            </a:avLst>
          </a:prstGeom>
          <a:solidFill>
            <a:srgbClr val="0059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4225" y="1779146"/>
            <a:ext cx="2172662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520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984225" y="2274434"/>
            <a:ext cx="2172662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pessoas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3363" y="1582301"/>
            <a:ext cx="2533587" cy="1702353"/>
          </a:xfrm>
          <a:prstGeom prst="roundRect">
            <a:avLst>
              <a:gd name="adj" fmla="val 8952"/>
            </a:avLst>
          </a:prstGeom>
          <a:solidFill>
            <a:srgbClr val="0059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95608" y="1779146"/>
            <a:ext cx="2172662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3695608" y="2274434"/>
            <a:ext cx="2172662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de clientes (41 em andamento)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4745" y="1582301"/>
            <a:ext cx="2533587" cy="1702353"/>
          </a:xfrm>
          <a:prstGeom prst="roundRect">
            <a:avLst>
              <a:gd name="adj" fmla="val 895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6990" y="1779146"/>
            <a:ext cx="2172662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R$ 305 mi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6406990" y="2274434"/>
            <a:ext cx="2172662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carteira contratada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96128" y="1582301"/>
            <a:ext cx="2533587" cy="1702353"/>
          </a:xfrm>
          <a:prstGeom prst="roundRect">
            <a:avLst>
              <a:gd name="adj" fmla="val 895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424" y="1779146"/>
            <a:ext cx="406390" cy="40639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4841" y="2236335"/>
            <a:ext cx="24289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15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308570" y="2477629"/>
            <a:ext cx="27674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8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</a:t>
            </a:r>
            <a:endParaRPr lang="en-US" sz="8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115" y="1779146"/>
            <a:ext cx="406390" cy="40639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971632" y="2236335"/>
            <a:ext cx="24258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15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9886604" y="2477629"/>
            <a:ext cx="419550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8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ClickUp</a:t>
            </a:r>
            <a:endParaRPr lang="en-US" sz="8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6219" y="1779146"/>
            <a:ext cx="406390" cy="40639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710198" y="2236335"/>
            <a:ext cx="20647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15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0531708" y="2477629"/>
            <a:ext cx="57773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8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 Project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9118372" y="2693523"/>
            <a:ext cx="2172662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ferramentas que não conversam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61981" y="3500548"/>
            <a:ext cx="5244969" cy="1499654"/>
          </a:xfrm>
          <a:prstGeom prst="roundRect">
            <a:avLst>
              <a:gd name="adj" fmla="val 101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84225" y="3697394"/>
            <a:ext cx="90693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073123" y="3735493"/>
            <a:ext cx="75830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é hoje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984225" y="41164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1174721" y="4033935"/>
            <a:ext cx="479438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gerente controla o projeto numa ferramenta diferente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84225" y="439835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1174721" y="4315809"/>
            <a:ext cx="479438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PMO junta tudo à mão, toda sexta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984225" y="468023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1174721" y="4597682"/>
            <a:ext cx="479438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farol do status semanal está quase todo verde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184745" y="3500548"/>
            <a:ext cx="5244969" cy="1499654"/>
          </a:xfrm>
          <a:prstGeom prst="roundRect">
            <a:avLst>
              <a:gd name="adj" fmla="val 101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406990" y="3697394"/>
            <a:ext cx="140827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6495888" y="3735493"/>
            <a:ext cx="127969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custo de não saber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6406990" y="41164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597485" y="4033935"/>
            <a:ext cx="479438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atraso aparece quando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cliente reclama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406990" y="439835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6597485" y="4315809"/>
            <a:ext cx="479438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escopo cresce e ninguém cobra aditivo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406990" y="468023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6597485" y="4597682"/>
            <a:ext cx="479438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gente parada num projeto, faltando em outro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761981" y="515259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914377" y="519069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Empresa fictícia, dado simulado com seed fixa: todo mundo chega exatamente nos mesmos números. "Hoje" no dataset é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16/10/2026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1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11023820" y="6387940"/>
            <a:ext cx="42213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130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PEDIDO DO DONO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Quatro perguntas, em português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57669" cy="1346166"/>
          </a:xfrm>
          <a:prstGeom prst="roundRect">
            <a:avLst>
              <a:gd name="adj" fmla="val 11321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1134141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99459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atraso · noite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5005707" cy="539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Quais projetos estão atrasados, e de quais clientes?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72046" y="1582301"/>
            <a:ext cx="5257669" cy="1346166"/>
          </a:xfrm>
          <a:prstGeom prst="roundRect">
            <a:avLst>
              <a:gd name="adj" fmla="val 11321"/>
            </a:avLst>
          </a:prstGeom>
          <a:solidFill>
            <a:srgbClr val="0059DB"/>
          </a:solidFill>
          <a:ln/>
        </p:spPr>
      </p:sp>
      <p:sp>
        <p:nvSpPr>
          <p:cNvPr id="9" name="Shape 7"/>
          <p:cNvSpPr/>
          <p:nvPr/>
        </p:nvSpPr>
        <p:spPr>
          <a:xfrm>
            <a:off x="6394290" y="1779146"/>
            <a:ext cx="1259451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3188" y="1817245"/>
            <a:ext cx="112492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dinheiro · noite 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94290" y="2191886"/>
            <a:ext cx="5005707" cy="26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 esse atraso vai me custar?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1981" y="3080864"/>
            <a:ext cx="5257669" cy="1346166"/>
          </a:xfrm>
          <a:prstGeom prst="roundRect">
            <a:avLst>
              <a:gd name="adj" fmla="val 11321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4225" y="3277709"/>
            <a:ext cx="1143170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3123" y="3315808"/>
            <a:ext cx="10039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gente · noite 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84225" y="3690448"/>
            <a:ext cx="5005707" cy="539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Tenho gente parada enquanto outro projeto pede gente?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72046" y="3080864"/>
            <a:ext cx="5257669" cy="1346166"/>
          </a:xfrm>
          <a:prstGeom prst="roundRect">
            <a:avLst>
              <a:gd name="adj" fmla="val 11321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4290" y="3277709"/>
            <a:ext cx="116866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83188" y="3315808"/>
            <a:ext cx="103050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· futuro · noite 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394290" y="3690448"/>
            <a:ext cx="5005707" cy="26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vai dar errado no próximo mês?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61981" y="4592126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377" y="4630225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noite 4 junta tudo numa tela que o dono usa, com o contrato do fornecedor na conversa.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1021638" y="6387940"/>
            <a:ext cx="42440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130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PRIMEIRA SEMANA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todo mundo já quer resposta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620400"/>
            <a:ext cx="10667733" cy="666733"/>
          </a:xfrm>
          <a:prstGeom prst="roundRect">
            <a:avLst>
              <a:gd name="adj" fmla="val 17143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6925" y="1858519"/>
            <a:ext cx="237738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b="1" spc="120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82868" y="1791846"/>
            <a:ext cx="822837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"Quais projetos estão atrasados?"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1981" y="2401431"/>
            <a:ext cx="10667733" cy="666733"/>
          </a:xfrm>
          <a:prstGeom prst="roundRect">
            <a:avLst>
              <a:gd name="adj" fmla="val 17143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6925" y="2639550"/>
            <a:ext cx="237738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b="1" spc="120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DIRETORIA FINANCEIRA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82868" y="2572876"/>
            <a:ext cx="822837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"Quanto esse atraso vai nos custar?"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1981" y="3182461"/>
            <a:ext cx="10667733" cy="666733"/>
          </a:xfrm>
          <a:prstGeom prst="roundRect">
            <a:avLst>
              <a:gd name="adj" fmla="val 17143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96925" y="3420580"/>
            <a:ext cx="237738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b="1" spc="120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RH E ALOCAÇÃO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82868" y="3353907"/>
            <a:ext cx="822837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"Tem gente parada enquanto outro projeto pede gente?"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1981" y="3963492"/>
            <a:ext cx="10667733" cy="666733"/>
          </a:xfrm>
          <a:prstGeom prst="roundRect">
            <a:avLst>
              <a:gd name="adj" fmla="val 17143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6925" y="4201611"/>
            <a:ext cx="237738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b="1" spc="120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COMERCIAL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282868" y="4134937"/>
            <a:ext cx="822837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"Para qual cliente eu ligo antes que ele me ligue?"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61981" y="4744522"/>
            <a:ext cx="10667733" cy="666733"/>
          </a:xfrm>
          <a:prstGeom prst="roundRect">
            <a:avLst>
              <a:gd name="adj" fmla="val 17143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6925" y="4982641"/>
            <a:ext cx="237738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b="1" spc="120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JURÍDICO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282868" y="4915968"/>
            <a:ext cx="822837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"Essa multa do fornecedor a gente consegue cobrar?"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1981" y="5525552"/>
            <a:ext cx="10667733" cy="679433"/>
          </a:xfrm>
          <a:prstGeom prst="roundRect">
            <a:avLst>
              <a:gd name="adj" fmla="val 16822"/>
            </a:avLst>
          </a:prstGeom>
          <a:solidFill>
            <a:srgbClr val="0F1E3D"/>
          </a:solidFill>
          <a:ln w="12700">
            <a:solidFill>
              <a:srgbClr val="467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3275" y="5770021"/>
            <a:ext cx="237738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b="1" spc="120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289218" y="5703348"/>
            <a:ext cx="8215171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"Preciso disso para ontem."</a:t>
            </a:r>
            <a:endParaRPr lang="en-US" sz="17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1014891" y="6387940"/>
            <a:ext cx="43141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130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Dois clientes, dois objetivos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458480"/>
          </a:xfrm>
          <a:prstGeom prst="roundRect">
            <a:avLst>
              <a:gd name="adj" fmla="val 6199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241611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23278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cliente do projeto · o dono da Vértice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4985895" cy="74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Saber, todo dia, quais projetos estão atrasados, quanto isso custa e o que fazer, em vez de descobrir quando o cliente reclama.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4225" y="3157062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3074514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e CPI de 100% dos projetos, das 3 ferramentas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343893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3356387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"Por que o projeto X atrasou?" em menos de 1 minuto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7208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6382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decisão de realocação registrada e rastreável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1095" y="1582301"/>
            <a:ext cx="5238619" cy="2458480"/>
          </a:xfrm>
          <a:prstGeom prst="roundRect">
            <a:avLst>
              <a:gd name="adj" fmla="val 619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3340" y="1779146"/>
            <a:ext cx="1744420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2237" y="1817245"/>
            <a:ext cx="162929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cliente da imersão · você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13340" y="2191886"/>
            <a:ext cx="4985895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Sair com um projeto de ponta a ponta no GitHub e o discurso pronto para vender ao dono.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13340" y="290941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826870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chapéus numa semana: analista, engenheiro, cientista, engenheiro de 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339696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3314419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 na sua conta Databricks Free Edition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13340" y="367884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3835" y="3596292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pitch de 3 minutos com ROI em reais</a:t>
            </a:r>
            <a:endParaRPr lang="en-US" sz="12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015883" y="6387940"/>
            <a:ext cx="43038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130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DOR · MEDIDO NO DADO DA VÉRTICE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dono descobre o atraso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quando o cliente reclama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62747" cy="1816948"/>
          </a:xfrm>
          <a:prstGeom prst="roundRect">
            <a:avLst>
              <a:gd name="adj" fmla="val 8387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499157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33421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Prazo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313898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de 41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610975"/>
            <a:ext cx="313898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em andamento com SPI ou CPI abaixo de 0,9. Sete críticos, espalhados nas três ferramentas.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4424" y="1582301"/>
            <a:ext cx="3462747" cy="1816948"/>
          </a:xfrm>
          <a:prstGeom prst="roundRect">
            <a:avLst>
              <a:gd name="adj" fmla="val 8387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6669" y="1779146"/>
            <a:ext cx="52068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5567" y="1817245"/>
            <a:ext cx="35660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86669" y="2115688"/>
            <a:ext cx="313898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R$ 6,5 mi</a:t>
            </a:r>
            <a:endParaRPr lang="en-US" sz="3300" dirty="0"/>
          </a:p>
        </p:txBody>
      </p:sp>
      <p:sp>
        <p:nvSpPr>
          <p:cNvPr id="13" name="Text 11"/>
          <p:cNvSpPr txBox="1"/>
          <p:nvPr/>
        </p:nvSpPr>
        <p:spPr>
          <a:xfrm>
            <a:off x="4586669" y="2610975"/>
            <a:ext cx="313898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estouro previsto se nada mudar. 8 projetos com escopo crescendo sem aditivo desde o 6º mês.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66868" y="1582301"/>
            <a:ext cx="3462747" cy="1816948"/>
          </a:xfrm>
          <a:prstGeom prst="roundRect">
            <a:avLst>
              <a:gd name="adj" fmla="val 8387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9112" y="1779146"/>
            <a:ext cx="46681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8010" y="1817245"/>
            <a:ext cx="30057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189112" y="2115688"/>
            <a:ext cx="313898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verdes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8189112" y="2610975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faróis verdes no status desta sexta. Pelo número, só 24 projetos estão ok.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538945"/>
            <a:ext cx="3462747" cy="2014090"/>
          </a:xfrm>
          <a:prstGeom prst="roundRect">
            <a:avLst>
              <a:gd name="adj" fmla="val 7567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4225" y="3735790"/>
            <a:ext cx="52654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73123" y="3773889"/>
            <a:ext cx="3626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Gente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84225" y="4072332"/>
            <a:ext cx="313898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a 9%</a:t>
            </a:r>
            <a:endParaRPr lang="en-US" sz="3300" dirty="0"/>
          </a:p>
        </p:txBody>
      </p:sp>
      <p:sp>
        <p:nvSpPr>
          <p:cNvPr id="23" name="Text 21"/>
          <p:cNvSpPr txBox="1"/>
          <p:nvPr/>
        </p:nvSpPr>
        <p:spPr>
          <a:xfrm>
            <a:off x="984225" y="4567619"/>
            <a:ext cx="3138988" cy="78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uso de dois SREs seniores num projeto que ainda está no desenho, enquanto o checkout do varejo pede SRE toda semana.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4424" y="3538945"/>
            <a:ext cx="3462747" cy="2014090"/>
          </a:xfrm>
          <a:prstGeom prst="roundRect">
            <a:avLst>
              <a:gd name="adj" fmla="val 7567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6669" y="3735790"/>
            <a:ext cx="83946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75567" y="3773889"/>
            <a:ext cx="6881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Fornecedor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86669" y="4072332"/>
            <a:ext cx="313898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×1,41</a:t>
            </a:r>
            <a:endParaRPr lang="en-US" sz="3300" dirty="0"/>
          </a:p>
        </p:txBody>
      </p:sp>
      <p:sp>
        <p:nvSpPr>
          <p:cNvPr id="28" name="Text 26"/>
          <p:cNvSpPr txBox="1"/>
          <p:nvPr/>
        </p:nvSpPr>
        <p:spPr>
          <a:xfrm>
            <a:off x="4586669" y="4567619"/>
            <a:ext cx="313898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CodeForge entrega 41% depois do prometido, e compras tem o nome dela escrito de 4 jeitos.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66868" y="3538945"/>
            <a:ext cx="3462747" cy="2014090"/>
          </a:xfrm>
          <a:prstGeom prst="roundRect">
            <a:avLst>
              <a:gd name="adj" fmla="val 7567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9112" y="3735790"/>
            <a:ext cx="82686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78010" y="3773889"/>
            <a:ext cx="67503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Calendário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189112" y="4072332"/>
            <a:ext cx="313898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01/11</a:t>
            </a:r>
            <a:endParaRPr lang="en-US" sz="3300" dirty="0"/>
          </a:p>
        </p:txBody>
      </p:sp>
      <p:sp>
        <p:nvSpPr>
          <p:cNvPr id="33" name="Text 31"/>
          <p:cNvSpPr txBox="1"/>
          <p:nvPr/>
        </p:nvSpPr>
        <p:spPr>
          <a:xfrm>
            <a:off x="8189112" y="4567619"/>
            <a:ext cx="313898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começa o freeze da Black Friday. No ano passado, ele travou os 3 projetos de e-commerce por 10 semanas.</a:t>
            </a:r>
            <a:endParaRPr lang="en-US" sz="11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1015486" y="6387940"/>
            <a:ext cx="43079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130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fluxo só, da fonte à decisão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2246653" cy="2820222"/>
          </a:xfrm>
          <a:prstGeom prst="roundRect">
            <a:avLst>
              <a:gd name="adj" fmla="val 6783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56404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0169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1676136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Excel, ClickUp, Project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1676136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 semanal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1676136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RH, timesheet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04385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2961308"/>
            <a:ext cx="1676136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financeiro, compras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4225" y="332572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4721" y="3243181"/>
            <a:ext cx="1676136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contratos em PDF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97532" y="2801867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418893" y="1582301"/>
            <a:ext cx="2697095" cy="2820222"/>
          </a:xfrm>
          <a:prstGeom prst="roundRect">
            <a:avLst>
              <a:gd name="adj" fmla="val 5650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41138" y="1779146"/>
            <a:ext cx="168419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30036" y="1817245"/>
            <a:ext cx="156665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Lakehouse · Unity Catalog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41138" y="2115688"/>
            <a:ext cx="2252606" cy="361941"/>
          </a:xfrm>
          <a:prstGeom prst="roundRect">
            <a:avLst>
              <a:gd name="adj" fmla="val 24561"/>
            </a:avLst>
          </a:prstGeom>
          <a:solidFill>
            <a:srgbClr val="2525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55435" y="2191886"/>
            <a:ext cx="2104972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C98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Bronze · como veio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41138" y="2541127"/>
            <a:ext cx="2252606" cy="571486"/>
          </a:xfrm>
          <a:prstGeom prst="roundRect">
            <a:avLst>
              <a:gd name="adj" fmla="val 15556"/>
            </a:avLst>
          </a:prstGeom>
          <a:solidFill>
            <a:srgbClr val="25252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55435" y="2617325"/>
            <a:ext cx="2104972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9FB0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Silver · as 3 ferramentas num modelo só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41138" y="3176111"/>
            <a:ext cx="2252606" cy="361941"/>
          </a:xfrm>
          <a:prstGeom prst="roundRect">
            <a:avLst>
              <a:gd name="adj" fmla="val 24561"/>
            </a:avLst>
          </a:prstGeom>
          <a:solidFill>
            <a:srgbClr val="2525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55435" y="3252309"/>
            <a:ext cx="2104972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E8C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Gold · KPIs governados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641138" y="3614250"/>
            <a:ext cx="2342710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Lakeflow · ai_classify e ai_extract nos status · Metric View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04886" y="2801867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26248" y="1582301"/>
            <a:ext cx="2246554" cy="2820222"/>
          </a:xfrm>
          <a:prstGeom prst="roundRect">
            <a:avLst>
              <a:gd name="adj" fmla="val 678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48492" y="1779146"/>
            <a:ext cx="67695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37390" y="1817245"/>
            <a:ext cx="51912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Previsão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48492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38987" y="2115688"/>
            <a:ext cx="1676033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 de estouro em 30 dias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48492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38987" y="2603236"/>
            <a:ext cx="1676033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 por projeto, com motivo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861700" y="2801867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183061" y="1582301"/>
            <a:ext cx="2246653" cy="2820222"/>
          </a:xfrm>
          <a:prstGeom prst="roundRect">
            <a:avLst>
              <a:gd name="adj" fmla="val 6783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05305" y="1779146"/>
            <a:ext cx="64361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94203" y="1817245"/>
            <a:ext cx="48445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Decisão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40530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595801" y="2115688"/>
            <a:ext cx="1676136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40530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595801" y="2397561"/>
            <a:ext cx="1676136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Genie em português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40530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595801" y="2679435"/>
            <a:ext cx="1676136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de aprovação + Lakebase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405305" y="324953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595801" y="3166983"/>
            <a:ext cx="1676136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 de contratos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1981" y="458031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14377" y="461841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KPIs são definidos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reusados no dashboard, no Genie, no app e no agente.</a:t>
            </a:r>
            <a:endParaRPr lang="en-US" sz="1100" dirty="0"/>
          </a:p>
        </p:txBody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11025904" y="6387940"/>
            <a:ext cx="41996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130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SE BENEFICIA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pessoa da Vértice usa uma porta diferente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21892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9944" y="1582301"/>
            <a:ext cx="393712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PRECISA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224234" y="1582301"/>
            <a:ext cx="425483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USA A TORRE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233366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21892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Dono e diretoria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95647" y="1880744"/>
            <a:ext cx="401429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09944" y="1982341"/>
            <a:ext cx="393712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quais projetos atrasam e quanto custa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09937" y="1880744"/>
            <a:ext cx="431977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4234" y="1982341"/>
            <a:ext cx="425483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de portfólio + pergunta ao Genie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1981" y="2316303"/>
            <a:ext cx="233366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417900"/>
            <a:ext cx="21892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Gerente de projeto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95647" y="2316303"/>
            <a:ext cx="401429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09944" y="2417900"/>
            <a:ext cx="393712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 do projeto, causa do desvio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09937" y="2316303"/>
            <a:ext cx="431977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24234" y="2417900"/>
            <a:ext cx="425483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causa extraída do status semanal, sem farol de enfeite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1981" y="2751862"/>
            <a:ext cx="233366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2853460"/>
            <a:ext cx="21892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95647" y="2751862"/>
            <a:ext cx="401429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09944" y="2853460"/>
            <a:ext cx="393712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3 ferramentas numa visão só, simular realocação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09937" y="2751862"/>
            <a:ext cx="431977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24234" y="2853460"/>
            <a:ext cx="425483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app: simula, aprova e registra a decisão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1981" y="3187422"/>
            <a:ext cx="233366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289019"/>
            <a:ext cx="21892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Financeiro e controller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95647" y="3187422"/>
            <a:ext cx="401429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09944" y="3289019"/>
            <a:ext cx="393712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margem por contrato, estouro previsto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09937" y="3187422"/>
            <a:ext cx="431977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224234" y="3289019"/>
            <a:ext cx="425483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 e margem projetada governados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1981" y="3622981"/>
            <a:ext cx="233366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278" y="3724579"/>
            <a:ext cx="21892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95647" y="3622981"/>
            <a:ext cx="401429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209944" y="3724579"/>
            <a:ext cx="393712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consultoria subcontratada que atrasa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09937" y="3622981"/>
            <a:ext cx="431977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224234" y="3724579"/>
            <a:ext cx="425483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ranking de fornecedor e a multa que dá para cobrar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1981" y="4058541"/>
            <a:ext cx="2333666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6278" y="4160138"/>
            <a:ext cx="21892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Profissional de dados (você)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95647" y="4058541"/>
            <a:ext cx="4014290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209944" y="4160138"/>
            <a:ext cx="393712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construir e operar tudo isso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109937" y="4058541"/>
            <a:ext cx="431977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224234" y="4160138"/>
            <a:ext cx="425483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bundle, pipeline, modelo, app, com Claude Code</a:t>
            </a:r>
            <a:endParaRPr lang="en-US" sz="11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11016082" y="6387940"/>
            <a:ext cx="43017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130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EMPRESAS SE BENEFICIAM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empresa que vive de projeto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202579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92192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houses e integradoras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dezenas de projetos de clientes, cada squad com sua ferramenta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4424" y="1582301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6669" y="1779146"/>
            <a:ext cx="91874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5567" y="1817245"/>
            <a:ext cx="77058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Consultorias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86669" y="2191886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carteira de projetos, banco de horas, margem por contrato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66868" y="1582301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9112" y="1779146"/>
            <a:ext cx="157882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8010" y="1817245"/>
            <a:ext cx="14570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 de grandes empresas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89112" y="2191886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PMO corporativo com projetos internos e fornecedores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2922713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225" y="3119558"/>
            <a:ext cx="196309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3123" y="3157657"/>
            <a:ext cx="185670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Agências e produtoras digitais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4225" y="3532298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entregas com prazo de cliente e equipe compartilhada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4424" y="2922713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6669" y="3119558"/>
            <a:ext cx="163607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75567" y="3157657"/>
            <a:ext cx="151661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Engenharia e construção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86669" y="3532298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mesmo SPI e CPI, com obra no lugar de sprint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66868" y="2922713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9112" y="3119558"/>
            <a:ext cx="1011510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8010" y="3157657"/>
            <a:ext cx="8670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Qualquer PMO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189112" y="3532298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a planilha de sexta é a única verdade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1016379" y="6387940"/>
            <a:ext cx="42986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130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CHEGAMOS LÁ · 4 NOITES, 4 CHAPÉUS, 1 PROJETO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noite termina com algo rodando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63066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711282" y="1582301"/>
            <a:ext cx="16626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CHAPÉU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538548" y="1582301"/>
            <a:ext cx="354615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PERGUNTA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176908" y="1582301"/>
            <a:ext cx="430404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ENTREGÁVEL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981" y="1880744"/>
            <a:ext cx="835004" cy="59926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6278" y="1982341"/>
            <a:ext cx="630666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19/10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96985" y="1880744"/>
            <a:ext cx="1827266" cy="59926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11282" y="1982341"/>
            <a:ext cx="1662619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Analista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4251" y="1880744"/>
            <a:ext cx="3638360" cy="59926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38548" y="1982341"/>
            <a:ext cx="3546156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o Databricks faz? Quem está atrasado?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2611" y="1880744"/>
            <a:ext cx="4367103" cy="59926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76908" y="1982341"/>
            <a:ext cx="4304049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 das 3 ferramentas, SPI/CPI em SQL, 1º dashboard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1981" y="2530809"/>
            <a:ext cx="835004" cy="59926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6278" y="2632406"/>
            <a:ext cx="630666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20/10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96985" y="2530809"/>
            <a:ext cx="1827266" cy="59926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711282" y="2632406"/>
            <a:ext cx="1662619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Engenheiro de Dados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4251" y="2530809"/>
            <a:ext cx="3638360" cy="59926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38548" y="2632406"/>
            <a:ext cx="3546156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integrar tudo e rodar sozinho?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62611" y="2530809"/>
            <a:ext cx="4367103" cy="59926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6908" y="2632406"/>
            <a:ext cx="4304049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pipeline, IA nos textos, KPIs governados, Genie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981" y="3180874"/>
            <a:ext cx="835004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278" y="3282471"/>
            <a:ext cx="630666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21/10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96985" y="3180874"/>
            <a:ext cx="1827266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711282" y="3282471"/>
            <a:ext cx="1662619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Cientista de Dados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24251" y="3180874"/>
            <a:ext cx="3638360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38548" y="3282471"/>
            <a:ext cx="3546156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Quais vão estourar em 30 dias?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62611" y="3180874"/>
            <a:ext cx="4367103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76908" y="3282471"/>
            <a:ext cx="4304049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 no Unity Catalog, score por projeto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1981" y="3632903"/>
            <a:ext cx="835004" cy="59926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6278" y="3734500"/>
            <a:ext cx="630666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· 22/10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96985" y="3632903"/>
            <a:ext cx="1827266" cy="59926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711282" y="3734500"/>
            <a:ext cx="1662619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Engenheiro de IA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424251" y="3632903"/>
            <a:ext cx="3638360" cy="59926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538548" y="3734500"/>
            <a:ext cx="3546156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o dono, que não escreve SQL?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062611" y="3632903"/>
            <a:ext cx="4367103" cy="59926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176908" y="3734500"/>
            <a:ext cx="4304049" cy="39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 de contratos, app + Lakebase, pitch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61981" y="4409965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4377" y="4448064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Repositório: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github.com/lvgalvao/ImersaoControlTower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tudo no Databricks Free Edition</a:t>
            </a:r>
            <a:endParaRPr lang="en-US" sz="110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10971236" y="6387940"/>
            <a:ext cx="47681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130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CAMINHO DAS 4 NOITES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 só,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camada por noite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0667733" cy="4577045"/>
          </a:xfrm>
          <a:prstGeom prst="roundRect">
            <a:avLst>
              <a:gd name="adj" fmla="val 3052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1728347"/>
            <a:ext cx="10375641" cy="428495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08144" y="6387940"/>
            <a:ext cx="43843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130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O DADO MORA NO FIM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8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Catálogo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lakehouse_vertice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pouca tabela, de propósito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2015281"/>
            <a:ext cx="2562161" cy="1925192"/>
          </a:xfrm>
          <a:prstGeom prst="roundRect">
            <a:avLst>
              <a:gd name="adj" fmla="val 791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2212126"/>
            <a:ext cx="102470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2250225"/>
            <a:ext cx="8807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 · noite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548668"/>
            <a:ext cx="2202379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955057"/>
            <a:ext cx="2202379" cy="78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tabelas, o dado como veio, sujeira inclusa</a:t>
            </a:r>
            <a:endParaRPr lang="en-US" sz="1150" dirty="0"/>
          </a:p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volume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os arquivos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63838" y="2015281"/>
            <a:ext cx="2562161" cy="1925192"/>
          </a:xfrm>
          <a:prstGeom prst="roundRect">
            <a:avLst>
              <a:gd name="adj" fmla="val 791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6083" y="2212126"/>
            <a:ext cx="96200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74981" y="2250225"/>
            <a:ext cx="8155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 · noite 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686083" y="2548668"/>
            <a:ext cx="2202379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686083" y="2955057"/>
            <a:ext cx="2202379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tabelas limpas: as 3 ferramentas viraram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</a:t>
            </a:r>
            <a:endParaRPr lang="en-US" sz="1150" dirty="0"/>
          </a:p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(+ 2 dos contratos, noite 4)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5696" y="2015281"/>
            <a:ext cx="2562161" cy="1925192"/>
          </a:xfrm>
          <a:prstGeom prst="roundRect">
            <a:avLst>
              <a:gd name="adj" fmla="val 7916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87940" y="2212126"/>
            <a:ext cx="118047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6838" y="2250225"/>
            <a:ext cx="104278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· noites 2 a 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387940" y="2548668"/>
            <a:ext cx="2202379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387940" y="2955057"/>
            <a:ext cx="2202379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por pergunta do dono, prontas para dashboard, Genie e app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7553" y="2015281"/>
            <a:ext cx="2562161" cy="1925192"/>
          </a:xfrm>
          <a:prstGeom prst="roundRect">
            <a:avLst>
              <a:gd name="adj" fmla="val 791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89798" y="2212126"/>
            <a:ext cx="80543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8696" y="2250225"/>
            <a:ext cx="65274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 · noite 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089798" y="2548668"/>
            <a:ext cx="2202379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089798" y="2955057"/>
            <a:ext cx="2202379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 e métricas</a:t>
            </a:r>
            <a:endParaRPr lang="en-US" sz="1150" dirty="0"/>
          </a:p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o modelo registrado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76278" y="4130969"/>
            <a:ext cx="41091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OBJETO DA GOLD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055962" y="4130969"/>
            <a:ext cx="54822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811692" y="4130969"/>
            <a:ext cx="57238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1981" y="4429411"/>
            <a:ext cx="4179684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76278" y="4531009"/>
            <a:ext cx="410913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projeto_situacao_atual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41665" y="4429411"/>
            <a:ext cx="75573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55962" y="4531009"/>
            <a:ext cx="54822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97395" y="4429411"/>
            <a:ext cx="573231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11692" y="4531009"/>
            <a:ext cx="57238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atrasa, de qual cliente, quanto custa (SPI, CPI, estouro, melancia)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1981" y="4864971"/>
            <a:ext cx="4179684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278" y="4966568"/>
            <a:ext cx="410913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fato_projeto_semana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41665" y="4864971"/>
            <a:ext cx="75573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055962" y="4966568"/>
            <a:ext cx="54822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97395" y="4864971"/>
            <a:ext cx="573231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811692" y="4966568"/>
            <a:ext cx="57238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evolução semana a semana (base do modelo)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1981" y="5300530"/>
            <a:ext cx="4179684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76278" y="5402127"/>
            <a:ext cx="410913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utilizacao_pessoa_semana · status_estruturado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41665" y="5300530"/>
            <a:ext cx="75573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055962" y="5402127"/>
            <a:ext cx="54822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97395" y="5300530"/>
            <a:ext cx="573231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811692" y="5402127"/>
            <a:ext cx="57238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gente parada × gente pedida · por que travou (IA)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61981" y="5736089"/>
            <a:ext cx="4179684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76278" y="5837687"/>
            <a:ext cx="410913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mv_projetos · score_estouro_30d · contratos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41665" y="5736089"/>
            <a:ext cx="75573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055962" y="5837687"/>
            <a:ext cx="54822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3 · 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97395" y="5736089"/>
            <a:ext cx="573231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811692" y="5837687"/>
            <a:ext cx="57238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métrica governada · o que vem aí · o que o contrato diz</a:t>
            </a:r>
            <a:endParaRPr lang="en-US" sz="1100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10979372" y="6387940"/>
            <a:ext cx="46835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130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200724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NIVELAMENTO · ANTES DA PRIMEIRA QUERY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331086"/>
            <a:ext cx="11094443" cy="155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6000" b="1" spc="-120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mínimo para</a:t>
            </a:r>
            <a:endParaRPr lang="en-US" sz="6000" dirty="0"/>
          </a:p>
          <a:p>
            <a:pPr algn="l" indent="0" marL="0">
              <a:lnSpc>
                <a:spcPct val="87179"/>
              </a:lnSpc>
              <a:buNone/>
            </a:pPr>
            <a:r>
              <a:rPr lang="en-US" sz="6000" b="1" spc="-120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acompanhar tudo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4075904"/>
            <a:ext cx="11094443" cy="6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Primeiro o Databricks: o que é, por que o mercado usa e como entrar. Depois os conceitos de dado e de gestão de projetos que aparecem nas 4 noites.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299043"/>
            <a:ext cx="3021135" cy="2793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NIVELAMENTO · DATABRICKS · O QUE 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plataforma para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dado e IA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num lugar só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664155"/>
          </a:xfrm>
          <a:prstGeom prst="roundRect">
            <a:avLst>
              <a:gd name="adj" fmla="val 5720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981547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83590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uma frase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4985895" cy="74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Guardar, limpar, analisar e colocar IA em cima dos dados da empresa, sem montar dez ferramentas diferentes.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4225" y="3157062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3074514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 na nuvem: AWS, Azure ou Google Cloud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343893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3356387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SQL, Python, dashboards, IA e apps no mesmo lugar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7208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638261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usa: analista, engenheiro, cientista, engenheiro de IA e o negócio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1095" y="1582301"/>
            <a:ext cx="5238619" cy="2664155"/>
          </a:xfrm>
          <a:prstGeom prst="roundRect">
            <a:avLst>
              <a:gd name="adj" fmla="val 5720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3340" y="1779146"/>
            <a:ext cx="92489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2237" y="1817245"/>
            <a:ext cx="77698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onde veio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03835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fundada em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2013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pelos criadores do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Apache Spark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na Universidade da Califórnia em Berkeley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13340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03835" y="2603236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criou e abriu projetos que viraram padrão de mercado: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Spark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Delta Lake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MLflow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Unity Catalog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13340" y="317333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03835" y="309078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popularizou a ideia de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lakehouse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próximo slide</a:t>
            </a:r>
            <a:endParaRPr lang="en-US" sz="12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0970442" y="6387940"/>
            <a:ext cx="47764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130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NIVELAMENTO · DATABRICKS · O MERCADO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vale a pena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aprender isso agora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2562161" cy="1480406"/>
          </a:xfrm>
          <a:prstGeom prst="roundRect">
            <a:avLst>
              <a:gd name="adj" fmla="val 10294"/>
            </a:avLst>
          </a:prstGeom>
          <a:solidFill>
            <a:srgbClr val="0059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4225" y="1779146"/>
            <a:ext cx="2202379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US$ 190 bi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984225" y="2274434"/>
            <a:ext cx="2202379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avaliação, na rodada de US$ 5 bi de ago/2026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63838" y="1582301"/>
            <a:ext cx="2562161" cy="1480406"/>
          </a:xfrm>
          <a:prstGeom prst="roundRect">
            <a:avLst>
              <a:gd name="adj" fmla="val 10294"/>
            </a:avLst>
          </a:prstGeom>
          <a:solidFill>
            <a:srgbClr val="0059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86083" y="1779146"/>
            <a:ext cx="2202379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US$ 7 bi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3686083" y="2274434"/>
            <a:ext cx="2202379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receita anualizada, crescendo mais de 80% ao ano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5696" y="1582301"/>
            <a:ext cx="2562161" cy="1480406"/>
          </a:xfrm>
          <a:prstGeom prst="roundRect">
            <a:avLst>
              <a:gd name="adj" fmla="val 1029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7940" y="1779146"/>
            <a:ext cx="2202379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mil+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6387940" y="2274434"/>
            <a:ext cx="2202379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empresas clientes no mundo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7553" y="1582301"/>
            <a:ext cx="2562161" cy="1480406"/>
          </a:xfrm>
          <a:prstGeom prst="roundRect">
            <a:avLst>
              <a:gd name="adj" fmla="val 1029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89798" y="1779146"/>
            <a:ext cx="2202379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60%+</a:t>
            </a:r>
            <a:endParaRPr lang="en-US" sz="3300" dirty="0"/>
          </a:p>
        </p:txBody>
      </p:sp>
      <p:sp>
        <p:nvSpPr>
          <p:cNvPr id="15" name="Text 13"/>
          <p:cNvSpPr txBox="1"/>
          <p:nvPr/>
        </p:nvSpPr>
        <p:spPr>
          <a:xfrm>
            <a:off x="9089798" y="2274434"/>
            <a:ext cx="2202379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 Fortune 500 usa Databricks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3240503"/>
            <a:ext cx="10667733" cy="1252109"/>
          </a:xfrm>
          <a:prstGeom prst="roundRect">
            <a:avLst>
              <a:gd name="adj" fmla="val 12171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225" y="3437348"/>
            <a:ext cx="199394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3123" y="3475447"/>
            <a:ext cx="188880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isso quer dizer para você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4225" y="3850087"/>
            <a:ext cx="10632174" cy="445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 uma das empresas de dados que mais cresce no mundo, e a vaga de dados que pede "Databricks" já não é exceção. O que você faz nestas 4 noites é o que essas empresas fazem todo dia.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1981" y="4632308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377" y="4670407"/>
            <a:ext cx="1093595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Fontes: Databricks (comunicado de 2026: US$ 7 bi de run-rate) e CNBC (13/08/2026: rodada a US$ 190 bi); página de clientes da Databricks (20 mil+, 60%+ da Fortune 500).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971434" y="6387940"/>
            <a:ext cx="47661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130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NIVELAMENTO · DATABRICKS · LAKEHOUSE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warehouse + data lake =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lakehouse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62747" cy="1911005"/>
          </a:xfrm>
          <a:prstGeom prst="roundRect">
            <a:avLst>
              <a:gd name="adj" fmla="val 797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13384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99429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warehouse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2940873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tabelas organizadas, SQL rápido, dashboards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603236"/>
            <a:ext cx="2940873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caro e rígido; não guarda planilha, PDF, JSON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4424" y="1582301"/>
            <a:ext cx="3462747" cy="1911005"/>
          </a:xfrm>
          <a:prstGeom prst="roundRect">
            <a:avLst>
              <a:gd name="adj" fmla="val 797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6669" y="1779146"/>
            <a:ext cx="73291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75567" y="1817245"/>
            <a:ext cx="57732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lake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86669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77164" y="2115688"/>
            <a:ext cx="2940873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guarda qualquer arquivo, barato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86669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77164" y="2397561"/>
            <a:ext cx="2940873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vira um "pântano": ninguém sabe o que tem, nem confia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66868" y="1582301"/>
            <a:ext cx="3462747" cy="1911005"/>
          </a:xfrm>
          <a:prstGeom prst="roundRect">
            <a:avLst>
              <a:gd name="adj" fmla="val 7975"/>
            </a:avLst>
          </a:prstGeom>
          <a:solidFill>
            <a:srgbClr val="0059DB"/>
          </a:solidFill>
          <a:ln/>
        </p:spPr>
      </p:sp>
      <p:sp>
        <p:nvSpPr>
          <p:cNvPr id="19" name="Shape 17"/>
          <p:cNvSpPr/>
          <p:nvPr/>
        </p:nvSpPr>
        <p:spPr>
          <a:xfrm>
            <a:off x="8189112" y="1779146"/>
            <a:ext cx="801866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8010" y="1817245"/>
            <a:ext cx="6490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Lakehouse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89112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79608" y="2115688"/>
            <a:ext cx="2940873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arquivos ficam no lake, mas com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 de verdade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por cima (Delta)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89112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79608" y="2603236"/>
            <a:ext cx="2940873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governança num catálogo só (Unity Catalog)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89112" y="317333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79608" y="3090785"/>
            <a:ext cx="2940873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SQL, BI, ML e IA sobre 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mesmo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dado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1981" y="3671101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377" y="3709200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Projeto Farol: as planilhas, os JSON e os XML entram como arquivo no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volume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viram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mesmo catálogo. É o lakehouse na prática.</a:t>
            </a:r>
            <a:endParaRPr lang="en-US" sz="11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971037" y="6387940"/>
            <a:ext cx="4770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130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NIVELAMENTO · DATABRICKS · O MAPA DO WORKSPACE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workspace,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blocos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136343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23306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mora o código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Workspace · Git folder · bundle · notebooks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4424" y="1582301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9" name="Shape 7"/>
          <p:cNvSpPr/>
          <p:nvPr/>
        </p:nvSpPr>
        <p:spPr>
          <a:xfrm>
            <a:off x="4586669" y="1779146"/>
            <a:ext cx="109882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5567" y="1817245"/>
            <a:ext cx="95786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processa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86669" y="2191886"/>
            <a:ext cx="3138988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Serverless · SQL Warehouse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66868" y="1582301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9112" y="1779146"/>
            <a:ext cx="126748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8010" y="1817245"/>
            <a:ext cx="113328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mora o dado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89112" y="2191886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Unity Catalog · schemas · tabelas · volumes · lineage · metric views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2922713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225" y="3119558"/>
            <a:ext cx="132523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3123" y="3157657"/>
            <a:ext cx="119333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move o dado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4225" y="3532298"/>
            <a:ext cx="3138988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Ingestion · Lakeflow pipeline · Jobs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4424" y="2922713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6669" y="3119558"/>
            <a:ext cx="110546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75567" y="3157657"/>
            <a:ext cx="96477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pergunta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86669" y="3532298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Editor · Query History · AI/BI Dashboard · Genie · funções de IA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66868" y="2922713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9112" y="3119558"/>
            <a:ext cx="95743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8010" y="3157657"/>
            <a:ext cx="81082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decide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189112" y="3532298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MLflow · modelo no Unity Catalog · Lakebase · Apps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1981" y="428852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377" y="4326623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 isto existe no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 Edition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sem cartão de crédito. O tour completo, tela a tela, está no apêndice.</a:t>
            </a:r>
            <a:endParaRPr lang="en-US" sz="11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0981455" y="6387940"/>
            <a:ext cx="46618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130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NIVELAMENTO · DATABRICKS · FREE EDITION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Sua conta,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graça e sem cartão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387243"/>
          </a:xfrm>
          <a:prstGeom prst="roundRect">
            <a:avLst>
              <a:gd name="adj" fmla="val 6384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129487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16175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criar (5 min)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 em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databricks.com/learn/free-edition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 up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Google, Microsoft ou e-mail (o login é por código, sem senha)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96765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88511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workspace abre pronto: não tem cluster para criar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24953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3166983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guarde o endereço do seu workspace (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dbc-….cloud.databricks.com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): cada conta tem o seu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1095" y="1582301"/>
            <a:ext cx="5238619" cy="2387243"/>
          </a:xfrm>
          <a:prstGeom prst="roundRect">
            <a:avLst>
              <a:gd name="adj" fmla="val 638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3340" y="1779146"/>
            <a:ext cx="80434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2237" y="1817245"/>
            <a:ext cx="65161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vem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serverless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Databricks liga e desliga a máquina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SQL Warehouse (2X-Small), notebooks, jobs, pipelines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13340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3835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dashboards, Genie, funções de IA, Lakebase e até 3 apps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13340" y="3024806"/>
            <a:ext cx="67834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02237" y="3062905"/>
            <a:ext cx="5205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Cuidado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13340" y="34438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03835" y="336134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entrou e viu tudo vazio? Confira se é a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 certa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login leva ao workspace da última conta usada</a:t>
            </a:r>
            <a:endParaRPr lang="en-US" sz="12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0971633" y="6387940"/>
            <a:ext cx="47640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130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O QUE O FREE EDITION NÃO 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o que fizemos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lugar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57669" cy="1705329"/>
          </a:xfrm>
          <a:prstGeom prst="roundRect">
            <a:avLst>
              <a:gd name="adj" fmla="val 893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67407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51613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807592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cluster clássico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807592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endpoint de modelo próprio (só Foundation Models)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807592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Knowledge Assistant e Supervisor 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046" y="1582301"/>
            <a:ext cx="5257669" cy="1705329"/>
          </a:xfrm>
          <a:prstGeom prst="roundRect">
            <a:avLst>
              <a:gd name="adj" fmla="val 8936"/>
            </a:avLst>
          </a:prstGeom>
          <a:solidFill>
            <a:srgbClr val="0059DB"/>
          </a:solidFill>
          <a:ln/>
        </p:spPr>
      </p:sp>
      <p:sp>
        <p:nvSpPr>
          <p:cNvPr id="14" name="Shape 12"/>
          <p:cNvSpPr/>
          <p:nvPr/>
        </p:nvSpPr>
        <p:spPr>
          <a:xfrm>
            <a:off x="6394290" y="1779146"/>
            <a:ext cx="103175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3188" y="1817245"/>
            <a:ext cx="88811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Fizemos assim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9429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4785" y="2115688"/>
            <a:ext cx="4807592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 em serverless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9429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4785" y="2397561"/>
            <a:ext cx="4807592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 do modelo em lote, gravado na gold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94290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4785" y="2679435"/>
            <a:ext cx="4807592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contratos viram a 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gold.contratos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Genie "Diretoria + Contratos"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1981" y="3452726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377" y="3490825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empresa, os mesmos arquivos rodam iguais: o bundle só troca o profile.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0971930" y="6387940"/>
            <a:ext cx="4760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/ 130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NIVELAMENTO · DATABRICKS · COMO SE USA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menu da esquerda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 o mapa da semana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308729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MENU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073423" y="1582301"/>
            <a:ext cx="601320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QUE SERVE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083945" y="1582301"/>
            <a:ext cx="128073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319714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30872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Catalog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59126" y="1880744"/>
            <a:ext cx="601052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73423" y="1982341"/>
            <a:ext cx="601320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 catálogos, schemas, tabelas e volumes; subir arquivo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969648" y="1880744"/>
            <a:ext cx="146006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83945" y="1982341"/>
            <a:ext cx="128073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em diante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1981" y="2316303"/>
            <a:ext cx="319714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417900"/>
            <a:ext cx="30872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Editor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59126" y="2316303"/>
            <a:ext cx="601052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073423" y="2417900"/>
            <a:ext cx="601320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escrever e rodar 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969648" y="2316303"/>
            <a:ext cx="146006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83945" y="2417900"/>
            <a:ext cx="128073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1981" y="2751862"/>
            <a:ext cx="319714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2853460"/>
            <a:ext cx="30872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59126" y="2751862"/>
            <a:ext cx="601052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073423" y="2853460"/>
            <a:ext cx="601320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montar e publicar painéis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69648" y="2751862"/>
            <a:ext cx="146006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83945" y="2853460"/>
            <a:ext cx="128073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e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1981" y="3187422"/>
            <a:ext cx="319714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289019"/>
            <a:ext cx="30872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Genie Agents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59126" y="3187422"/>
            <a:ext cx="601052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073423" y="3289019"/>
            <a:ext cx="601320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perguntar em português para os dados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969648" y="3187422"/>
            <a:ext cx="146006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83945" y="3289019"/>
            <a:ext cx="128073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 2 e 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1981" y="3622981"/>
            <a:ext cx="319714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278" y="3724579"/>
            <a:ext cx="30872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Jobs &amp; Pipelines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59126" y="3622981"/>
            <a:ext cx="601052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073423" y="3724579"/>
            <a:ext cx="601320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roda sozinho, com agenda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969648" y="3622981"/>
            <a:ext cx="146006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83945" y="3724579"/>
            <a:ext cx="128073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e 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1981" y="4058541"/>
            <a:ext cx="319714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6278" y="4160138"/>
            <a:ext cx="30872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Experiments · Models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59126" y="4058541"/>
            <a:ext cx="601052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073423" y="4160138"/>
            <a:ext cx="601320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MLflow e o modelo registrado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969648" y="4058541"/>
            <a:ext cx="146006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083945" y="4160138"/>
            <a:ext cx="128073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1981" y="4494100"/>
            <a:ext cx="319714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76278" y="4595698"/>
            <a:ext cx="30872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 → Apps · Lakebase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59126" y="4494100"/>
            <a:ext cx="601052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073423" y="4595698"/>
            <a:ext cx="601320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app da Torre e o banco que grava as decisões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969648" y="4494100"/>
            <a:ext cx="146006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083945" y="4595698"/>
            <a:ext cx="128073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10942364" y="6387940"/>
            <a:ext cx="50684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/ 130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NIVELAMENTO · CONCEITOS DE DADO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palavras que você vai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ouvir o tempo todo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25154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523567" y="1582301"/>
            <a:ext cx="81035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UMA FRASE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1981" y="1880744"/>
            <a:ext cx="2647289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278" y="1982341"/>
            <a:ext cx="251544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9269" y="1880744"/>
            <a:ext cx="802044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3567" y="1982341"/>
            <a:ext cx="8103525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linhas e colunas que o SQL consegue ler; no Databricks, uma tabela </a:t>
            </a:r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1981" y="2308068"/>
            <a:ext cx="2647289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6278" y="2409666"/>
            <a:ext cx="251544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09269" y="2308068"/>
            <a:ext cx="802044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3567" y="2409666"/>
            <a:ext cx="8103525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língua para perguntar ao dado: SELECT o quê, FROM onde, WHERE com qual filtro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1981" y="2735393"/>
            <a:ext cx="2647289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6278" y="2836990"/>
            <a:ext cx="251544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Catálogo · schema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09269" y="2735393"/>
            <a:ext cx="802044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23567" y="2836990"/>
            <a:ext cx="8103525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gaveta e a pasta: </a:t>
            </a:r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lakehouse_vertice</a:t>
            </a:r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&gt; </a:t>
            </a:r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</a:t>
            </a:r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&gt; </a:t>
            </a:r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1981" y="3162717"/>
            <a:ext cx="2647289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6278" y="3264314"/>
            <a:ext cx="251544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Volume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09269" y="3162717"/>
            <a:ext cx="802044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23567" y="3264314"/>
            <a:ext cx="8103525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pasta de </a:t>
            </a:r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arquivos</a:t>
            </a:r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(planilha, JSON, XML, PDF) dentro do catálogo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1981" y="3590041"/>
            <a:ext cx="2647289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6278" y="3691639"/>
            <a:ext cx="251544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Serverless · warehouse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09269" y="3590041"/>
            <a:ext cx="802044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23567" y="3691639"/>
            <a:ext cx="8103525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máquina que roda tudo, ligada e desligada pelo Databricks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1981" y="4017366"/>
            <a:ext cx="2647289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76278" y="4118963"/>
            <a:ext cx="251544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· job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09269" y="4017366"/>
            <a:ext cx="802044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523567" y="4118963"/>
            <a:ext cx="8103525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sequência que roda sozinha e na ordem certa, toda segunda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1981" y="4444690"/>
            <a:ext cx="2647289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6278" y="4546288"/>
            <a:ext cx="2515442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 · métrica governada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09269" y="4444690"/>
            <a:ext cx="802044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23567" y="4546288"/>
            <a:ext cx="8103525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do negócio, com a fórmula definida uma vez só</a:t>
            </a:r>
            <a:endParaRPr lang="en-US" sz="10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0979372" y="6387940"/>
            <a:ext cx="46835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 / 130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NIVELAMENTO · CONCEITOS DE DADO · O MEDALHÃO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Três camadas: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bronze, silver e gold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282372" cy="1861396"/>
          </a:xfrm>
          <a:prstGeom prst="roundRect">
            <a:avLst>
              <a:gd name="adj" fmla="val 8187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2837883" cy="361941"/>
          </a:xfrm>
          <a:prstGeom prst="roundRect">
            <a:avLst>
              <a:gd name="adj" fmla="val 24561"/>
            </a:avLst>
          </a:prstGeom>
          <a:solidFill>
            <a:srgbClr val="2525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8523" y="1855344"/>
            <a:ext cx="2713660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C98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Bronze · como veio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217285"/>
            <a:ext cx="295139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arquivo virou tabela, sem mexer em nada. A sujeira fica, de propósito: dá para voltar na origem e comparar.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84225" y="2910311"/>
            <a:ext cx="54152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3123" y="2948410"/>
            <a:ext cx="37827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33251" y="2322454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54612" y="1582301"/>
            <a:ext cx="3282471" cy="1861396"/>
          </a:xfrm>
          <a:prstGeom prst="roundRect">
            <a:avLst>
              <a:gd name="adj" fmla="val 8187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6857" y="1779146"/>
            <a:ext cx="2837982" cy="361941"/>
          </a:xfrm>
          <a:prstGeom prst="roundRect">
            <a:avLst>
              <a:gd name="adj" fmla="val 24561"/>
            </a:avLst>
          </a:prstGeom>
          <a:solidFill>
            <a:srgbClr val="252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91154" y="1855344"/>
            <a:ext cx="2713763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9FB0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Silver · limpo e junto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76857" y="2217285"/>
            <a:ext cx="2951501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 e números corrigidos, duplicatas fora, as 3 ferramentas num modelo só. Testado.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76857" y="2910311"/>
            <a:ext cx="56573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65754" y="2948410"/>
            <a:ext cx="40345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825981" y="2322454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47342" y="1582301"/>
            <a:ext cx="3282372" cy="1861396"/>
          </a:xfrm>
          <a:prstGeom prst="roundRect">
            <a:avLst>
              <a:gd name="adj" fmla="val 8187"/>
            </a:avLst>
          </a:prstGeom>
          <a:solidFill>
            <a:srgbClr val="0059DB"/>
          </a:solidFill>
          <a:ln/>
        </p:spPr>
      </p:sp>
      <p:sp>
        <p:nvSpPr>
          <p:cNvPr id="19" name="Shape 17"/>
          <p:cNvSpPr/>
          <p:nvPr/>
        </p:nvSpPr>
        <p:spPr>
          <a:xfrm>
            <a:off x="8369587" y="1779146"/>
            <a:ext cx="2837883" cy="361941"/>
          </a:xfrm>
          <a:prstGeom prst="roundRect">
            <a:avLst>
              <a:gd name="adj" fmla="val 24561"/>
            </a:avLst>
          </a:prstGeom>
          <a:solidFill>
            <a:srgbClr val="2525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83884" y="1855344"/>
            <a:ext cx="2713660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E8C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Gold · pronto para decidir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69587" y="2217285"/>
            <a:ext cx="295139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tabela por pergunta do dono, com o KPI calculado. É o que dashboard, Genie e app leem.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69587" y="2910311"/>
            <a:ext cx="83550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58485" y="2948410"/>
            <a:ext cx="68401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noites 2 a 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1981" y="362149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365959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Separar em camadas é o que permite consertar um erro sem perder a origem, e trocar uma fonte sem quebrar o dashboard.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0950500" y="6387940"/>
            <a:ext cx="49838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 / 130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NIVELAMENTO · GESTÃO DE PROJETOS · COMO SE MEDE UM PROJETO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plano dizia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meses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Hoje é o fim do 3º mês.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582301"/>
            <a:ext cx="1109444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 de </a:t>
            </a:r>
            <a:pPr algn="l" indent="0" marL="0">
              <a:lnSpc>
                <a:spcPct val="106838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meses</a:t>
            </a:r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por </a:t>
            </a:r>
            <a:pPr algn="l" indent="0" marL="0">
              <a:lnSpc>
                <a:spcPct val="106838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R$ 300 mil</a:t>
            </a:r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A linha vermelha é </a:t>
            </a:r>
            <a:pPr algn="l" indent="0" marL="0">
              <a:lnSpc>
                <a:spcPct val="106838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</a:t>
            </a:r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dia da entrega.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61981" y="2096638"/>
            <a:ext cx="1716997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590735" y="2102988"/>
            <a:ext cx="2248606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mês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816355" y="2102988"/>
            <a:ext cx="2248606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mês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041974" y="2102988"/>
            <a:ext cx="2248606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mês 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267593" y="2102988"/>
            <a:ext cx="2248606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mês 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1981" y="2458579"/>
            <a:ext cx="1716997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plano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1981" y="2706223"/>
            <a:ext cx="171699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foi combinado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90735" y="2474454"/>
            <a:ext cx="6613360" cy="406390"/>
          </a:xfrm>
          <a:prstGeom prst="roundRect">
            <a:avLst>
              <a:gd name="adj" fmla="val 21875"/>
            </a:avLst>
          </a:prstGeom>
          <a:solidFill>
            <a:srgbClr val="467C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131" y="2474454"/>
            <a:ext cx="6719402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 pronto em 3 meses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67593" y="2474454"/>
            <a:ext cx="2162121" cy="406390"/>
          </a:xfrm>
          <a:prstGeom prst="roundRect">
            <a:avLst>
              <a:gd name="adj" fmla="val 21875"/>
            </a:avLst>
          </a:prstGeom>
          <a:ln w="12700">
            <a:solidFill>
              <a:srgbClr val="2F2F39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61981" y="3036415"/>
            <a:ext cx="1716997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realidade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61981" y="3284059"/>
            <a:ext cx="171699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está pronto hoje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90735" y="3052289"/>
            <a:ext cx="4960020" cy="40639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743131" y="3052289"/>
            <a:ext cx="4999928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1414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75% pronto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50755" y="3052289"/>
            <a:ext cx="1653340" cy="406390"/>
          </a:xfrm>
          <a:prstGeom prst="rect">
            <a:avLst/>
          </a:prstGeom>
          <a:solidFill>
            <a:srgbClr val="2525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50755" y="3052289"/>
            <a:ext cx="1719474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25%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67593" y="3052289"/>
            <a:ext cx="2162121" cy="406390"/>
          </a:xfrm>
          <a:prstGeom prst="roundRect">
            <a:avLst>
              <a:gd name="adj" fmla="val 21875"/>
            </a:avLst>
          </a:prstGeom>
          <a:ln w="12700">
            <a:solidFill>
              <a:srgbClr val="FF6B6B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9280293" y="3064989"/>
            <a:ext cx="2235398" cy="393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 mês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61981" y="3614250"/>
            <a:ext cx="1716997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dinheiro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61981" y="3861894"/>
            <a:ext cx="171699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já foi gasto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90735" y="3630125"/>
            <a:ext cx="6613360" cy="406390"/>
          </a:xfrm>
          <a:prstGeom prst="roundRect">
            <a:avLst>
              <a:gd name="adj" fmla="val 21875"/>
            </a:avLst>
          </a:prstGeom>
          <a:solidFill>
            <a:srgbClr val="FF6B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743131" y="3630125"/>
            <a:ext cx="6719402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R$ 300 mil gastos · o orçamento inteiro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67593" y="3630125"/>
            <a:ext cx="2162121" cy="406390"/>
          </a:xfrm>
          <a:prstGeom prst="roundRect">
            <a:avLst>
              <a:gd name="adj" fmla="val 21875"/>
            </a:avLst>
          </a:prstGeom>
          <a:ln w="12700">
            <a:solidFill>
              <a:srgbClr val="FF6B6B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9280293" y="3642825"/>
            <a:ext cx="2235398" cy="393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R$ 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69171" y="2127197"/>
            <a:ext cx="19050" cy="20954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45369" y="1943051"/>
            <a:ext cx="40108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b="1" spc="100" kern="0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1981" y="4268284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377" y="4306383"/>
            <a:ext cx="1093595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Três perguntas, três números: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 devia estar pronto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(100%),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 está pronto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(75%),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 já custou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(R$ 300 mil). Tudo o que vem agora é dividir um pelo outro.</a:t>
            </a:r>
            <a:endParaRPr lang="en-US" sz="11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0948317" y="6387940"/>
            <a:ext cx="50065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/ 130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· SCHEDULE PERFORMANCE INDEX · ÍNDICE DE PRAZO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SPI: quanto do que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devia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estar pronto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está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pronto?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645799"/>
            <a:ext cx="1981150" cy="62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Devia estar pronto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61981" y="1893443"/>
            <a:ext cx="1981150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PV · pelo plano, no fim do 3º mês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44729" y="1756922"/>
            <a:ext cx="7137222" cy="406390"/>
          </a:xfrm>
          <a:prstGeom prst="roundRect">
            <a:avLst>
              <a:gd name="adj" fmla="val 21875"/>
            </a:avLst>
          </a:prstGeom>
          <a:solidFill>
            <a:srgbClr val="467C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97125" y="1756922"/>
            <a:ext cx="7264218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1981" y="2439530"/>
            <a:ext cx="1981150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Está pronto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1981" y="2687173"/>
            <a:ext cx="19811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 · valor agregado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44729" y="2455404"/>
            <a:ext cx="5352916" cy="40639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97125" y="2455404"/>
            <a:ext cx="5408541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1414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7645" y="2455404"/>
            <a:ext cx="1784305" cy="406390"/>
          </a:xfrm>
          <a:prstGeom prst="rect">
            <a:avLst/>
          </a:prstGeom>
          <a:solidFill>
            <a:srgbClr val="25252D"/>
          </a:solidFill>
          <a:ln/>
        </p:spPr>
      </p:sp>
      <p:sp>
        <p:nvSpPr>
          <p:cNvPr id="13" name="Shape 11"/>
          <p:cNvSpPr/>
          <p:nvPr/>
        </p:nvSpPr>
        <p:spPr>
          <a:xfrm>
            <a:off x="761981" y="3131662"/>
            <a:ext cx="5244969" cy="1723982"/>
          </a:xfrm>
          <a:prstGeom prst="roundRect">
            <a:avLst>
              <a:gd name="adj" fmla="val 8840"/>
            </a:avLst>
          </a:prstGeom>
          <a:solidFill>
            <a:srgbClr val="0059DB"/>
          </a:solidFill>
          <a:ln/>
        </p:spPr>
      </p:sp>
      <p:sp>
        <p:nvSpPr>
          <p:cNvPr id="14" name="Shape 12"/>
          <p:cNvSpPr/>
          <p:nvPr/>
        </p:nvSpPr>
        <p:spPr>
          <a:xfrm>
            <a:off x="984225" y="3328507"/>
            <a:ext cx="62595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73123" y="3366606"/>
            <a:ext cx="4660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conta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84225" y="3715848"/>
            <a:ext cx="4992499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3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= 75% ÷ 100% = 0,75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984225" y="4230185"/>
            <a:ext cx="4992499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"andou </a:t>
            </a:r>
            <a:pPr algn="l" indent="0" marL="0">
              <a:lnSpc>
                <a:spcPct val="115385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75% do que devia</a:t>
            </a:r>
            <a:pPr algn="l" indent="0" marL="0">
              <a:lnSpc>
                <a:spcPct val="115385"/>
              </a:lnSpc>
              <a:buNone/>
            </a:pPr>
            <a:r>
              <a:rPr lang="en-US" sz="12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". Em tempo: 3 meses ÷ 0,75 = </a:t>
            </a:r>
            <a:pPr algn="l" indent="0" marL="0">
              <a:lnSpc>
                <a:spcPct val="115385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meses</a:t>
            </a:r>
            <a:pPr algn="l" indent="0" marL="0">
              <a:lnSpc>
                <a:spcPct val="115385"/>
              </a:lnSpc>
              <a:buNone/>
            </a:pPr>
            <a:r>
              <a:rPr lang="en-US" sz="12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Um mês de atraso, se o ritmo não mudar.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84745" y="3131662"/>
            <a:ext cx="5244969" cy="1723982"/>
          </a:xfrm>
          <a:prstGeom prst="roundRect">
            <a:avLst>
              <a:gd name="adj" fmla="val 8840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6990" y="3328507"/>
            <a:ext cx="114525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5888" y="3366606"/>
            <a:ext cx="100615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régua da Torre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6990" y="3753947"/>
            <a:ext cx="1920132" cy="25399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6990" y="3753947"/>
            <a:ext cx="1996938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b="1" dirty="0">
                <a:solidFill>
                  <a:srgbClr val="1414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crítico &lt; 0,80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27122" y="3753947"/>
            <a:ext cx="960017" cy="25399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27122" y="3753947"/>
            <a:ext cx="998417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b="1" dirty="0">
                <a:solidFill>
                  <a:srgbClr val="1414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atenção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287139" y="3753947"/>
            <a:ext cx="1920331" cy="253994"/>
          </a:xfrm>
          <a:prstGeom prst="rect">
            <a:avLst/>
          </a:prstGeom>
          <a:solidFill>
            <a:srgbClr val="5AD47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87139" y="3753947"/>
            <a:ext cx="1997144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b="1" dirty="0">
                <a:solidFill>
                  <a:srgbClr val="1414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ok ≥ 0,90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406990" y="4084139"/>
            <a:ext cx="4992499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Nosso exemplo (0,75) é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crítico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Na Vértice, o pior é o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PRJ-016: 0,63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+298 dias projetados.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0941570" y="6387940"/>
            <a:ext cx="50767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/ 130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CPI · COST PERFORMANCE INDEX · ÍNDICE DE CUSTO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CPI: o que foi entregue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vale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quanto, 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custou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quanto?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645799"/>
            <a:ext cx="1981150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61981" y="1893443"/>
            <a:ext cx="19811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 · 75% de R$ 300 mil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44729" y="1661674"/>
            <a:ext cx="6438739" cy="40639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97125" y="1661674"/>
            <a:ext cx="6537797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1414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R$ 225 mil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283468" y="1661674"/>
            <a:ext cx="2146246" cy="406390"/>
          </a:xfrm>
          <a:prstGeom prst="rect">
            <a:avLst/>
          </a:prstGeom>
          <a:solidFill>
            <a:srgbClr val="2525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1981" y="2249034"/>
            <a:ext cx="1981150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Custou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1981" y="2496678"/>
            <a:ext cx="19811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 · custo real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44729" y="2264909"/>
            <a:ext cx="8584985" cy="406390"/>
          </a:xfrm>
          <a:prstGeom prst="roundRect">
            <a:avLst>
              <a:gd name="adj" fmla="val 21875"/>
            </a:avLst>
          </a:prstGeom>
          <a:solidFill>
            <a:srgbClr val="FF6B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97125" y="2264909"/>
            <a:ext cx="8769893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R$ 300 mil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1981" y="2941167"/>
            <a:ext cx="5244969" cy="1938289"/>
          </a:xfrm>
          <a:prstGeom prst="roundRect">
            <a:avLst>
              <a:gd name="adj" fmla="val 7862"/>
            </a:avLst>
          </a:prstGeom>
          <a:solidFill>
            <a:srgbClr val="0059DB"/>
          </a:solidFill>
          <a:ln/>
        </p:spPr>
      </p:sp>
      <p:sp>
        <p:nvSpPr>
          <p:cNvPr id="14" name="Shape 12"/>
          <p:cNvSpPr/>
          <p:nvPr/>
        </p:nvSpPr>
        <p:spPr>
          <a:xfrm>
            <a:off x="984225" y="3138012"/>
            <a:ext cx="62595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73123" y="3176111"/>
            <a:ext cx="4660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conta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84225" y="3525352"/>
            <a:ext cx="4992499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3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CPI = 225 ÷ 300 = 0,75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984225" y="4039690"/>
            <a:ext cx="4992499" cy="642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</a:t>
            </a:r>
            <a:pPr algn="l" indent="0" marL="0">
              <a:lnSpc>
                <a:spcPct val="115385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</a:t>
            </a:r>
            <a:pPr algn="l" indent="0" marL="0">
              <a:lnSpc>
                <a:spcPct val="115385"/>
              </a:lnSpc>
              <a:buNone/>
            </a:pPr>
            <a:r>
              <a:rPr lang="en-US" sz="12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gasto comprou </a:t>
            </a:r>
            <a:pPr algn="l" indent="0" marL="0">
              <a:lnSpc>
                <a:spcPct val="115385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R$ 0,75</a:t>
            </a:r>
            <a:pPr algn="l" indent="0" marL="0">
              <a:lnSpc>
                <a:spcPct val="115385"/>
              </a:lnSpc>
              <a:buNone/>
            </a:pPr>
            <a:r>
              <a:rPr lang="en-US" sz="12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entrega. Os outros 25 centavos viraram retrabalho, hora extra, escopo que ninguém cobrou.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84745" y="2941167"/>
            <a:ext cx="5244969" cy="1938289"/>
          </a:xfrm>
          <a:prstGeom prst="roundRect">
            <a:avLst>
              <a:gd name="adj" fmla="val 78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6990" y="3138012"/>
            <a:ext cx="105744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5888" y="3176111"/>
            <a:ext cx="91483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Independentes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406990" y="3550752"/>
            <a:ext cx="4992499" cy="642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Aqui os dois deram 0,75 por coincidência. Dá para estar </a:t>
            </a:r>
            <a:pPr algn="l" indent="0" marL="0">
              <a:lnSpc>
                <a:spcPct val="115385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prazo e estourando</a:t>
            </a:r>
            <a:pPr algn="l" indent="0" marL="0">
              <a:lnSpc>
                <a:spcPct val="115385"/>
              </a:lnSpc>
              <a:buNone/>
            </a:pPr>
            <a:r>
              <a:rPr lang="en-US" sz="12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(hora extra para entregar) ou </a:t>
            </a:r>
            <a:pPr algn="l" indent="0" marL="0">
              <a:lnSpc>
                <a:spcPct val="115385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atrasado e barato</a:t>
            </a:r>
            <a:pPr algn="l" indent="0" marL="0">
              <a:lnSpc>
                <a:spcPct val="115385"/>
              </a:lnSpc>
              <a:buNone/>
            </a:pPr>
            <a:r>
              <a:rPr lang="en-US" sz="12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(time parado). Por isso a Torre olha os dois.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6990" y="4269871"/>
            <a:ext cx="4992499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Vértice: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PRJ-009, CPI 0,77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E 8 projetos com o CPI caindo desde o 6º mês.</a:t>
            </a:r>
            <a:endParaRPr lang="en-US" sz="11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0942662" y="6387940"/>
            <a:ext cx="50653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/ 130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 · ESTIMATE AT COMPLETION · ESTIMATIVA NO TÉRMINO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EAC: se nada mudar,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 vai custar no fim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645799"/>
            <a:ext cx="1981150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Orçamento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61981" y="1893443"/>
            <a:ext cx="19811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 · o combinado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44729" y="1661674"/>
            <a:ext cx="6438739" cy="406390"/>
          </a:xfrm>
          <a:prstGeom prst="rect">
            <a:avLst/>
          </a:prstGeom>
          <a:solidFill>
            <a:srgbClr val="467C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97125" y="1661674"/>
            <a:ext cx="6537797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R$ 300 mil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1981" y="2249034"/>
            <a:ext cx="1981150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Vai custar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1981" y="2496678"/>
            <a:ext cx="19811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 = orçamento ÷ CPI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44729" y="2264909"/>
            <a:ext cx="6438739" cy="406390"/>
          </a:xfrm>
          <a:prstGeom prst="rect">
            <a:avLst/>
          </a:prstGeom>
          <a:solidFill>
            <a:srgbClr val="467CF6">
              <a:alpha val="5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97125" y="2264909"/>
            <a:ext cx="6537797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R$ 300 mil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83468" y="2264909"/>
            <a:ext cx="2146246" cy="40639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83468" y="2264909"/>
            <a:ext cx="2232096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R$ 100 mil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1981" y="2852269"/>
            <a:ext cx="1981150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Prazo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1981" y="3099913"/>
            <a:ext cx="198115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duração ÷ SPI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44729" y="2868144"/>
            <a:ext cx="6438739" cy="406390"/>
          </a:xfrm>
          <a:prstGeom prst="rect">
            <a:avLst/>
          </a:prstGeom>
          <a:solidFill>
            <a:srgbClr val="467CF6">
              <a:alpha val="5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997125" y="2868144"/>
            <a:ext cx="6537797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meses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83468" y="2868144"/>
            <a:ext cx="2146246" cy="40639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83468" y="2868144"/>
            <a:ext cx="2232096" cy="40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+ 1 mês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1981" y="3544402"/>
            <a:ext cx="5244969" cy="1938289"/>
          </a:xfrm>
          <a:prstGeom prst="roundRect">
            <a:avLst>
              <a:gd name="adj" fmla="val 7862"/>
            </a:avLst>
          </a:prstGeom>
          <a:solidFill>
            <a:srgbClr val="0059D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4225" y="3741247"/>
            <a:ext cx="62595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73123" y="3779346"/>
            <a:ext cx="4660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conta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84225" y="4128587"/>
            <a:ext cx="4992499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3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300 ÷ 0,75 = R$ 400 mil</a:t>
            </a:r>
            <a:endParaRPr lang="en-US" sz="2300" dirty="0"/>
          </a:p>
        </p:txBody>
      </p:sp>
      <p:sp>
        <p:nvSpPr>
          <p:cNvPr id="24" name="Text 22"/>
          <p:cNvSpPr txBox="1"/>
          <p:nvPr/>
        </p:nvSpPr>
        <p:spPr>
          <a:xfrm>
            <a:off x="984225" y="4642925"/>
            <a:ext cx="4992499" cy="642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Estouro previsto: R$ 100 mil.</a:t>
            </a:r>
            <a:pPr algn="l" indent="0" marL="0">
              <a:lnSpc>
                <a:spcPct val="115385"/>
              </a:lnSpc>
              <a:buNone/>
            </a:pPr>
            <a:r>
              <a:rPr lang="en-US" sz="12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É o primeiro número que o dono quer ouvir, e sai de três colunas: orçamento, % concluído e custo real.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84745" y="3544402"/>
            <a:ext cx="5244969" cy="1938289"/>
          </a:xfrm>
          <a:prstGeom prst="roundRect">
            <a:avLst>
              <a:gd name="adj" fmla="val 78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6990" y="3741247"/>
            <a:ext cx="7799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5888" y="3779346"/>
            <a:ext cx="62622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Vértice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406990" y="4077789"/>
            <a:ext cx="4992499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</a:t>
            </a:r>
            <a:endParaRPr lang="en-US" sz="3300" dirty="0"/>
          </a:p>
        </p:txBody>
      </p:sp>
      <p:sp>
        <p:nvSpPr>
          <p:cNvPr id="29" name="Text 27"/>
          <p:cNvSpPr txBox="1"/>
          <p:nvPr/>
        </p:nvSpPr>
        <p:spPr>
          <a:xfrm>
            <a:off x="6406990" y="4573076"/>
            <a:ext cx="4992499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estouro previsto, somando só quem estoura. O maior é o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PRJ-021, R$ 1,78 mi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Resposta da pergunta 2 do dono.</a:t>
            </a:r>
            <a:endParaRPr lang="en-US" sz="115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0942265" y="6387940"/>
            <a:ext cx="50694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 / 130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 × NÚMERO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projeto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melancia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44969" cy="2307076"/>
          </a:xfrm>
          <a:prstGeom prst="roundRect">
            <a:avLst>
              <a:gd name="adj" fmla="val 660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56255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0015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farol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4992499" cy="66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3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sexta o gerente põe uma cor no status: </a:t>
            </a:r>
            <a:pPr algn="l" indent="0" marL="0">
              <a:lnSpc>
                <a:spcPct val="115385"/>
              </a:lnSpc>
              <a:buNone/>
            </a:pPr>
            <a:r>
              <a:rPr lang="en-US" sz="1300" b="1" dirty="0">
                <a:solidFill>
                  <a:srgbClr val="5AD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verde</a:t>
            </a:r>
            <a:pPr algn="l" indent="0" marL="0">
              <a:lnSpc>
                <a:spcPct val="115385"/>
              </a:lnSpc>
              <a:buNone/>
            </a:pPr>
            <a:r>
              <a:rPr lang="en-US" sz="13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ct val="115385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amarelo</a:t>
            </a:r>
            <a:pPr algn="l" indent="0" marL="0">
              <a:lnSpc>
                <a:spcPct val="115385"/>
              </a:lnSpc>
              <a:buNone/>
            </a:pPr>
            <a:r>
              <a:rPr lang="en-US" sz="13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ou </a:t>
            </a:r>
            <a:pPr algn="l" indent="0" marL="0">
              <a:lnSpc>
                <a:spcPct val="115385"/>
              </a:lnSpc>
              <a:buNone/>
            </a:pPr>
            <a:r>
              <a:rPr lang="en-US" sz="13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vermelho</a:t>
            </a:r>
            <a:pPr algn="l" indent="0" marL="0">
              <a:lnSpc>
                <a:spcPct val="115385"/>
              </a:lnSpc>
              <a:buNone/>
            </a:pPr>
            <a:r>
              <a:rPr lang="en-US" sz="13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No olhômetro. É a mensagem do pedreiro: </a:t>
            </a:r>
            <a:pPr algn="l" indent="0" marL="0">
              <a:lnSpc>
                <a:spcPct val="115385"/>
              </a:lnSpc>
              <a:buNone/>
            </a:pPr>
            <a:r>
              <a:rPr lang="en-US" sz="1300" i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"tá tudo certo, chefe"</a:t>
            </a:r>
            <a:pPr algn="l" indent="0" marL="0">
              <a:lnSpc>
                <a:spcPct val="115385"/>
              </a:lnSpc>
              <a:buNone/>
            </a:pPr>
            <a:r>
              <a:rPr lang="en-US" sz="13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3000102"/>
            <a:ext cx="4992499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5AD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verdes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984225" y="3495389"/>
            <a:ext cx="4992499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41 projetos em andamento, pelo gerente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4745" y="1582301"/>
            <a:ext cx="5244969" cy="2307076"/>
          </a:xfrm>
          <a:prstGeom prst="roundRect">
            <a:avLst>
              <a:gd name="adj" fmla="val 6606"/>
            </a:avLst>
          </a:prstGeom>
          <a:solidFill>
            <a:srgbClr val="0059DB"/>
          </a:solidFill>
          <a:ln/>
        </p:spPr>
      </p:sp>
      <p:sp>
        <p:nvSpPr>
          <p:cNvPr id="11" name="Shape 9"/>
          <p:cNvSpPr/>
          <p:nvPr/>
        </p:nvSpPr>
        <p:spPr>
          <a:xfrm>
            <a:off x="6406990" y="1779146"/>
            <a:ext cx="7552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5888" y="1817245"/>
            <a:ext cx="60053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06990" y="2191886"/>
            <a:ext cx="4992499" cy="445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3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SPI não tem opinião. Ele divide o que está pronto pelo que devia estar.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6990" y="2777262"/>
            <a:ext cx="4992499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ok</a:t>
            </a:r>
            <a:endParaRPr lang="en-US" sz="3300" dirty="0"/>
          </a:p>
        </p:txBody>
      </p:sp>
      <p:sp>
        <p:nvSpPr>
          <p:cNvPr id="15" name="Text 13"/>
          <p:cNvSpPr txBox="1"/>
          <p:nvPr/>
        </p:nvSpPr>
        <p:spPr>
          <a:xfrm>
            <a:off x="6406990" y="3272549"/>
            <a:ext cx="4992499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pelo SPI e CPI. Os outros 17 estão em atenção ou críticos.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4067173"/>
            <a:ext cx="10667733" cy="932633"/>
          </a:xfrm>
          <a:prstGeom prst="roundRect">
            <a:avLst>
              <a:gd name="adj" fmla="val 16340"/>
            </a:avLst>
          </a:prstGeom>
          <a:solidFill>
            <a:srgbClr val="1E1E24"/>
          </a:solidFill>
          <a:ln w="6350">
            <a:solidFill>
              <a:srgbClr val="467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4225" y="4340216"/>
            <a:ext cx="10632174" cy="46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Melancia</a:t>
            </a:r>
            <a:pPr algn="l" indent="0" marL="0">
              <a:lnSpc>
                <a:spcPct val="115385"/>
              </a:lnSpc>
              <a:buNone/>
            </a:pPr>
            <a:r>
              <a:rPr lang="en-US" sz="13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= verde por fora, vermelho por dentro. </a:t>
            </a:r>
            <a:pPr algn="l" indent="0" marL="0">
              <a:lnSpc>
                <a:spcPct val="11538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projetos</a:t>
            </a:r>
            <a:pPr algn="l" indent="0" marL="0">
              <a:lnSpc>
                <a:spcPct val="115385"/>
              </a:lnSpc>
              <a:buNone/>
            </a:pPr>
            <a:r>
              <a:rPr lang="en-US" sz="13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na Vértice (PRJ-012, 028, 034, 042) estão verdes para o gerente e abaixo de 0,9 pelo número. Ninguém mentiu. Só ninguém fez a conta.</a:t>
            </a:r>
            <a:endParaRPr lang="en-US" sz="13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952682" y="6387940"/>
            <a:ext cx="49611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 / 130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GLOSSÁRIO · AS SIGLAS FICAM EM INGLÊS, ATÉ NO PMO BRASILEIRO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siglas, em uma linha cada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78802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SIGLA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862587" y="1582301"/>
            <a:ext cx="25851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INGLÊS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6946" y="1582301"/>
            <a:ext cx="284666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PORTUGUÊS (PMBOK)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542718" y="1582301"/>
            <a:ext cx="392360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UMA FRASE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981" y="1880744"/>
            <a:ext cx="9863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6278" y="1982341"/>
            <a:ext cx="788023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48290" y="1880744"/>
            <a:ext cx="271435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862587" y="1982341"/>
            <a:ext cx="2585195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Planned Value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62649" y="1880744"/>
            <a:ext cx="296577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6946" y="1982341"/>
            <a:ext cx="2846666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 Planejado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28421" y="1880744"/>
            <a:ext cx="400129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42718" y="1982341"/>
            <a:ext cx="392360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 devia estar pronto hoje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2324538"/>
            <a:ext cx="9863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6278" y="2426135"/>
            <a:ext cx="788023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748290" y="2324538"/>
            <a:ext cx="271435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862587" y="2426135"/>
            <a:ext cx="2585195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Earned Value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62649" y="2324538"/>
            <a:ext cx="296577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6946" y="2426135"/>
            <a:ext cx="2846666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 Agregado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28421" y="2324538"/>
            <a:ext cx="400129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42718" y="2426135"/>
            <a:ext cx="392360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 está pronto de verdade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1981" y="2768332"/>
            <a:ext cx="9863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278" y="2869930"/>
            <a:ext cx="788023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748290" y="2768332"/>
            <a:ext cx="271435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862587" y="2869930"/>
            <a:ext cx="2585195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Actual Cost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62649" y="2768332"/>
            <a:ext cx="296577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6946" y="2869930"/>
            <a:ext cx="2846666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 Real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28421" y="2768332"/>
            <a:ext cx="400129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542718" y="2869930"/>
            <a:ext cx="392360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 já foi gasto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1981" y="3212127"/>
            <a:ext cx="986309" cy="3929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6278" y="3313724"/>
            <a:ext cx="788023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748290" y="3212127"/>
            <a:ext cx="2714359" cy="3929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862587" y="3313724"/>
            <a:ext cx="2585195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Schedule Performance Index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462649" y="3212127"/>
            <a:ext cx="2965773" cy="3929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6946" y="3313724"/>
            <a:ext cx="2846666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Índice de Desempenho de Prazo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28421" y="3212127"/>
            <a:ext cx="4001293" cy="3929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542718" y="3313724"/>
            <a:ext cx="392360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 ÷ PV · abaixo de 1 é atraso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61981" y="3655921"/>
            <a:ext cx="986309" cy="3929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6278" y="3757519"/>
            <a:ext cx="788023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CPI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748290" y="3655921"/>
            <a:ext cx="2714359" cy="3929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862587" y="3757519"/>
            <a:ext cx="2585195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 Performance Index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462649" y="3655921"/>
            <a:ext cx="2965773" cy="3929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576946" y="3757519"/>
            <a:ext cx="2846666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Índice de Desempenho de Custo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428421" y="3655921"/>
            <a:ext cx="4001293" cy="3929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542718" y="3757519"/>
            <a:ext cx="392360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 ÷ AC · abaixo de 1 é estouro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61981" y="4099715"/>
            <a:ext cx="9863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76278" y="4201313"/>
            <a:ext cx="788023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748290" y="4099715"/>
            <a:ext cx="271435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862587" y="4201313"/>
            <a:ext cx="2585195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Budget at Completion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462649" y="4099715"/>
            <a:ext cx="296577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576946" y="4201313"/>
            <a:ext cx="2846666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Orçamento no Término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7428421" y="4099715"/>
            <a:ext cx="400129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542718" y="4201313"/>
            <a:ext cx="392360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orçamento original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61981" y="4543510"/>
            <a:ext cx="9863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76278" y="4645107"/>
            <a:ext cx="788023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1748290" y="4543510"/>
            <a:ext cx="271435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862587" y="4645107"/>
            <a:ext cx="2585195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Estimate at Completion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462649" y="4543510"/>
            <a:ext cx="296577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576946" y="4645107"/>
            <a:ext cx="2846666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Estimativa no Término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428421" y="4543510"/>
            <a:ext cx="400129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542718" y="4645107"/>
            <a:ext cx="392360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 ÷ CPI · quanto vai custar no fim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761981" y="4987304"/>
            <a:ext cx="9863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76278" y="5088902"/>
            <a:ext cx="788023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Estouro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1748290" y="4987304"/>
            <a:ext cx="271435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862587" y="5088902"/>
            <a:ext cx="2585195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VAC · Variance at Completion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4462649" y="4987304"/>
            <a:ext cx="296577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576946" y="5088902"/>
            <a:ext cx="2846666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Variação no Término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7428421" y="4987304"/>
            <a:ext cx="400129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542718" y="5088902"/>
            <a:ext cx="392360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 − BAC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761981" y="5431099"/>
            <a:ext cx="9863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876278" y="5532696"/>
            <a:ext cx="788023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1748290" y="5431099"/>
            <a:ext cx="271435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862587" y="5532696"/>
            <a:ext cx="2585195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4462649" y="5431099"/>
            <a:ext cx="296577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4576946" y="5532696"/>
            <a:ext cx="2846666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 de base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7428421" y="5431099"/>
            <a:ext cx="4001293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7542718" y="5532696"/>
            <a:ext cx="392360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plano original, contra o qual tudo é medido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761981" y="5989190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914377" y="6027289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Régua da Torre: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ou CPI &lt; 0,9 = atenção · &lt; 0,8 = crítico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Definida uma vez, usada em toda query, dashboard, Genie e app.</a:t>
            </a:r>
            <a:endParaRPr lang="en-US" sz="1100" dirty="0"/>
          </a:p>
        </p:txBody>
      </p:sp>
      <p:pic>
        <p:nvPicPr>
          <p:cNvPr id="8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83" name="Text 80"/>
          <p:cNvSpPr txBox="1"/>
          <p:nvPr/>
        </p:nvSpPr>
        <p:spPr>
          <a:xfrm>
            <a:off x="10942761" y="6387940"/>
            <a:ext cx="50643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/ 130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200724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SEGUNDA, 19/10 · ANALISTA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331086"/>
            <a:ext cx="11094443" cy="155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6000" b="1" spc="-120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 tudo,</a:t>
            </a:r>
            <a:endParaRPr lang="en-US" sz="6000" dirty="0"/>
          </a:p>
          <a:p>
            <a:pPr algn="l" indent="0" marL="0">
              <a:lnSpc>
                <a:spcPct val="87179"/>
              </a:lnSpc>
              <a:buNone/>
            </a:pPr>
            <a:r>
              <a:rPr lang="en-US" sz="6000" b="1" spc="-120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converter nada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4075904"/>
            <a:ext cx="11094443" cy="6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Só navegador. Planilha, JSON e XML viram tabela com o mesmo comando, e o SQL responde as perguntas 1 e 2.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299043"/>
            <a:ext cx="3021135" cy="27939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O QUE VOCÊ ENTREGA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entregas,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todas no navegador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1498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248934" y="1582301"/>
            <a:ext cx="41936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509876" y="1582301"/>
            <a:ext cx="603776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VOCÊ SABE QUE CHEGOU LÁ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372656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149825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34637" y="1880744"/>
            <a:ext cx="4260942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48934" y="1982341"/>
            <a:ext cx="419364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Ambiente no Databricks Free Edition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5579" y="1880744"/>
            <a:ext cx="603413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09876" y="1982341"/>
            <a:ext cx="603776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catálogo </a:t>
            </a:r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lakehouse_vertice</a:t>
            </a:r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bronze, silver, gold e o volume </a:t>
            </a:r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1981" y="2332773"/>
            <a:ext cx="372656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434370"/>
            <a:ext cx="149825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34637" y="2332773"/>
            <a:ext cx="4260942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48934" y="2434370"/>
            <a:ext cx="419364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Excel, JSON e XML lidos com o mesmo comando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5579" y="2332773"/>
            <a:ext cx="603413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09876" y="2434370"/>
            <a:ext cx="603776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tabelas</a:t>
            </a:r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na bronze, contagens iguais às da verificação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1981" y="2784802"/>
            <a:ext cx="372656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2886400"/>
            <a:ext cx="149825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34637" y="2784802"/>
            <a:ext cx="4260942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48934" y="2886400"/>
            <a:ext cx="419364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sujeira encontrada antes de virar decisão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5579" y="2784802"/>
            <a:ext cx="603413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509876" y="2886400"/>
            <a:ext cx="603776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</a:t>
            </a:r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achados</a:t>
            </a:r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exemplo 03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1981" y="3236832"/>
            <a:ext cx="372656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338429"/>
            <a:ext cx="149825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34637" y="3236832"/>
            <a:ext cx="4260942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248934" y="3338429"/>
            <a:ext cx="419364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3 ferramentas numa fila só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95579" y="3236832"/>
            <a:ext cx="603413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509876" y="3338429"/>
            <a:ext cx="603776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dos 41 projetos em andamento (exemplo 05)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1981" y="3688861"/>
            <a:ext cx="372656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278" y="3790458"/>
            <a:ext cx="149825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34637" y="3688861"/>
            <a:ext cx="4260942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248934" y="3790458"/>
            <a:ext cx="419364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atraso em dinheiro, e o farol desmentido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95579" y="3688861"/>
            <a:ext cx="603413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509876" y="3790458"/>
            <a:ext cx="603776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</a:t>
            </a:r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estouro e </a:t>
            </a:r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melancias</a:t>
            </a:r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(exemplo 06)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61981" y="4140890"/>
            <a:ext cx="372656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6278" y="4242488"/>
            <a:ext cx="149825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134637" y="4140890"/>
            <a:ext cx="4260942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248934" y="4242488"/>
            <a:ext cx="419364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publicado e o Genie errando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95579" y="4140890"/>
            <a:ext cx="603413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509876" y="4242488"/>
            <a:ext cx="603776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dashboard da bronze e as 4 perguntas no Genie sem curadoria</a:t>
            </a:r>
            <a:endParaRPr lang="en-US" sz="12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10940181" y="6387940"/>
            <a:ext cx="50911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/ 130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SERVERLESS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Serverless: ninguém liga cluster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3802" r="13802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Databricks liga a máquina quando a tarefa começa e desliga no fim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notebook aberto por uma pessoa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7329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690745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tarefa de job e pipeline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3036117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3074216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448857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 o processamento das 4 noites. No Free Edition não há cluster clássico: é só serverless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77189" y="6387940"/>
            <a:ext cx="47062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 / 130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UNITY CATALOG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Unity Catalog: catálogo e schemas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9532" r="9532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endereço de todo dado: 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catálogo.schema.tabela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permissão, dono, comentário e histórico num lugar só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7329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690745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modelo, função e volume também moram aqui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3241792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3279891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654532"/>
            <a:ext cx="3733746" cy="78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lakehouse_vertice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a arquitetura medalhão: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(como chegou),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(limpo e unificado),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(pronto para o dono), e o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 noite 3 (o laboratório do modelo)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48317" y="6387940"/>
            <a:ext cx="50065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/ 130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COMO RODAR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passos,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nesta ordem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337535" cy="1834806"/>
          </a:xfrm>
          <a:prstGeom prst="roundRect">
            <a:avLst>
              <a:gd name="adj" fmla="val 11394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643616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8445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conta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928767" cy="61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 Edition,</a:t>
            </a:r>
            <a:endParaRPr lang="en-US" sz="1200" dirty="0"/>
          </a:p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cartão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88413" y="2309159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09775" y="1582301"/>
            <a:ext cx="1928764" cy="1834806"/>
          </a:xfrm>
          <a:prstGeom prst="roundRect">
            <a:avLst>
              <a:gd name="adj" fmla="val 8306"/>
            </a:avLst>
          </a:prstGeom>
          <a:solidFill>
            <a:srgbClr val="0059DB"/>
          </a:solidFill>
          <a:ln/>
        </p:spPr>
      </p:sp>
      <p:sp>
        <p:nvSpPr>
          <p:cNvPr id="10" name="Shape 8"/>
          <p:cNvSpPr/>
          <p:nvPr/>
        </p:nvSpPr>
        <p:spPr>
          <a:xfrm>
            <a:off x="2732019" y="1779146"/>
            <a:ext cx="85197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20917" y="1817245"/>
            <a:ext cx="7011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catálogo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732019" y="2191886"/>
            <a:ext cx="1543646" cy="61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lakehouse_vertice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+</a:t>
            </a:r>
            <a:endParaRPr lang="en-US" sz="1200" dirty="0"/>
          </a:p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bronze, silver, gold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27437" y="2309159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8798" y="1582301"/>
            <a:ext cx="1337535" cy="1834806"/>
          </a:xfrm>
          <a:prstGeom prst="roundRect">
            <a:avLst>
              <a:gd name="adj" fmla="val 11394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71043" y="1779146"/>
            <a:ext cx="770613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59941" y="1817245"/>
            <a:ext cx="61653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volume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71043" y="2191886"/>
            <a:ext cx="928767" cy="61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bronze.raw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</a:t>
            </a:r>
            <a:endParaRPr lang="en-US" sz="1200" dirty="0"/>
          </a:p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8 pastas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75231" y="2309159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96592" y="1582301"/>
            <a:ext cx="1337535" cy="1834806"/>
          </a:xfrm>
          <a:prstGeom prst="roundRect">
            <a:avLst>
              <a:gd name="adj" fmla="val 11394"/>
            </a:avLst>
          </a:prstGeom>
          <a:solidFill>
            <a:srgbClr val="0059DB"/>
          </a:solidFill>
          <a:ln/>
        </p:spPr>
      </p:sp>
      <p:sp>
        <p:nvSpPr>
          <p:cNvPr id="20" name="Shape 18"/>
          <p:cNvSpPr/>
          <p:nvPr/>
        </p:nvSpPr>
        <p:spPr>
          <a:xfrm>
            <a:off x="6818837" y="1779146"/>
            <a:ext cx="85078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7734" y="1817245"/>
            <a:ext cx="69990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· arquivos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818837" y="2191886"/>
            <a:ext cx="928767" cy="822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zip do Drive,</a:t>
            </a:r>
            <a:endParaRPr lang="en-US" sz="1200" dirty="0"/>
          </a:p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pasta por pasta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023024" y="2309159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344386" y="1582301"/>
            <a:ext cx="1337535" cy="1834806"/>
          </a:xfrm>
          <a:prstGeom prst="roundRect">
            <a:avLst>
              <a:gd name="adj" fmla="val 11394"/>
            </a:avLst>
          </a:prstGeom>
          <a:solidFill>
            <a:srgbClr val="0059DB"/>
          </a:solidFill>
          <a:ln/>
        </p:spPr>
      </p:sp>
      <p:sp>
        <p:nvSpPr>
          <p:cNvPr id="25" name="Shape 23"/>
          <p:cNvSpPr/>
          <p:nvPr/>
        </p:nvSpPr>
        <p:spPr>
          <a:xfrm>
            <a:off x="8566630" y="1779146"/>
            <a:ext cx="54876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55528" y="1817245"/>
            <a:ext cx="38580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· SQL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566630" y="2191886"/>
            <a:ext cx="928767" cy="102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01-ingestao-bronze</a:t>
            </a:r>
            <a:endParaRPr lang="en-US" sz="1200" dirty="0"/>
          </a:p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SQL Editor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70818" y="2309159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092180" y="1582301"/>
            <a:ext cx="1337535" cy="1834806"/>
          </a:xfrm>
          <a:prstGeom prst="roundRect">
            <a:avLst>
              <a:gd name="adj" fmla="val 11394"/>
            </a:avLst>
          </a:prstGeom>
          <a:solidFill>
            <a:srgbClr val="0059D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14424" y="1779146"/>
            <a:ext cx="74838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03322" y="1817245"/>
            <a:ext cx="59341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· confira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14424" y="2191886"/>
            <a:ext cx="928767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tabelas</a:t>
            </a:r>
            <a:endParaRPr lang="en-US" sz="1200" dirty="0"/>
          </a:p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bronze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1981" y="3582203"/>
            <a:ext cx="25399" cy="571486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4377" y="3620302"/>
            <a:ext cx="10935951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3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Primeiro a casa, depois o dado: o catálogo e o volume existem </a:t>
            </a:r>
            <a:pPr algn="l" indent="0" marL="0">
              <a:lnSpc>
                <a:spcPct val="106838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</a:t>
            </a:r>
            <a:pPr algn="l" indent="0" marL="0">
              <a:lnSpc>
                <a:spcPct val="106838"/>
              </a:lnSpc>
              <a:buNone/>
            </a:pPr>
            <a:r>
              <a:rPr lang="en-US" sz="13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qualquer arquivo subir. Tudo pelo navegador, nenhum código até o passo 5.</a:t>
            </a:r>
            <a:endParaRPr lang="en-US" sz="13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0946233" y="6387940"/>
            <a:ext cx="50282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 / 130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PASSO 1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Crie a conta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Free Edition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499654"/>
          </a:xfrm>
          <a:prstGeom prst="roundRect">
            <a:avLst>
              <a:gd name="adj" fmla="val 10162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491121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3258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databricks.com/learn/free-edition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 up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Google ou e-mail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pede cartão, não expira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1095" y="1582301"/>
            <a:ext cx="5238619" cy="1499654"/>
          </a:xfrm>
          <a:prstGeom prst="roundRect">
            <a:avLst>
              <a:gd name="adj" fmla="val 101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3340" y="1779146"/>
            <a:ext cx="123702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2237" y="1817245"/>
            <a:ext cx="110160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você ganha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workspace só seu, tudo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serverless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ninguém liga cluster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Editor, dashboards, Genie, pipelines e apps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já tem conta de agosto? use a mesma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939487" y="6387940"/>
            <a:ext cx="50983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 / 130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PASSO 2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Crie o catálogo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as três camadas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987203"/>
          </a:xfrm>
          <a:prstGeom prst="roundRect">
            <a:avLst>
              <a:gd name="adj" fmla="val 7669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61504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5473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Cliques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menu da esquerda →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Catalog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(ao lado de "Catalog") →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a catalog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lakehouse_vertice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tipo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Standard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storage padrão →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24953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316698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dentro dele,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schema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três vezes: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1095" y="1582301"/>
            <a:ext cx="5238619" cy="2438041"/>
          </a:xfrm>
          <a:prstGeom prst="roundRect">
            <a:avLst>
              <a:gd name="adj" fmla="val 6251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3340" y="1779146"/>
            <a:ext cx="86774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2237" y="1817245"/>
            <a:ext cx="71754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três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dado como chegou, sujeira inclusa (hoje)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limpo e integrado (noite 2)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13340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3835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pronto para o dono (noite 2)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13340" y="2999407"/>
            <a:ext cx="73033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02237" y="3037506"/>
            <a:ext cx="57463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 erro?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13340" y="3412147"/>
            <a:ext cx="4985895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rode 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00-setup-catalogo.sql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SQL Editor: cria o catálogo, os 3 schemas e o volume de uma vez</a:t>
            </a:r>
            <a:endParaRPr lang="en-US" sz="12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0940479" y="6387940"/>
            <a:ext cx="50880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/ 130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VOLUME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Volume: a pasta de arquivos crus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4616" r="4616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pasta governada pelo Unity Catalog para qualquer arquivo: xlsx, json, xml, pdf, csv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lê direto daqui, no formato certo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54244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06227" y="2792343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7329" y="3166983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bronze.raw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as 20 planilhas, os 25 JSON do ClickUp, os 15 XML do Project, os PDFs de contrato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40082" y="6387940"/>
            <a:ext cx="50921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 / 130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INGESTÃO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Ingestion: os conectores prontos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3802" r="13802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61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conectores gerenciados: Salesforce, SQL Server, SharePoint, Google Drive, ServiceNow…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49142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408872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Databricks puxa o dado incremental, sem código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959919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06227" y="2998018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7329" y="3372659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usamos: os arquivos chegam por volume. Na vida real, é aqui que entra o ClickUp de verdade ou o SharePoint do PMO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50500" y="6387940"/>
            <a:ext cx="49838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 / 130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PASSO 3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Crie o volume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as pastas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705329"/>
          </a:xfrm>
          <a:prstGeom prst="roundRect">
            <a:avLst>
              <a:gd name="adj" fmla="val 8936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61504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5473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Cliques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Catalog → lakehouse_vertice → bronze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→ Volume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nome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tipo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dentro do volume,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directory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8 vezes, com estes nomes exatos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1095" y="1582301"/>
            <a:ext cx="5238619" cy="2414527"/>
          </a:xfrm>
          <a:prstGeom prst="roundRect">
            <a:avLst>
              <a:gd name="adj" fmla="val 4734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7940" y="1753747"/>
            <a:ext cx="5045330" cy="207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12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/Volumes/lakehouse_vertice/bronze/raw</a:t>
            </a:r>
            <a:endParaRPr lang="en-US" sz="12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2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pmo/</a:t>
            </a:r>
            <a:endParaRPr lang="en-US" sz="12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2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excel/</a:t>
            </a:r>
            <a:endParaRPr lang="en-US" sz="12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2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clickup/</a:t>
            </a:r>
            <a:endParaRPr lang="en-US" sz="12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2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msproject/</a:t>
            </a:r>
            <a:endParaRPr lang="en-US" sz="12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2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rh/</a:t>
            </a:r>
            <a:endParaRPr lang="en-US" sz="12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2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timesheet/</a:t>
            </a:r>
            <a:endParaRPr lang="en-US" sz="12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2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financeiro/</a:t>
            </a:r>
            <a:endParaRPr lang="en-US" sz="12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2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compras/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1981" y="4123825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377" y="4161924"/>
            <a:ext cx="1093595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nome da pasta importa: o SQL do passo 5 procura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/Volumes/lakehouse_vertice/bronze/raw/excel/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Pasta com outro nome vira tabela com 0 linhas.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940578" y="6387940"/>
            <a:ext cx="50870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 / 130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PASSO 4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Suba os arquivos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pasta por pasta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192878"/>
          </a:xfrm>
          <a:prstGeom prst="roundRect">
            <a:avLst>
              <a:gd name="adj" fmla="val 6950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61504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5473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Cliques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baixe 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dados-vertice.zip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Drive (link no chat) e descompacte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60323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 em cada pasta do volume →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Upload to this volume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96765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885110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selecione todos os arquivos da pasta de mesmo nome de uma vez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45520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3372659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documentos/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(os PDFs) fica para a noite 4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2424"/>
          <a:stretch/>
        </p:blipFill>
        <p:spPr>
          <a:xfrm>
            <a:off x="6191095" y="1582301"/>
            <a:ext cx="5238619" cy="292092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191095" y="4554027"/>
            <a:ext cx="544816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pasta </a:t>
            </a:r>
            <a:pPr algn="l" indent="0" marL="0">
              <a:lnSpc>
                <a:spcPct val="106838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excel/</a:t>
            </a:r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pronta: 20 planilhas, uma por projeto. Ainda é arquivo, não tabela.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40975" y="6387940"/>
            <a:ext cx="50828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 / 130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PASSO 5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Transforme arquivo em tabela: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SQL só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499654"/>
          </a:xfrm>
          <a:prstGeom prst="roundRect">
            <a:avLst>
              <a:gd name="adj" fmla="val 10162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61504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5473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Cliques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abra 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01-ingestao-bronze.sql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GitHub e copie tudo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menu da esquerda →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Editor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nova query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cole e clique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all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(~1 min)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1095" y="1582301"/>
            <a:ext cx="5238619" cy="2082351"/>
          </a:xfrm>
          <a:prstGeom prst="roundRect">
            <a:avLst>
              <a:gd name="adj" fmla="val 5489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7940" y="1753747"/>
            <a:ext cx="5045330" cy="174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um bloco por arquivo; o mesmo comando para</a:t>
            </a:r>
            <a:pPr algn="l" indent="0" marL="0">
              <a:lnSpc>
                <a:spcPct val="123932"/>
              </a:lnSpc>
              <a:buNone/>
            </a:pPr>
            <a:endParaRPr lang="en-US" sz="10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CSV, Excel, JSON e XML</a:t>
            </a:r>
            <a:pPr algn="l" indent="0" marL="0">
              <a:lnSpc>
                <a:spcPct val="123932"/>
              </a:lnSpc>
              <a:buNone/>
            </a:pPr>
            <a:endParaRPr lang="en-US" sz="10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TABLE</a:t>
            </a:r>
            <a:pPr algn="l" indent="0" marL="0">
              <a:lnSpc>
                <a:spcPct val="123932"/>
              </a:lnSpc>
              <a:buNone/>
            </a:pPr>
            <a:endParaRPr lang="en-US" sz="10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lakehouse_vertice.bronze.projetos </a:t>
            </a: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23932"/>
              </a:lnSpc>
              <a:buNone/>
            </a:pPr>
            <a:endParaRPr lang="en-US" sz="10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(_rescued_data)</a:t>
            </a:r>
            <a:endParaRPr lang="en-US" sz="10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read_files(</a:t>
            </a:r>
            <a:endParaRPr lang="en-US" sz="10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'/Volumes/lakehouse_vertice/bronze/raw/pmo/projetos.csv'</a:t>
            </a: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format =&gt; </a:t>
            </a: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'csv'</a:t>
            </a:r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header =&gt; true,</a:t>
            </a:r>
            <a:endParaRPr lang="en-US" sz="10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inferColumnTypes =&gt; false);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1981" y="3804349"/>
            <a:ext cx="25399" cy="520687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377" y="3842448"/>
            <a:ext cx="10935951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inferColumnTypes =&gt; false</a:t>
            </a:r>
            <a:pPr algn="l" indent="0" marL="0">
              <a:lnSpc>
                <a:spcPct val="106838"/>
              </a:lnSpc>
              <a:buNone/>
            </a:pPr>
            <a:r>
              <a:rPr lang="en-US" sz="12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tudo entra como texto, para a sujeira aparecer. </a:t>
            </a:r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_rescued_data</a:t>
            </a:r>
            <a:pPr algn="l" indent="0" marL="0">
              <a:lnSpc>
                <a:spcPct val="106838"/>
              </a:lnSpc>
              <a:buNone/>
            </a:pPr>
            <a:r>
              <a:rPr lang="en-US" sz="12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 coluna "rede de segurança" que o read_files cria sozinho; o que não cabe nas colunas cai ali em vez de sumir. Nos nossos arquivos vem vazia, então o </a:t>
            </a:r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EXCEPT</a:t>
            </a:r>
            <a:pPr algn="l" indent="0" marL="0">
              <a:lnSpc>
                <a:spcPct val="106838"/>
              </a:lnSpc>
              <a:buNone/>
            </a:pPr>
            <a:r>
              <a:rPr lang="en-US" sz="12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tira.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933534" y="6387940"/>
            <a:ext cx="51602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/ 130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PASSO 6 DE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Confira: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tabelas na bronze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886102"/>
          </a:xfrm>
          <a:prstGeom prst="roundRect">
            <a:avLst>
              <a:gd name="adj" fmla="val 5280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15928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47162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tem que aparecer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última query do passo 5 lista as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tabelas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as linhas de cada uma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60323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Catalog → bronze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as tabelas ao lado do volume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96765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885110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clique numa tabela → aba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Sample Data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olhe o dado antes de fazer conta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45520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3372659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alguma com 0 linhas? o arquivo está na pasta errada (volte ao passo 4)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4225" y="394275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4721" y="3860207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 do exemplo 05, 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99-verificacao.sql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confere tudo: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de 18 ok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rcRect l="11683" r="11683" t="0" b="0"/>
          <a:stretch/>
        </p:blipFill>
        <p:spPr>
          <a:xfrm>
            <a:off x="6191095" y="1582301"/>
            <a:ext cx="5238619" cy="2920927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970442" y="6387940"/>
            <a:ext cx="47764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 / 130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TABELAS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Schema e tabelas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6063" r="16063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 Delta: arquivo no storage com transação, versão e schema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aba mostra dono, amostra, histórico, permissão e lineage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54244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06227" y="2792343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7329" y="3166983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1: 9 tabelas na bronze, uma por fonte, mais o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rascunho_tarefas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(a view que junta as 3 ferramentas à mão)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41570" y="6387940"/>
            <a:ext cx="50767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42 / 130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EXEMPLO 00 · TIME TRAVEL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Errei a tabela.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Volta no tempo.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282372" cy="1325132"/>
          </a:xfrm>
          <a:prstGeom prst="roundRect">
            <a:avLst>
              <a:gd name="adj" fmla="val 11500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67675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51891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versão 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2951398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522078"/>
            <a:ext cx="2951398" cy="188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· R$ 305,2 mi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33251" y="2054372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54612" y="1582301"/>
            <a:ext cx="3282471" cy="1325132"/>
          </a:xfrm>
          <a:prstGeom prst="roundRect">
            <a:avLst>
              <a:gd name="adj" fmla="val 11500"/>
            </a:avLst>
          </a:prstGeom>
          <a:solidFill>
            <a:srgbClr val="1E1E24"/>
          </a:solidFill>
          <a:ln w="6350">
            <a:solidFill>
              <a:srgbClr val="E548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6857" y="1779146"/>
            <a:ext cx="106548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65754" y="1817245"/>
            <a:ext cx="9231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versão 1 · o erro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76857" y="2115688"/>
            <a:ext cx="2951501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61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676857" y="2522078"/>
            <a:ext cx="2951501" cy="188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PRJ-021 duplicado · R$ 318,8 mi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825981" y="2054372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47342" y="1582301"/>
            <a:ext cx="3282372" cy="1325132"/>
          </a:xfrm>
          <a:prstGeom prst="roundRect">
            <a:avLst>
              <a:gd name="adj" fmla="val 11500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9587" y="1779146"/>
            <a:ext cx="124724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58485" y="1817245"/>
            <a:ext cx="111223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versão 2 · RESTORE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369587" y="2115688"/>
            <a:ext cx="2951398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369587" y="2522078"/>
            <a:ext cx="2951398" cy="188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0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volta · R$ 305,2 mi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1981" y="3072529"/>
            <a:ext cx="10667733" cy="1962895"/>
          </a:xfrm>
          <a:prstGeom prst="roundRect">
            <a:avLst>
              <a:gd name="adj" fmla="val 5823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8826" y="3243975"/>
            <a:ext cx="10691609" cy="1626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 histórico: cada mudança vira uma versão</a:t>
            </a:r>
            <a:pPr algn="l" indent="0" marL="0">
              <a:lnSpc>
                <a:spcPct val="123932"/>
              </a:lnSpc>
              <a:buNone/>
            </a:pPr>
            <a:endParaRPr lang="en-US" sz="110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HISTORY</a:t>
            </a: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lakehouse_vertice.bronze.projetos_copia;</a:t>
            </a:r>
            <a:endParaRPr lang="en-US" sz="1100" dirty="0"/>
          </a:p>
          <a:p>
            <a:pPr algn="l" indent="0" marL="0">
              <a:lnSpc>
                <a:spcPct val="123932"/>
              </a:lnSpc>
              <a:buNone/>
            </a:pPr>
            <a:endParaRPr lang="en-US" sz="110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olhar a tabela como era antes do erro (sem mudar nada)</a:t>
            </a:r>
            <a:pPr algn="l" indent="0" marL="0">
              <a:lnSpc>
                <a:spcPct val="123932"/>
              </a:lnSpc>
              <a:buNone/>
            </a:pPr>
            <a:endParaRPr lang="en-US" sz="110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COUNT(*) </a:t>
            </a: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lakehouse_vertice.bronze.projetos_copia </a:t>
            </a: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AS OF</a:t>
            </a: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0;</a:t>
            </a:r>
            <a:endParaRPr lang="en-US" sz="1100" dirty="0"/>
          </a:p>
          <a:p>
            <a:pPr algn="l" indent="0" marL="0">
              <a:lnSpc>
                <a:spcPct val="123932"/>
              </a:lnSpc>
              <a:buNone/>
            </a:pPr>
            <a:endParaRPr lang="en-US" sz="110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voltar de verdade</a:t>
            </a:r>
            <a:pPr algn="l" indent="0" marL="0">
              <a:lnSpc>
                <a:spcPct val="123932"/>
              </a:lnSpc>
              <a:buNone/>
            </a:pPr>
            <a:endParaRPr lang="en-US" sz="110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 TABLE</a:t>
            </a: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lakehouse_vertice.bronze.projetos_copia </a:t>
            </a: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VERSION AS OF</a:t>
            </a:r>
            <a:pPr algn="l" indent="0" marL="0">
              <a:lnSpc>
                <a:spcPct val="123932"/>
              </a:lnSpc>
              <a:buNone/>
            </a:pPr>
            <a:r>
              <a:rPr lang="en-US" sz="11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1981" y="5162421"/>
            <a:ext cx="25399" cy="520687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377" y="5200520"/>
            <a:ext cx="10935951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Numa </a:t>
            </a:r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cópia</a:t>
            </a:r>
            <a:pPr algn="l" indent="0" marL="0">
              <a:lnSpc>
                <a:spcPct val="106838"/>
              </a:lnSpc>
              <a:buNone/>
            </a:pPr>
            <a:r>
              <a:rPr lang="en-US" sz="12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cadastro, para não mexer na bronze. Rode bloco a bloco: </a:t>
            </a:r>
            <a:pPr algn="l" indent="0" marL="0">
              <a:lnSpc>
                <a:spcPct val="10683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exemplo-00-time-travel.sql</a:t>
            </a:r>
            <a:pPr algn="l" indent="0" marL="0">
              <a:lnSpc>
                <a:spcPct val="106838"/>
              </a:lnSpc>
              <a:buNone/>
            </a:pPr>
            <a:r>
              <a:rPr lang="en-US" sz="12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O próprio RESTORE vira a versão 2: voltar no tempo também fica registrado.</a:t>
            </a:r>
            <a:endParaRPr lang="en-US" sz="12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939487" y="6387940"/>
            <a:ext cx="50983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 / 130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A BRONZE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8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tabelas,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pergunta do dono por trás de cada uma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2015281"/>
            <a:ext cx="307759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064097" y="2015281"/>
            <a:ext cx="116433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12248" y="2015281"/>
            <a:ext cx="140073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987703" y="2015281"/>
            <a:ext cx="450082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 PARA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981" y="2313723"/>
            <a:ext cx="318781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6278" y="2415321"/>
            <a:ext cx="30775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· status_semanal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49800" y="2313723"/>
            <a:ext cx="134815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64097" y="2415321"/>
            <a:ext cx="116433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· 3.911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97950" y="2313723"/>
            <a:ext cx="157545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12248" y="2415321"/>
            <a:ext cx="140073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PMO (CSV)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73406" y="2313723"/>
            <a:ext cx="455630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87703" y="2415321"/>
            <a:ext cx="450082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cadastro e o farol de toda sexta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1981" y="2749283"/>
            <a:ext cx="3187819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6278" y="2850880"/>
            <a:ext cx="30775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excel_tarefas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49800" y="2749283"/>
            <a:ext cx="1348151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064097" y="2850880"/>
            <a:ext cx="116433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1.663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97950" y="2749283"/>
            <a:ext cx="1575455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12248" y="2850880"/>
            <a:ext cx="140073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planilhas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73406" y="2749283"/>
            <a:ext cx="4556309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87703" y="2850880"/>
            <a:ext cx="450082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1: quem atrasa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1981" y="3184842"/>
            <a:ext cx="3187819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278" y="3286440"/>
            <a:ext cx="30775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clickup_tarefas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49800" y="3184842"/>
            <a:ext cx="1348151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064097" y="3286440"/>
            <a:ext cx="116433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2.119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97950" y="3184842"/>
            <a:ext cx="1575455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12248" y="3286440"/>
            <a:ext cx="140073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JSON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73406" y="3184842"/>
            <a:ext cx="4556309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87703" y="3286440"/>
            <a:ext cx="450082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1: quem atrasa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1981" y="3620402"/>
            <a:ext cx="3187819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6278" y="3721999"/>
            <a:ext cx="30775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msproject_tarefas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49800" y="3620402"/>
            <a:ext cx="1348151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064097" y="3721999"/>
            <a:ext cx="116433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1.260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97950" y="3620402"/>
            <a:ext cx="1575455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12248" y="3721999"/>
            <a:ext cx="140073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XML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73406" y="3620402"/>
            <a:ext cx="4556309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987703" y="3721999"/>
            <a:ext cx="450082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1: quem atrasa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1981" y="4055961"/>
            <a:ext cx="318781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6278" y="4157559"/>
            <a:ext cx="30775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9800" y="4055961"/>
            <a:ext cx="134815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064097" y="4157559"/>
            <a:ext cx="116433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23.640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97950" y="4055961"/>
            <a:ext cx="157545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412248" y="4157559"/>
            <a:ext cx="140073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financeiro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73406" y="4055961"/>
            <a:ext cx="455630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987703" y="4157559"/>
            <a:ext cx="450082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2: quanto custa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61981" y="4491521"/>
            <a:ext cx="318781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76278" y="4593118"/>
            <a:ext cx="30775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colaboradores · apontamentos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949800" y="4491521"/>
            <a:ext cx="134815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064097" y="4593118"/>
            <a:ext cx="116433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523 · 30.883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297950" y="4491521"/>
            <a:ext cx="157545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412248" y="4593118"/>
            <a:ext cx="140073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RH · timesheet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73406" y="4491521"/>
            <a:ext cx="455630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987703" y="4593118"/>
            <a:ext cx="450082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3: gente parada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61981" y="4927080"/>
            <a:ext cx="318781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76278" y="5028677"/>
            <a:ext cx="307759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entregas_fornecedor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949800" y="4927080"/>
            <a:ext cx="134815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064097" y="5028677"/>
            <a:ext cx="116433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297950" y="4927080"/>
            <a:ext cx="157545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5412248" y="5028677"/>
            <a:ext cx="140073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73406" y="4927080"/>
            <a:ext cx="455630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987703" y="5028677"/>
            <a:ext cx="450082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consultoria que atrasa (e a multa da noite 4)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61981" y="5451537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14377" y="5489636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 entra como texto (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inferColumnTypes =&gt; false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 no CSV e no Excel: se o Databricks adivinhasse o tipo, a sujeira sumiria antes de a gente ver.</a:t>
            </a:r>
            <a:endParaRPr lang="en-US" sz="1100" dirty="0"/>
          </a:p>
        </p:txBody>
      </p:sp>
      <p:pic>
        <p:nvPicPr>
          <p:cNvPr id="6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67" name="Text 64"/>
          <p:cNvSpPr txBox="1"/>
          <p:nvPr/>
        </p:nvSpPr>
        <p:spPr>
          <a:xfrm>
            <a:off x="10932740" y="6387940"/>
            <a:ext cx="51685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44 / 130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 · 1 DE 9 · BRONZE.PROJETOS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8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cadastro do PMO: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qual ferramenta cada projeto vive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2015281"/>
            <a:ext cx="5238619" cy="2398553"/>
          </a:xfrm>
          <a:prstGeom prst="roundRect">
            <a:avLst>
              <a:gd name="adj" fmla="val 63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221212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225022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63121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54866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linhas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uma por projeto (41 em andamento, 19 concluídos)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311876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3036216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cliente, segmento, tipo, valor do contrato, orçamento, início, fim previsto, gerente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360631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352376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ferramenta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codigo_ferramenta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 chave para achar o cronograma no Excel, no ClickUp ou no Project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4093862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4011314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carteira de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R$ 305,2 mi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(R$ 208,6 mi em andamento)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1095" y="2015281"/>
            <a:ext cx="5238619" cy="2398553"/>
          </a:xfrm>
          <a:prstGeom prst="roundRect">
            <a:avLst>
              <a:gd name="adj" fmla="val 6354"/>
            </a:avLst>
          </a:prstGeom>
          <a:solidFill>
            <a:srgbClr val="0059D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13340" y="2212126"/>
            <a:ext cx="682509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2237" y="2250225"/>
            <a:ext cx="52490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sujeira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13340" y="263121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54866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data_inicio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em 2 formatos: 2025-03-14 e 14/03/2025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291308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2830541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ferramenta escrita de 8 jeitos: Excel, excel, Planilha, ClickUp, click up, Project…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13340" y="340063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3835" y="331809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projetos sem código da ferramenta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981" y="4578930"/>
            <a:ext cx="10667733" cy="692728"/>
          </a:xfrm>
          <a:prstGeom prst="roundRect">
            <a:avLst>
              <a:gd name="adj" fmla="val 16500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8826" y="4750376"/>
            <a:ext cx="10691609" cy="356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projeto_id | cliente              | ferramenta | codigo_ferramenta                          | valor_contrato | data_inicio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PRJ-001    | Fintech Pagar Fácil  | MS Project | PRJ-001_migracao_do_mainframe_para_clo.xml | 7957000.00     | 14/03/2025</a:t>
            </a:r>
            <a:endParaRPr lang="en-US" sz="9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0933732" y="6387940"/>
            <a:ext cx="51582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 / 130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 · 2 DE 9 · BRONZE.STATUS_SEMANAL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sexta, o gerente escreve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aconteceu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911005"/>
          </a:xfrm>
          <a:prstGeom prst="roundRect">
            <a:avLst>
              <a:gd name="adj" fmla="val 797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3.911 linhas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projeto × sexta-feira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 (verde, amarelo, vermelho), % concluído 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texto livre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entregas e bloqueios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96765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885110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 o único histórico de avanço que existe: as ferramentas só guardam o % de hoje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1095" y="1582301"/>
            <a:ext cx="5238619" cy="1911005"/>
          </a:xfrm>
          <a:prstGeom prst="roundRect">
            <a:avLst>
              <a:gd name="adj" fmla="val 7975"/>
            </a:avLst>
          </a:prstGeom>
          <a:solidFill>
            <a:srgbClr val="0059D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13340" y="1779146"/>
            <a:ext cx="682509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2237" y="1817245"/>
            <a:ext cx="52490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sujeira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farol é do gerente, e gerente é otimista: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verdes hoje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 escrito Verde, VERDE, verde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 vazio, "N/A", "ver ata da reunião", texto em CAIXA ALTA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1981" y="3658402"/>
            <a:ext cx="10667733" cy="692728"/>
          </a:xfrm>
          <a:prstGeom prst="roundRect">
            <a:avLst>
              <a:gd name="adj" fmla="val 16500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8826" y="3829847"/>
            <a:ext cx="10691609" cy="356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PRJ-011 · 2026-10-16 · amarelo · "Bloqueios: Sem SRE alocado: pipeline de deploy quebrado e ninguém para corrigir. Impacto estimado: 1 semana."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1981" y="4465427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4503526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noite 2, a IA lê esse texto e devolve a causa como coluna (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gold.status_estruturado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0933335" y="6387940"/>
            <a:ext cx="51623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46 / 130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 · 3 DE 9 · BRONZE.EXCEL_TAREFAS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planilhas,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gerente do seu jeito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3964"/>
          <a:stretch/>
        </p:blipFill>
        <p:spPr>
          <a:xfrm>
            <a:off x="761981" y="1582301"/>
            <a:ext cx="5238619" cy="38099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1095" y="1582301"/>
            <a:ext cx="5238619" cy="2963689"/>
          </a:xfrm>
          <a:prstGeom prst="roundRect">
            <a:avLst>
              <a:gd name="adj" fmla="val 514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13340" y="177914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02237" y="181724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1.663 linhas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uma por linha de planilha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03835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read_files aponta para a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pasta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lê as 20 de uma vez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13340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03835" y="267943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colunas renomeadas ("% Concluído" → pct_concluido), valor intocado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13340" y="3243181"/>
            <a:ext cx="68250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02237" y="3281280"/>
            <a:ext cx="52490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sujeira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13340" y="36622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03835" y="357972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como texto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número de série (45700 = 13/02/2025)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13340" y="39441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03835" y="386159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como "45%" ou 0.45, e 11 tarefas acima de 100%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13340" y="422601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03835" y="414347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 de TOTAL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fim que soma tudo de novo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943753" y="6387940"/>
            <a:ext cx="50540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47 / 130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 · 4 DE 9 · BRONZE.CLICKUP_TAREFAS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exports da API,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lista dentro de lista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4080"/>
          <a:stretch/>
        </p:blipFill>
        <p:spPr>
          <a:xfrm>
            <a:off x="761981" y="1582301"/>
            <a:ext cx="5238619" cy="38099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1095" y="1582301"/>
            <a:ext cx="5238619" cy="2887491"/>
          </a:xfrm>
          <a:prstGeom prst="roundRect">
            <a:avLst>
              <a:gd name="adj" fmla="val 527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13340" y="177914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02237" y="181724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03835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2.119 linhas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cada arquivo é uma lista (um projeto),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explode()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abre uma linha por tarefa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13340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03835" y="2603236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JSON a gente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deixa inferir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 tipo: é o que mantém a estrutura aninhada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13340" y="3166983"/>
            <a:ext cx="68250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02237" y="3205082"/>
            <a:ext cx="52490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sujeira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13340" y="358607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03835" y="350352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 em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milissegundos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desde 1970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13340" y="386794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03835" y="378539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 escrito de 12 jeitos (to do, Em andamento, DONE…)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13340" y="414982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03835" y="4067272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% e a baseline escondidos numa lista de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custom_fields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933831" y="6387940"/>
            <a:ext cx="51571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 / 130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 · 5 DE 9 · BRONZE.MSPROJECT_TAREFAS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cronogramas do Project,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&lt;Task&gt; por linha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4080"/>
          <a:stretch/>
        </p:blipFill>
        <p:spPr>
          <a:xfrm>
            <a:off x="761981" y="1582301"/>
            <a:ext cx="5238619" cy="38099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1095" y="1582301"/>
            <a:ext cx="5238619" cy="2887491"/>
          </a:xfrm>
          <a:prstGeom prst="roundRect">
            <a:avLst>
              <a:gd name="adj" fmla="val 527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13340" y="177914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02237" y="181724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03835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1.260 linhas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rowTag =&gt; 'Task'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cada &lt;Task&gt; vira uma linha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13340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03835" y="260323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baseline, início e fim reais e % concluído, tudo aninhado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13340" y="2961308"/>
            <a:ext cx="68250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02237" y="2999407"/>
            <a:ext cx="52490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sujeira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13340" y="338039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03835" y="329785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horas no formato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PT40H0M0S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13340" y="36622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03835" y="3579723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105 tarefas-resumo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(fases e o projeto inteiro) que somam as de baixo: contar tudo dobra as horas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13340" y="414982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03835" y="4067272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fase está na tarefa de cima, não na própria tarefa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934228" y="6387940"/>
            <a:ext cx="51530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49 / 130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 · 6 DE 9 · BRONZE.COLABORADORES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520 pessoas: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papel, custo e quem saiu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705329"/>
          </a:xfrm>
          <a:prstGeom prst="roundRect">
            <a:avLst>
              <a:gd name="adj" fmla="val 893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523 linhas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RH (deviam ser 520)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papel (dev, qa, sre, tech_lead…), senioridade,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custo/hora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admissão 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desligamento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mostra os squads com rotatividade (PRJ-016 e PRJ-030)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1095" y="1582301"/>
            <a:ext cx="5238619" cy="1705329"/>
          </a:xfrm>
          <a:prstGeom prst="roundRect">
            <a:avLst>
              <a:gd name="adj" fmla="val 8936"/>
            </a:avLst>
          </a:prstGeom>
          <a:solidFill>
            <a:srgbClr val="0059D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13340" y="1779146"/>
            <a:ext cx="682509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2237" y="1817245"/>
            <a:ext cx="52490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sujeira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3835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pessoas duplicadas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mesmo id, nome e papel em CAIXA ALTA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13340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60323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DISTINCT não resolve, porque as linhas são diferentes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1981" y="3452726"/>
            <a:ext cx="10667733" cy="711182"/>
          </a:xfrm>
          <a:prstGeom prst="roundRect">
            <a:avLst>
              <a:gd name="adj" fmla="val 16071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8826" y="3624172"/>
            <a:ext cx="10691609" cy="37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colaborador_id | nome            | papel     | senioridade | custo_hora | data_admissao | data_desligamento</a:t>
            </a: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COL0001        | Débora Pacheco  | tech_lead | pleno       | 155.47     | 2024-04-29    |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934526" y="6387940"/>
            <a:ext cx="51499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 / 130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 · 7 DE 9 · BRONZE.APONTAMENTOS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timesheet: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horas disponíveis × apontadas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911005"/>
          </a:xfrm>
          <a:prstGeom prst="roundRect">
            <a:avLst>
              <a:gd name="adj" fmla="val 797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30.883 linhas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pessoa × projeto × semana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 quem diz onde cada pessoa está: dá para saber o squad de cada projeto sem outra planilha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96765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88511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ociosidade = disponível − apontado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1095" y="1582301"/>
            <a:ext cx="5238619" cy="1911005"/>
          </a:xfrm>
          <a:prstGeom prst="roundRect">
            <a:avLst>
              <a:gd name="adj" fmla="val 7975"/>
            </a:avLst>
          </a:prstGeom>
          <a:solidFill>
            <a:srgbClr val="0059D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13340" y="1779146"/>
            <a:ext cx="137077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2237" y="1817245"/>
            <a:ext cx="12406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história escondida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3835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SREs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COL0017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COL0018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apontam de 2% a 9% no PRJ-007, que ainda está no discovery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13340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603236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enquanto isso, o PRJ-011 reclama de falta de SRE há 12 semanas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317333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309078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apontar mais que o disponível é hora extra: legítimo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1981" y="3658402"/>
            <a:ext cx="10667733" cy="711182"/>
          </a:xfrm>
          <a:prstGeom prst="roundRect">
            <a:avLst>
              <a:gd name="adj" fmla="val 16071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8826" y="3829847"/>
            <a:ext cx="10691609" cy="37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colaborador_id | projeto_id | semana_inicio | horas_disponiveis | horas_apontadas</a:t>
            </a: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COL0017        | PRJ-007    | 2026-10-12    | 40.0              | 2.4</a:t>
            </a:r>
            <a:endParaRPr lang="en-US" sz="10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0971434" y="6387940"/>
            <a:ext cx="47661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51 / 130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 · 8 DE 9 · BRONZE.CUSTOS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real gasto,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lançamento por lançamento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705329"/>
          </a:xfrm>
          <a:prstGeom prst="roundRect">
            <a:avLst>
              <a:gd name="adj" fmla="val 893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23.640 lançamentos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pessoal, consultoria, cloud, licenças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 real total de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R$ 193,35 mi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 o CPI, diz se cada real gasto entregou um real de trabalho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1095" y="1582301"/>
            <a:ext cx="5238619" cy="1705329"/>
          </a:xfrm>
          <a:prstGeom prst="roundRect">
            <a:avLst>
              <a:gd name="adj" fmla="val 8936"/>
            </a:avLst>
          </a:prstGeom>
          <a:solidFill>
            <a:srgbClr val="0059D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13340" y="1779146"/>
            <a:ext cx="682509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2237" y="1817245"/>
            <a:ext cx="52490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sujeira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671 valores com vírgula decimal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(1245,78)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397561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try_cast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ingênuo transforma em nulo e some com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R$ 5,41 mi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(dá R$ 187,94 mi)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296765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288511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estornos negativos, que são legítimos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1981" y="3452726"/>
            <a:ext cx="10667733" cy="711182"/>
          </a:xfrm>
          <a:prstGeom prst="roundRect">
            <a:avLst>
              <a:gd name="adj" fmla="val 16071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8826" y="3624172"/>
            <a:ext cx="10691609" cy="37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lancamento_id | projeto_id | data       | categoria | descricao                                 | valor</a:t>
            </a: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L0000001      | PRJ-001    | 2025-01-10 | pessoal   | Folha alocada PRJ-001 semana 2025-01-06   | 1245.78</a:t>
            </a:r>
            <a:endParaRPr lang="en-US" sz="10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0942662" y="6387940"/>
            <a:ext cx="50653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 / 130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 · 9 DE 9 · BRONZE.ENTREGAS_FORNECEDOR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 consultoria prometeu,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quando entregou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398553"/>
          </a:xfrm>
          <a:prstGeom prst="roundRect">
            <a:avLst>
              <a:gd name="adj" fmla="val 63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fornecedor = consultoria subcontratada pela Vértice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aqui a Vértice é a contratante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603236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640 entregas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5 fornecedores: pedido, prometido, entregue, valor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317333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309078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prazo real ÷ prometido mostra quem cumpre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45520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3372659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noite 4 vira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multa que a Vértice cobra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cruzando com o contrato em PDF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1095" y="1582301"/>
            <a:ext cx="5238619" cy="2398553"/>
          </a:xfrm>
          <a:prstGeom prst="roundRect">
            <a:avLst>
              <a:gd name="adj" fmla="val 6354"/>
            </a:avLst>
          </a:prstGeom>
          <a:solidFill>
            <a:srgbClr val="0059D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13340" y="1779146"/>
            <a:ext cx="137077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2237" y="1817245"/>
            <a:ext cx="12406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história escondida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CodeForge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entrega com prazo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×1,41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0% no prazo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2397561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vem escrita de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jeitos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sem normalizar, vira 4 fornecedores medianos e some do ranking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13340" y="296765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3835" y="288511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entregas em atraso hoje, todas dela</a:t>
            </a:r>
            <a:endParaRPr lang="en-US" sz="12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0940479" y="6387940"/>
            <a:ext cx="50880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53 / 130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A BRONZE PRONTA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9 tabelas no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Catalog Explorer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2488"/>
          <a:stretch/>
        </p:blipFill>
        <p:spPr>
          <a:xfrm>
            <a:off x="761981" y="1455304"/>
            <a:ext cx="10667733" cy="444488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981" y="5963692"/>
            <a:ext cx="1109444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São 10 itens porque o exemplo 05 cria a view </a:t>
            </a:r>
            <a:pPr algn="l" indent="0" marL="0">
              <a:lnSpc>
                <a:spcPct val="106838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rascunho_tarefas</a:t>
            </a:r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Logo depois da ingestão você vê 9.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33732" y="6387940"/>
            <a:ext cx="51582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54 / 130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ANTES DE FAZER CONTA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histórias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escondidas no dado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114948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215399" y="1582301"/>
            <a:ext cx="655038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HISTÓRIA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42441" y="1582301"/>
            <a:ext cx="1719370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APARECE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624276" y="1582301"/>
            <a:ext cx="1758787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QUANDO A GENTE EXPLICA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981" y="2052189"/>
            <a:ext cx="339121" cy="5827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6278" y="2153787"/>
            <a:ext cx="114948" cy="37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01102" y="2052189"/>
            <a:ext cx="6527042" cy="5827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15399" y="2153787"/>
            <a:ext cx="6550385" cy="37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CPI caindo a partir do 6º mês</a:t>
            </a:r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cliente pede mais, o time faz, ninguém cobra o aditivo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28144" y="2052189"/>
            <a:ext cx="1881835" cy="5827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42441" y="2153787"/>
            <a:ext cx="1719370" cy="37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projetos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509979" y="2052189"/>
            <a:ext cx="1919736" cy="5827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24276" y="2153787"/>
            <a:ext cx="1758787" cy="37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(sintoma) · 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2685784"/>
            <a:ext cx="339121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6278" y="2787382"/>
            <a:ext cx="114948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101102" y="2685784"/>
            <a:ext cx="6527042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15399" y="2787382"/>
            <a:ext cx="6550385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 freeze da Black Friday</a:t>
            </a:r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(01/11 a 10/01) trava os projetos de e-commerce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28144" y="2685784"/>
            <a:ext cx="1881835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42441" y="2787382"/>
            <a:ext cx="1719370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PRJ-003, 011, 024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09979" y="2685784"/>
            <a:ext cx="1919736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24276" y="2787382"/>
            <a:ext cx="175878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1981" y="3129579"/>
            <a:ext cx="339121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278" y="3231176"/>
            <a:ext cx="114948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101102" y="3129579"/>
            <a:ext cx="6527042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215399" y="3231176"/>
            <a:ext cx="6550385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consultoria </a:t>
            </a:r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CodeForge</a:t>
            </a:r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entrega 41% depois do prometido, escrita de 4 jeitos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28144" y="3129579"/>
            <a:ext cx="1881835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42441" y="3231176"/>
            <a:ext cx="1719370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entregas_fornecedor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509979" y="3129579"/>
            <a:ext cx="1919736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24276" y="3231176"/>
            <a:ext cx="175878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4 (a multa)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1981" y="3573373"/>
            <a:ext cx="339121" cy="5827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6278" y="3674971"/>
            <a:ext cx="114948" cy="37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101102" y="3573373"/>
            <a:ext cx="6527042" cy="5827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215399" y="3674971"/>
            <a:ext cx="6550385" cy="37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Dois SREs quase parados</a:t>
            </a:r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PRJ-007 enquanto o PRJ-011 pede SRE toda semana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628144" y="3573373"/>
            <a:ext cx="1881835" cy="5827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42441" y="3674971"/>
            <a:ext cx="1719370" cy="37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apontamentos · status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509979" y="3573373"/>
            <a:ext cx="1919736" cy="5827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24276" y="3674971"/>
            <a:ext cx="1758787" cy="37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61981" y="4206968"/>
            <a:ext cx="339121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6278" y="4308566"/>
            <a:ext cx="114948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101102" y="4206968"/>
            <a:ext cx="6527042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215399" y="4308566"/>
            <a:ext cx="6550385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Rotatividade alta</a:t>
            </a:r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nos dois piores SPI da carteira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628144" y="4206968"/>
            <a:ext cx="1881835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742441" y="4308566"/>
            <a:ext cx="1719370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PRJ-016, 030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509979" y="4206968"/>
            <a:ext cx="1919736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624276" y="4308566"/>
            <a:ext cx="175878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(sintoma) · 2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61981" y="4739660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14377" y="4777759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 você vê os sintomas: atraso, estouro e o farol que não bate. As causas aparecem nas próximas noites.</a:t>
            </a:r>
            <a:endParaRPr lang="en-US" sz="1100" dirty="0"/>
          </a:p>
        </p:txBody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10934724" y="6387940"/>
            <a:ext cx="51479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55 / 130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SQL WAREHOUSE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Warehouse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0085" r="10085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motor que responde SQL: editor, dashboard, Genie, app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Free Edition dá um: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Serverless Starter Warehouse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2X-Small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7329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690745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dorme sozinho quando ninguém pergunta nada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3241792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3279891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654532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mesmo warehouse serve as 4 noites e o app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farol-torre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34427" y="6387940"/>
            <a:ext cx="51509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56 / 130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SQL EDITOR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Editor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321909"/>
            <a:ext cx="6455308" cy="17846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escreve, roda, vê a tabela, baixa, vira gráfico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08006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1997521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assistente gera e explica SQL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36194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279395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escolhe o compute no canto: warehouse ou Lakebase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2830442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2868541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243181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inteira: os 6 exemplos. Aqui, o topo de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gold.score_estouro_30d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os motivos de cada projeto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44745" y="6387940"/>
            <a:ext cx="50436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 / 130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OS 6 EXEMPLOS SQL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queries: do primeiro SELECT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resposta do dono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201159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039094" y="1582301"/>
            <a:ext cx="263812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CONCEITO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04350" y="1582301"/>
            <a:ext cx="62530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QUERIES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34195" y="1582301"/>
            <a:ext cx="48684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MOSTRA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981" y="1880744"/>
            <a:ext cx="216281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6278" y="1982341"/>
            <a:ext cx="201159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· SELECT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4796" y="1880744"/>
            <a:ext cx="276525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39094" y="1982341"/>
            <a:ext cx="263812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SELECT, FROM, LIMIT, 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90053" y="1880744"/>
            <a:ext cx="82984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04350" y="1982341"/>
            <a:ext cx="62530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19898" y="1880744"/>
            <a:ext cx="490981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34195" y="1982341"/>
            <a:ext cx="486847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olhar o cadastro: 60 projetos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1981" y="2316303"/>
            <a:ext cx="216281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6278" y="2417900"/>
            <a:ext cx="201159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· ORDER BY e DISTINCT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4796" y="2316303"/>
            <a:ext cx="276525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039094" y="2417900"/>
            <a:ext cx="263812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BY, CAST, DISTINCT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90053" y="2316303"/>
            <a:ext cx="82984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04350" y="2417900"/>
            <a:ext cx="62530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19898" y="2316303"/>
            <a:ext cx="490981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34195" y="2417900"/>
            <a:ext cx="486847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maior contrato é o PRJ-017; a ferramenta escrita de 8 jeitos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1981" y="2751862"/>
            <a:ext cx="216281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278" y="2853460"/>
            <a:ext cx="201159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WHERE e a sujeira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4796" y="2751862"/>
            <a:ext cx="276525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039094" y="2853460"/>
            <a:ext cx="263812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WHERE, LIKE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90053" y="2751862"/>
            <a:ext cx="82984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804350" y="2853460"/>
            <a:ext cx="62530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19898" y="2751862"/>
            <a:ext cx="490981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34195" y="2853460"/>
            <a:ext cx="486847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em 2 formatos, linha de TOTAL, 671 custos com vírgula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1981" y="3187422"/>
            <a:ext cx="216281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6278" y="3289019"/>
            <a:ext cx="201159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· GROUP BY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4796" y="3187422"/>
            <a:ext cx="276525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039094" y="3289019"/>
            <a:ext cx="263812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 BY, SUM, replace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90053" y="3187422"/>
            <a:ext cx="82984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804350" y="3289019"/>
            <a:ext cx="62530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19898" y="3187422"/>
            <a:ext cx="490981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34195" y="3289019"/>
            <a:ext cx="486847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erro da vírgula; R$ 117,8 mi em gente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1981" y="3622981"/>
            <a:ext cx="2162815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6278" y="3724579"/>
            <a:ext cx="201159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· UNION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924796" y="3622981"/>
            <a:ext cx="276525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039094" y="3724579"/>
            <a:ext cx="263812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UNION ALL, VIEW, CASE, JOIN, WITH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90053" y="3622981"/>
            <a:ext cx="829845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804350" y="3724579"/>
            <a:ext cx="62530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19898" y="3622981"/>
            <a:ext cx="4909816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634195" y="3724579"/>
            <a:ext cx="486847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3 ferramentas numa fila só</a:t>
            </a:r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quem atrasa (pergunta 1)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61981" y="4058541"/>
            <a:ext cx="2162815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76278" y="4160138"/>
            <a:ext cx="201159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· quanto custa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924796" y="4058541"/>
            <a:ext cx="276525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039094" y="4160138"/>
            <a:ext cx="263812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WITH, conta de KPI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90053" y="4058541"/>
            <a:ext cx="829845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804350" y="4160138"/>
            <a:ext cx="62530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19898" y="4058541"/>
            <a:ext cx="4909816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634195" y="4160138"/>
            <a:ext cx="486847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</a:t>
            </a:r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estouro e 4 melancias (pergunta 2)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61981" y="4582998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14377" y="4621097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exemplo existe em dois notebooks: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branco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(você digita) e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resolvido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(para conferir). Bônus, se sobrar tempo: o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 00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time travel.</a:t>
            </a:r>
            <a:endParaRPr lang="en-US" sz="110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9" name="Text 56"/>
          <p:cNvSpPr txBox="1"/>
          <p:nvPr/>
        </p:nvSpPr>
        <p:spPr>
          <a:xfrm>
            <a:off x="10934923" y="6387940"/>
            <a:ext cx="51458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58 / 130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EXEMPLO 01 · SELECT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existe no catálogo,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onde cada projeto vive?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820622" cy="1742238"/>
          </a:xfrm>
          <a:prstGeom prst="roundRect">
            <a:avLst>
              <a:gd name="adj" fmla="val 6560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5650613" cy="140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a primeira olhada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lakehouse_vertice.bronze.projetos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quantos projetos?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projetos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lakehouse_vertice.bronze.projetos;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773098" y="1582301"/>
            <a:ext cx="4656517" cy="1217780"/>
          </a:xfrm>
          <a:prstGeom prst="roundRect">
            <a:avLst>
              <a:gd name="adj" fmla="val 1251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342" y="1779146"/>
            <a:ext cx="70245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84240" y="1817245"/>
            <a:ext cx="5456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Conceito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995342" y="2191886"/>
            <a:ext cx="4380509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SELECT, FROM, LIMIT, COUNT(*). Antes de calcular qualquer KPI, olhe o dado. Sempre.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73098" y="2939778"/>
            <a:ext cx="4656517" cy="1499654"/>
          </a:xfrm>
          <a:prstGeom prst="roundRect">
            <a:avLst>
              <a:gd name="adj" fmla="val 10162"/>
            </a:avLst>
          </a:prstGeom>
          <a:solidFill>
            <a:srgbClr val="0059DB"/>
          </a:solidFill>
          <a:ln/>
        </p:spPr>
      </p:sp>
      <p:sp>
        <p:nvSpPr>
          <p:cNvPr id="11" name="Shape 9"/>
          <p:cNvSpPr/>
          <p:nvPr/>
        </p:nvSpPr>
        <p:spPr>
          <a:xfrm>
            <a:off x="6995342" y="3136623"/>
            <a:ext cx="10340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4240" y="3174722"/>
            <a:ext cx="890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aparece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342" y="355571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85838" y="3473165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cliente, valor, prazo e a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ferramenta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cada projeto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342" y="383758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85838" y="3755038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projetos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342" y="411946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85838" y="4036912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ferramenta já aparece escrita de jeitos diferentes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1981" y="4579128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461722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exemplo-01-primeiro-select.sql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GitHub. Copie, cole no SQL Editor e rode bloco a bloco.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0935220" y="6387940"/>
            <a:ext cx="51427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59 / 130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EXEMPLO 02 · ORDER BY, DISTINCT E CAST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Quais são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maiores contratos?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820622" cy="2616829"/>
          </a:xfrm>
          <a:prstGeom prst="roundRect">
            <a:avLst>
              <a:gd name="adj" fmla="val 4368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5650613" cy="22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a armadilha: ordenar texto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projeto_id, valor_contrato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bronze.projetos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valor_contrato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PRJ-052 em 1º?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com CAST, ordena como número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projeto_id,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(valor_contrato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DECIMAL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(18,2))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valor_numero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bronze.projetos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valor_numero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PRJ-017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-- 3. sem repetição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ferramenta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bronze.projetos;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773098" y="1582301"/>
            <a:ext cx="4656517" cy="1423456"/>
          </a:xfrm>
          <a:prstGeom prst="roundRect">
            <a:avLst>
              <a:gd name="adj" fmla="val 1070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342" y="1779146"/>
            <a:ext cx="70245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84240" y="1817245"/>
            <a:ext cx="5456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Conceito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995342" y="2191886"/>
            <a:ext cx="4380509" cy="61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bronze tudo é texto: sem CAST, ORDER BY ordena como palavra, e '8380000' passa na frente de '15275000'.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73098" y="3145453"/>
            <a:ext cx="4656517" cy="1629131"/>
          </a:xfrm>
          <a:prstGeom prst="roundRect">
            <a:avLst>
              <a:gd name="adj" fmla="val 9354"/>
            </a:avLst>
          </a:prstGeom>
          <a:solidFill>
            <a:srgbClr val="0059DB"/>
          </a:solidFill>
          <a:ln/>
        </p:spPr>
      </p:sp>
      <p:sp>
        <p:nvSpPr>
          <p:cNvPr id="11" name="Shape 9"/>
          <p:cNvSpPr/>
          <p:nvPr/>
        </p:nvSpPr>
        <p:spPr>
          <a:xfrm>
            <a:off x="6995342" y="3342298"/>
            <a:ext cx="10340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4240" y="3380398"/>
            <a:ext cx="890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aparece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342" y="376138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85838" y="3678840"/>
            <a:ext cx="4182394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maior contrato de verdade: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PRJ-017, R$ 15,3 mi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(o texto dizia PRJ-052)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342" y="424893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85838" y="4166389"/>
            <a:ext cx="4182394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ferramenta escrita de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jeitos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Excel, excel, Planilha, ClickUp, Clickup…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1981" y="4914281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377" y="4952380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exemplo-02-order-by-e-distinct.sql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A primeira sujeira do dia é o retrato do problema da Vértice: cada um registra do seu jeito.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934129" y="6387940"/>
            <a:ext cx="51540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/ 130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EXEMPLO 03 · WHERE E A SUJEIRA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Dá para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confiar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nesse número?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820622" cy="2441911"/>
          </a:xfrm>
          <a:prstGeom prst="roundRect">
            <a:avLst>
              <a:gd name="adj" fmla="val 4681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5650613" cy="2105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data com barra: 14/03/2025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bronze.projetos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data_inicio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'%/%'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-- 24 (os outros 36: 2025-03-14)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a linha de TOTAL da planilha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arquivo, tarefa, horas_previstas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bronze.excel_tarefas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tarefa =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'TOTAL'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     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-- 20: conta duas vezes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-- 3. vírgula decimal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bronze.custos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'%,%'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     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-- 671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773098" y="1582301"/>
            <a:ext cx="4656517" cy="1423456"/>
          </a:xfrm>
          <a:prstGeom prst="roundRect">
            <a:avLst>
              <a:gd name="adj" fmla="val 1070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342" y="1779146"/>
            <a:ext cx="70245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84240" y="1817245"/>
            <a:ext cx="5456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Conceito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995342" y="2191886"/>
            <a:ext cx="4380509" cy="61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escolhe as linhas; LIKE '%/%' = "tem uma barra em algum lugar". Dado sujo não dá erro: dá um número errado, em silêncio.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73098" y="3145453"/>
            <a:ext cx="4656517" cy="1499654"/>
          </a:xfrm>
          <a:prstGeom prst="roundRect">
            <a:avLst>
              <a:gd name="adj" fmla="val 10162"/>
            </a:avLst>
          </a:prstGeom>
          <a:solidFill>
            <a:srgbClr val="0059DB"/>
          </a:solidFill>
          <a:ln/>
        </p:spPr>
      </p:sp>
      <p:sp>
        <p:nvSpPr>
          <p:cNvPr id="11" name="Shape 9"/>
          <p:cNvSpPr/>
          <p:nvPr/>
        </p:nvSpPr>
        <p:spPr>
          <a:xfrm>
            <a:off x="6995342" y="3342298"/>
            <a:ext cx="10340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4240" y="3380398"/>
            <a:ext cx="890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aparece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342" y="376138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85838" y="3678840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em 2 formatos: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×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projetos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342" y="404326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85838" y="3960713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linhas de TOTAL no Excel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342" y="432513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85838" y="4242587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671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custos com vírgula decimal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1981" y="478480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4822903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exemplo-03-where-e-a-sujeira.sql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3 achados. Tudo que ele acha é o que a silver conserta amanhã.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0971037" y="6387940"/>
            <a:ext cx="4770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61 / 130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EXEMPLO 04 · GROUP BY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onde vai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dinheiro?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820622" cy="2441911"/>
          </a:xfrm>
          <a:prstGeom prst="roundRect">
            <a:avLst>
              <a:gd name="adj" fmla="val 4681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5650613" cy="2105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quebra: '1827,44' não é número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categoria,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(valor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DECIMAL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(18,2)))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bronze.custos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categoria;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o certo: vírgula vira ponto antes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categoria,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(replace(valor,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DECIMAL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(18,2)))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bronze.custos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categoria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773098" y="1582301"/>
            <a:ext cx="4656517" cy="1423456"/>
          </a:xfrm>
          <a:prstGeom prst="roundRect">
            <a:avLst>
              <a:gd name="adj" fmla="val 1070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342" y="1779146"/>
            <a:ext cx="70245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84240" y="1817245"/>
            <a:ext cx="5456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Conceito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995342" y="2191886"/>
            <a:ext cx="4380509" cy="61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 BY junta as linhas da mesma categoria e faz a conta dentro de cada grupo. A primeira query falha de propósito: é a vírgula do exemplo 03.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73098" y="3145453"/>
            <a:ext cx="4656517" cy="1705329"/>
          </a:xfrm>
          <a:prstGeom prst="roundRect">
            <a:avLst>
              <a:gd name="adj" fmla="val 8936"/>
            </a:avLst>
          </a:prstGeom>
          <a:solidFill>
            <a:srgbClr val="0059DB"/>
          </a:solidFill>
          <a:ln/>
        </p:spPr>
      </p:sp>
      <p:sp>
        <p:nvSpPr>
          <p:cNvPr id="11" name="Shape 9"/>
          <p:cNvSpPr/>
          <p:nvPr/>
        </p:nvSpPr>
        <p:spPr>
          <a:xfrm>
            <a:off x="6995342" y="3342298"/>
            <a:ext cx="10340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4240" y="3380398"/>
            <a:ext cx="890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aparece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342" y="376138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85838" y="3678840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primeira: erro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CAST_INVALID_INPUT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342" y="404326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85838" y="3960713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segunda: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R$ 193,35 mi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custo real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342" y="432513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85838" y="4242587"/>
            <a:ext cx="4182394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gente é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R$ 117,8 mi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quase dois terços; consultoria R$ 29,4 mi; cloud R$ 23,0 mi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1981" y="499047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502857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exemplo-04-group-by-custo-no-tempo.sql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Começa a responder a pergunta 2: quanto custa.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0942265" y="6387940"/>
            <a:ext cx="50694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62 / 130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EXEMPLO 05 · UNION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três ferramentas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numa fila só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820622" cy="2266993"/>
          </a:xfrm>
          <a:prstGeom prst="roundRect">
            <a:avLst>
              <a:gd name="adj" fmla="val 5042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5650613" cy="1930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VIEW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bronze.rascunho_tarefas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...,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'excel'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tarefa,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data texto OU série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bronze.excel_tarefas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tarefa &lt;&gt;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'TOTAL'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...,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'clickup'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name, 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milissegundos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bronze.clickup_tarefas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bronze.projetos ...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...,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'msproject'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Name,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PT40H0M0S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bronze.msproject_tarefas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Summary = 0;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SPI = horas agregadas ÷ horas planejadas até 16/10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773098" y="1582301"/>
            <a:ext cx="4656517" cy="1629131"/>
          </a:xfrm>
          <a:prstGeom prst="roundRect">
            <a:avLst>
              <a:gd name="adj" fmla="val 93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342" y="1779146"/>
            <a:ext cx="70245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84240" y="1817245"/>
            <a:ext cx="5456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Conceito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995342" y="2191886"/>
            <a:ext cx="4380509" cy="822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UNION ALL empilha; a VIEW guarda a consulta com um nome. Cada ferramenta é traduzida para as mesmas 7 colunas e empilhada: um rascunho à mão da silver de amanhã.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73098" y="3351129"/>
            <a:ext cx="4656517" cy="1705329"/>
          </a:xfrm>
          <a:prstGeom prst="roundRect">
            <a:avLst>
              <a:gd name="adj" fmla="val 8936"/>
            </a:avLst>
          </a:prstGeom>
          <a:solidFill>
            <a:srgbClr val="0059DB"/>
          </a:solidFill>
          <a:ln/>
        </p:spPr>
      </p:sp>
      <p:sp>
        <p:nvSpPr>
          <p:cNvPr id="11" name="Shape 9"/>
          <p:cNvSpPr/>
          <p:nvPr/>
        </p:nvSpPr>
        <p:spPr>
          <a:xfrm>
            <a:off x="6995342" y="3547974"/>
            <a:ext cx="10340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4240" y="3586073"/>
            <a:ext cx="890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aparece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342" y="396706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85838" y="3884515"/>
            <a:ext cx="4182394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projetos / 1.643 tarefas · ClickUp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2.119 · Project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1.155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342" y="4454612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85838" y="4372064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projetos numa tabela só, pela primeira vez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342" y="473648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85838" y="4653938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SPI de cada um: o pior é 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PRJ-016, 0,63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1981" y="519615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5234254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exemplo-05-union-quais-projetos-atrasados.sql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2 queries. A primeira cria a view que o exemplo 06, o dashboard e a verificação usam.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0940082" y="6387940"/>
            <a:ext cx="50921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63 / 130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EXEMPLO 05 · PERGUNTA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atrasa: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7 críticos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46349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561568" y="1582301"/>
            <a:ext cx="297533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651063" y="1582301"/>
            <a:ext cx="57546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32987" y="1582301"/>
            <a:ext cx="54399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CPI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184649" y="1582301"/>
            <a:ext cx="117599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ESTOURO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1981" y="1880744"/>
            <a:ext cx="468529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76278" y="1982341"/>
            <a:ext cx="463496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PRJ-016 · Integração com laboratórios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7271" y="1880744"/>
            <a:ext cx="308949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61568" y="1982341"/>
            <a:ext cx="297533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Operadora Bem Cuidar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36766" y="1880744"/>
            <a:ext cx="78192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51063" y="1982341"/>
            <a:ext cx="575462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0,63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18690" y="1880744"/>
            <a:ext cx="7516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32987" y="1982341"/>
            <a:ext cx="54399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70352" y="1880744"/>
            <a:ext cx="13593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184649" y="1982341"/>
            <a:ext cx="117599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R$ 257 mil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1981" y="2316303"/>
            <a:ext cx="468529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2417900"/>
            <a:ext cx="463496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PRJ-030 · APIs de Open Finance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47271" y="2316303"/>
            <a:ext cx="308949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61568" y="2417900"/>
            <a:ext cx="297533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Seguradora Porto Firme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36766" y="2316303"/>
            <a:ext cx="78192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51063" y="2417900"/>
            <a:ext cx="575462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0,69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18690" y="2316303"/>
            <a:ext cx="7516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32987" y="2417900"/>
            <a:ext cx="54399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70352" y="2316303"/>
            <a:ext cx="13593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184649" y="2417900"/>
            <a:ext cx="117599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R$ 363 mil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1981" y="2751862"/>
            <a:ext cx="468529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278" y="2853460"/>
            <a:ext cx="463496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PRJ-039 · Antifraude em tempo real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7271" y="2751862"/>
            <a:ext cx="308949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561568" y="2853460"/>
            <a:ext cx="297533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Meridiano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36766" y="2751862"/>
            <a:ext cx="78192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51063" y="2853460"/>
            <a:ext cx="575462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0,75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18690" y="2751862"/>
            <a:ext cx="7516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32987" y="2853460"/>
            <a:ext cx="54399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070352" y="2751862"/>
            <a:ext cx="13593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184649" y="2853460"/>
            <a:ext cx="117599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R$ 130 mil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1981" y="3187422"/>
            <a:ext cx="468529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76278" y="3289019"/>
            <a:ext cx="463496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PRJ-009 · Prontuário eletrônico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47271" y="3187422"/>
            <a:ext cx="308949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561568" y="3289019"/>
            <a:ext cx="297533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Rede Diagnóstica Vida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536766" y="3187422"/>
            <a:ext cx="78192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651063" y="3289019"/>
            <a:ext cx="575462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318690" y="3187422"/>
            <a:ext cx="7516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432987" y="3289019"/>
            <a:ext cx="54399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0,77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070352" y="3187422"/>
            <a:ext cx="13593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184649" y="3289019"/>
            <a:ext cx="117599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R$ 518 mil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61981" y="3622981"/>
            <a:ext cx="468529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76278" y="3724579"/>
            <a:ext cx="463496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PRJ-011 · Checkout e meios de pagamento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47271" y="3622981"/>
            <a:ext cx="308949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561568" y="3724579"/>
            <a:ext cx="297533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Supermercados Bom Preço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536766" y="3622981"/>
            <a:ext cx="78192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651063" y="3724579"/>
            <a:ext cx="575462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0,77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318690" y="3622981"/>
            <a:ext cx="7516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432987" y="3724579"/>
            <a:ext cx="54399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070352" y="3622981"/>
            <a:ext cx="13593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184649" y="3724579"/>
            <a:ext cx="117599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R$ 310 mil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61981" y="4058541"/>
            <a:ext cx="468529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76278" y="4160138"/>
            <a:ext cx="463496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PRJ-027 · Migração do mainframe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447271" y="4058541"/>
            <a:ext cx="308949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5561568" y="4160138"/>
            <a:ext cx="297533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Corretora Valor Real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536766" y="4058541"/>
            <a:ext cx="78192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651063" y="4160138"/>
            <a:ext cx="575462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0,95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318690" y="4058541"/>
            <a:ext cx="7516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432987" y="4160138"/>
            <a:ext cx="54399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0,79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0070352" y="4058541"/>
            <a:ext cx="13593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0184649" y="4160138"/>
            <a:ext cx="117599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R$ 497 mil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61981" y="4494100"/>
            <a:ext cx="4685290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76278" y="4595698"/>
            <a:ext cx="463496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PRJ-054 · Migração do mainframe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447271" y="4494100"/>
            <a:ext cx="3089495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5561568" y="4595698"/>
            <a:ext cx="297533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Seguradora Porto Firme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536766" y="4494100"/>
            <a:ext cx="78192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8651063" y="4595698"/>
            <a:ext cx="575462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0,80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9318690" y="4494100"/>
            <a:ext cx="7516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9432987" y="4595698"/>
            <a:ext cx="54399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0,93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0070352" y="4494100"/>
            <a:ext cx="135936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0184649" y="4595698"/>
            <a:ext cx="1175999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R$ 410 mil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761981" y="5005858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914377" y="5043957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= trabalho entregue ÷ trabalho que devia estar pronto.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Abaixo de 0,8 é crítico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 abaixo de 0,9, atenção (mais 10 projetos).</a:t>
            </a:r>
            <a:endParaRPr lang="en-US" sz="1100" dirty="0"/>
          </a:p>
        </p:txBody>
      </p:sp>
      <p:pic>
        <p:nvPicPr>
          <p:cNvPr id="8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82" name="Text 79"/>
          <p:cNvSpPr txBox="1"/>
          <p:nvPr/>
        </p:nvSpPr>
        <p:spPr>
          <a:xfrm>
            <a:off x="10933335" y="6387940"/>
            <a:ext cx="51623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 / 130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EXEMPLO 06 · QUANTO CUSTA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nada mudar,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 a Vértice vai perder?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820622" cy="2266993"/>
          </a:xfrm>
          <a:prstGeom prst="roundRect">
            <a:avLst>
              <a:gd name="adj" fmla="val 5042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5650613" cy="1930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projeto a projeto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(...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bronze.rascunho_tarefas ...),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custo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(... replace(valor,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...),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farol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(...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data_status =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'2026-10-16'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projeto_id, cliente, spi, cpi,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farol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farol_do_gerente,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eac - orcamento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estouro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spi;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a carteira: só quem estoura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GREATEST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eac - orcamento))  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R$ 6,47 mi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773098" y="1582301"/>
            <a:ext cx="4656517" cy="1629131"/>
          </a:xfrm>
          <a:prstGeom prst="roundRect">
            <a:avLst>
              <a:gd name="adj" fmla="val 93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342" y="1779146"/>
            <a:ext cx="70245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84240" y="1817245"/>
            <a:ext cx="5456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Conceito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995342" y="2191886"/>
            <a:ext cx="4380509" cy="822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divide a conta em 3 perguntas simples: quanto está pronto, quanto gastou, qual o farol. EV = orçamento × % pronto; CPI = EV ÷ custo; EAC = orçamento ÷ CPI.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73098" y="3351129"/>
            <a:ext cx="4656517" cy="1705329"/>
          </a:xfrm>
          <a:prstGeom prst="roundRect">
            <a:avLst>
              <a:gd name="adj" fmla="val 8936"/>
            </a:avLst>
          </a:prstGeom>
          <a:solidFill>
            <a:srgbClr val="0059DB"/>
          </a:solidFill>
          <a:ln/>
        </p:spPr>
      </p:sp>
      <p:sp>
        <p:nvSpPr>
          <p:cNvPr id="11" name="Shape 9"/>
          <p:cNvSpPr/>
          <p:nvPr/>
        </p:nvSpPr>
        <p:spPr>
          <a:xfrm>
            <a:off x="6995342" y="3547974"/>
            <a:ext cx="10340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4240" y="3586073"/>
            <a:ext cx="890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aparece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342" y="396706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85838" y="3884515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estouro previsto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342" y="424893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85838" y="4166389"/>
            <a:ext cx="4182394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críticos 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em atenção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342" y="453081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85838" y="4448262"/>
            <a:ext cx="4182394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melancias: verdes para o gerente, abaixo de 0,9 pelo número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1981" y="519615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5234254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exemplo-06-quanto-custa-o-atraso.sql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Responde a pergunta 2 do dono.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0934427" y="6387940"/>
            <a:ext cx="51509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 / 130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EXEMPLO 06 · PERGUNTA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 custa: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e o farol mente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37348" cy="1283263"/>
          </a:xfrm>
          <a:prstGeom prst="roundRect">
            <a:avLst>
              <a:gd name="adj" fmla="val 11876"/>
            </a:avLst>
          </a:prstGeom>
          <a:solidFill>
            <a:srgbClr val="0059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4225" y="1779146"/>
            <a:ext cx="311257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984225" y="2274434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estouro previsto: EAC − orçamento, só de quem estoura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77124" y="1582301"/>
            <a:ext cx="3437348" cy="1283263"/>
          </a:xfrm>
          <a:prstGeom prst="roundRect">
            <a:avLst>
              <a:gd name="adj" fmla="val 11876"/>
            </a:avLst>
          </a:prstGeom>
          <a:solidFill>
            <a:srgbClr val="0059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9369" y="1779146"/>
            <a:ext cx="311257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4599369" y="2274434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em risco: 7 críticos e 10 em atenção, de 41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92267" y="1582301"/>
            <a:ext cx="3437348" cy="1283263"/>
          </a:xfrm>
          <a:prstGeom prst="roundRect">
            <a:avLst>
              <a:gd name="adj" fmla="val 1187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14512" y="1779146"/>
            <a:ext cx="311257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8214512" y="2274434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melancias: farol verde do gerente com SPI abaixo de 0,9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1981" y="3056060"/>
            <a:ext cx="10667733" cy="1252109"/>
          </a:xfrm>
          <a:prstGeom prst="roundRect">
            <a:avLst>
              <a:gd name="adj" fmla="val 12171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4225" y="3252905"/>
            <a:ext cx="322125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73123" y="3291004"/>
            <a:ext cx="316519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melancias: verdes por fora, vermelhas por dentro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84225" y="3665644"/>
            <a:ext cx="10632174" cy="445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PRJ-012 · PRJ-028 · PRJ-034 · PRJ-042: o gerente publicou verde na sexta; o número diz atraso. A regra da Vértice é verde só com SPI ≥ 0,95.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934030" y="6387940"/>
            <a:ext cx="51551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66 / 130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O QUE DEVE APARECER NA TELA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Seu número é diferente?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erro está na query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393464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MÉTRICA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888187" y="1582301"/>
            <a:ext cx="66843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1981" y="1880744"/>
            <a:ext cx="40119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278" y="1982341"/>
            <a:ext cx="393464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Carteira total · em andamento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73890" y="1880744"/>
            <a:ext cx="6655824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88187" y="1982341"/>
            <a:ext cx="6684319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R$ 305,2 mi · R$ 208,6 mi (41 projetos)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1981" y="2324538"/>
            <a:ext cx="40119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6278" y="2426135"/>
            <a:ext cx="393464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 real total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73890" y="2324538"/>
            <a:ext cx="6655824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88187" y="2426135"/>
            <a:ext cx="6684319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R$ 193,35 mi (pessoal: R$ 117,8 mi)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1981" y="2768332"/>
            <a:ext cx="40119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6278" y="2869930"/>
            <a:ext cx="393464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em atenção · críticos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73890" y="2768332"/>
            <a:ext cx="6655824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88187" y="2869930"/>
            <a:ext cx="6684319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· 7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1981" y="3212127"/>
            <a:ext cx="40119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6278" y="3313724"/>
            <a:ext cx="393464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Piores SPI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73890" y="3212127"/>
            <a:ext cx="6655824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88187" y="3313724"/>
            <a:ext cx="6684319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PRJ-016 0,63 · PRJ-030 0,69 · PRJ-039 0,75 · PRJ-011 0,77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1981" y="3655921"/>
            <a:ext cx="40119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6278" y="3757519"/>
            <a:ext cx="393464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Piores CPI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73890" y="3655921"/>
            <a:ext cx="6655824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88187" y="3757519"/>
            <a:ext cx="6684319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PRJ-009 0,77 · PRJ-027 0,79 · PRJ-005 0,81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1981" y="4099715"/>
            <a:ext cx="4011909" cy="3929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76278" y="4201313"/>
            <a:ext cx="393464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Estouro previsto da carteira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73890" y="4099715"/>
            <a:ext cx="6655824" cy="3929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88187" y="4201313"/>
            <a:ext cx="6684319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</a:t>
            </a:r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(maior: PRJ-021, R$ 1,78 mi)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61981" y="4543510"/>
            <a:ext cx="4011909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6278" y="4645107"/>
            <a:ext cx="3934647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 verde com SPI &lt; 0,9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73890" y="4543510"/>
            <a:ext cx="6655824" cy="39299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88187" y="4645107"/>
            <a:ext cx="6684319" cy="18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melancias: PRJ-012, 028, 034, 042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61981" y="5063502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377" y="5101601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seed é fixa: todo mundo tem o mesmo dado. Rode o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99-verificacao.sql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(depois do exemplo 05):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de 18 ok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1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0944447" y="6387940"/>
            <a:ext cx="50467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67 / 130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AI/BI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AI/BI Dashboard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7834" r="7834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painel publicado sobre tabelas do Unity Catalog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filtros, páginas, agenda por e-mail e "Ask Genie" embaixo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7329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690745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versionado em JSON, no repositório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3036117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3074216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448857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sobre a bronze, noite 2 sobre a gold: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Farol · Portfólio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com 3 páginas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34526" y="6387940"/>
            <a:ext cx="51499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68 / 130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DASHBOARD PASSO A PASSO · 1 DE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dados: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SQLs prontos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na aba Data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282372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21926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4313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295139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menu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Dashboards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dashboard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133251" y="1992163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54612" y="1582301"/>
            <a:ext cx="3282471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10" name="Shape 8"/>
          <p:cNvSpPr/>
          <p:nvPr/>
        </p:nvSpPr>
        <p:spPr>
          <a:xfrm>
            <a:off x="4676857" y="1779146"/>
            <a:ext cx="243477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65754" y="1817245"/>
            <a:ext cx="6830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76857" y="2191886"/>
            <a:ext cx="2951501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renomeie: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Farol · Noite 1 (bronze)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825981" y="1992163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47342" y="1582301"/>
            <a:ext cx="3282372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9587" y="1779146"/>
            <a:ext cx="24635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485" y="1817245"/>
            <a:ext cx="7130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369587" y="2191886"/>
            <a:ext cx="295139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aba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Create from SQL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cole →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6278" y="2960812"/>
            <a:ext cx="206927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094555" y="2960812"/>
            <a:ext cx="479521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 NO GITHUB (COPIE E COLE)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33928" y="2960812"/>
            <a:ext cx="351674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 TRAZER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1981" y="3259254"/>
            <a:ext cx="221827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76278" y="3360852"/>
            <a:ext cx="206927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em andamento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80258" y="3259254"/>
            <a:ext cx="483937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094555" y="3360852"/>
            <a:ext cx="479521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aulas/aula-01-analista/</a:t>
            </a:r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dashboard-dataset-projetos.sql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19631" y="3259254"/>
            <a:ext cx="361008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33928" y="3360852"/>
            <a:ext cx="351674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 linhas: SPI, CPI, situação, farol, estouro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1981" y="3694814"/>
            <a:ext cx="221827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76278" y="3796411"/>
            <a:ext cx="206927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Custos por mês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80258" y="3694814"/>
            <a:ext cx="483937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094555" y="3796411"/>
            <a:ext cx="479521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aulas/aula-01-analista/</a:t>
            </a:r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dashboard-dataset-custos.sql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19631" y="3694814"/>
            <a:ext cx="361008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33928" y="3796411"/>
            <a:ext cx="351674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23.640 lançamentos com mês e categoria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1981" y="4231971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4377" y="4270070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primeiro dataset lê a view do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exemplo 05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rode o 05 antes. Repare no SQL: CAST, replace e try_to_date em toda coluna. É o preço de ler a bronze.</a:t>
            </a:r>
            <a:endParaRPr lang="en-US" sz="11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0934923" y="6387940"/>
            <a:ext cx="51458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69 / 130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DASHBOARD PASSO A PASSO · 2 DE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gráficos: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a visualization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um prompt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237892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GRÁFICO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392303" y="1582301"/>
            <a:ext cx="824003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DIGITE NO QUADRO DO GRÁFICO (ASSISTENTE)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1981" y="1880744"/>
            <a:ext cx="2516025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278" y="1982341"/>
            <a:ext cx="2378928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Carteira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78006" y="1880744"/>
            <a:ext cx="8151708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92303" y="1982341"/>
            <a:ext cx="8240038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Contador com a soma de valor_contrato, em reais, título "Carteira em andamento"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1981" y="2291499"/>
            <a:ext cx="2516025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6278" y="2393096"/>
            <a:ext cx="2378928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risco · críticos · melancias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8006" y="2291499"/>
            <a:ext cx="8151708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92303" y="2393096"/>
            <a:ext cx="8240038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Contador com a soma de em_risco (depois: critico; depois: melancia)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1981" y="2702254"/>
            <a:ext cx="2516025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6278" y="2803852"/>
            <a:ext cx="2378928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por projeto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78006" y="2702254"/>
            <a:ext cx="8151708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92303" y="2803852"/>
            <a:ext cx="8240038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Barras horizontais com o SPI de cada projeto, do menor para o maior, cor pela situacao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1981" y="3113010"/>
            <a:ext cx="2516025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6278" y="3214607"/>
            <a:ext cx="2378928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ferramenta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78006" y="3113010"/>
            <a:ext cx="8151708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392303" y="3214607"/>
            <a:ext cx="8240038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Barras empilhadas com a quantidade de projetos por ferramenta, cor pela situacao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1981" y="3523765"/>
            <a:ext cx="2516025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6278" y="3625362"/>
            <a:ext cx="2378928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 por mês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78006" y="3523765"/>
            <a:ext cx="8151708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392303" y="3625362"/>
            <a:ext cx="8240038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Barras empilhadas do custo (soma de valor) por mês, cor pela categoria, dataset Custos por mês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1981" y="3934520"/>
            <a:ext cx="2516025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76278" y="4036118"/>
            <a:ext cx="2378928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78006" y="3934520"/>
            <a:ext cx="8151708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392303" y="4036118"/>
            <a:ext cx="8240038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 com projeto, cliente, ferramenta, spi, cpi, situacao, farol, estouro_previsto e atraso_projetado_dias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1981" y="4421474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377" y="4459573"/>
            <a:ext cx="1093595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Confira no topo: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R$ 208,6 mi · 17 em risco · 7 críticos · 4 melancias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Depois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Publish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(canto superior direito). Prompts e o jeito "à mão":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passo-a-passo-dashboard-e-genie.md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1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0944547" y="6387940"/>
            <a:ext cx="50457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 / 130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ENTREGA 6 ·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da bronze,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publicado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3221" r="13221" t="0" b="0"/>
          <a:stretch/>
        </p:blipFill>
        <p:spPr>
          <a:xfrm>
            <a:off x="761981" y="1455304"/>
            <a:ext cx="5257669" cy="40638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13221" r="13221" t="0" b="0"/>
          <a:stretch/>
        </p:blipFill>
        <p:spPr>
          <a:xfrm>
            <a:off x="6172046" y="1455304"/>
            <a:ext cx="5257669" cy="406389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1981" y="5582701"/>
            <a:ext cx="1109444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"Projeto Farol · Noite 1 (bronze)": funciona, mas cada gráfico repete o CASE, o replace e a conversão de data. Na noite 2 isso some.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981455" y="6387940"/>
            <a:ext cx="46618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71 / 130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GENIE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Genie Agent: pergunta em português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1015" r="11015" t="0" b="0"/>
          <a:stretch/>
        </p:blipFill>
        <p:spPr>
          <a:xfrm>
            <a:off x="761981" y="1182261"/>
            <a:ext cx="5257669" cy="35559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981" y="4788971"/>
            <a:ext cx="546797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tela do dono: as 4 perguntas já sugeridas, modo Agent ligado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10689" r="10689" t="0" b="0"/>
          <a:stretch/>
        </p:blipFill>
        <p:spPr>
          <a:xfrm>
            <a:off x="6172046" y="1182261"/>
            <a:ext cx="5257669" cy="355591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72046" y="4788971"/>
            <a:ext cx="546797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curadoria: instruções, SQL de exemplo e benchmark (20/20 na noite 2)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61981" y="509376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377" y="513186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curadoria, na bronze, ele erra (noite 1). Com metric view e instruções, acerta (noite 2).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52682" y="6387940"/>
            <a:ext cx="49611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 / 130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GENIE PASSO A PASSO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Criar o Genie 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fazer as 4 perguntas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398553"/>
          </a:xfrm>
          <a:prstGeom prst="roundRect">
            <a:avLst>
              <a:gd name="adj" fmla="val 63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92519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77729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Criar (2 min)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menu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Genie Agents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New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61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lakehouse_vertice → bronze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marque projetos, status_semanal, excel_tarefas, clickup_tarefas, msproject_tarefas, colaboradores, apontamentos e custos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317333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309078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renomeie para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 · Noite 1 (bronze, sem curadoria)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660882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3578334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nenhuma instrução: é de propósito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1095" y="1582301"/>
            <a:ext cx="5238619" cy="2565931"/>
          </a:xfrm>
          <a:prstGeom prst="roundRect">
            <a:avLst>
              <a:gd name="adj" fmla="val 5939"/>
            </a:avLst>
          </a:prstGeom>
          <a:solidFill>
            <a:srgbClr val="0059D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13340" y="1779146"/>
            <a:ext cx="194146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2237" y="1817245"/>
            <a:ext cx="183421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Copie e cole, uma de cada vez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13340" y="2153787"/>
            <a:ext cx="4985895" cy="1289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Quais projetos estão atrasados, e de quais clientes?</a:t>
            </a: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Quanto esse atraso vai me custar?</a:t>
            </a: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Tenho gente parada enquanto outro projeto pede gente?</a:t>
            </a: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vai dar errado no próximo mês?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13340" y="3557102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Abra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 code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em cada resposta e compare com os exemplos 05 e 06.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950500" y="6387940"/>
            <a:ext cx="49838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73 / 130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ENTREGA 6 · GENIE SEM CURADORIA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Genie na bronze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erra as 4 perguntas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5727" r="15727" t="0" b="0"/>
          <a:stretch/>
        </p:blipFill>
        <p:spPr>
          <a:xfrm>
            <a:off x="761981" y="1455304"/>
            <a:ext cx="5238619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1095" y="1455304"/>
            <a:ext cx="5238619" cy="2634886"/>
          </a:xfrm>
          <a:prstGeom prst="roundRect">
            <a:avLst>
              <a:gd name="adj" fmla="val 578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13340" y="1652149"/>
            <a:ext cx="88481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02237" y="1690248"/>
            <a:ext cx="73529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erra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13340" y="207123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03835" y="198869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sabe que hoje é 16/10/2026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13340" y="2353112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03835" y="2270564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soma a linha de TOTAL do Excel e as tarefas-resumo do Project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13340" y="284066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03835" y="275811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vê 4 CodeForges diferentes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13340" y="312253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03835" y="303998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 com confiança: "nenhum atraso custa nada"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13340" y="3398058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65736" y="3436157"/>
            <a:ext cx="482740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de IA é o mesmo da noite 2. O que muda é o que está embaixo dele.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943753" y="6387940"/>
            <a:ext cx="50540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74 / 130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SE DER ERRADO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Sintoma, causa,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fazer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333679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SINTOMA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313328" y="1582301"/>
            <a:ext cx="728217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FAZER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1981" y="1880744"/>
            <a:ext cx="3437050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278" y="1982341"/>
            <a:ext cx="333679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"Create a catalog" dá erro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99031" y="1880744"/>
            <a:ext cx="7230683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13328" y="1982341"/>
            <a:ext cx="728217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rode o </a:t>
            </a:r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00-setup-catalogo.sql</a:t>
            </a:r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SQL Editor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1981" y="2299833"/>
            <a:ext cx="3437050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6278" y="2401431"/>
            <a:ext cx="333679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PERMISSION_DENIED</a:t>
            </a:r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ao criar catálogo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99031" y="2299833"/>
            <a:ext cx="7230683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13328" y="2401431"/>
            <a:ext cx="728217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workspace não é seu: use a sua conta Free Edition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1981" y="2718923"/>
            <a:ext cx="3437050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6278" y="2820520"/>
            <a:ext cx="333679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PATH_NOT_FOUND</a:t>
            </a:r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ou tabela com 0 linhas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99031" y="2718923"/>
            <a:ext cx="7230683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13328" y="2820520"/>
            <a:ext cx="728217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 na pasta errada: confira </a:t>
            </a:r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/Volumes/lakehouse_vertice/bronze/raw/pmo/projetos.csv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1981" y="3138012"/>
            <a:ext cx="3437050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6278" y="3239610"/>
            <a:ext cx="333679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CAST_INVALID_INPUT</a:t>
            </a:r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exemplo 04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99031" y="3138012"/>
            <a:ext cx="7230683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13328" y="3239610"/>
            <a:ext cx="728217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 de propósito</a:t>
            </a:r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é a vírgula decimal, o ponto da aula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1981" y="3557102"/>
            <a:ext cx="3437050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6278" y="3658699"/>
            <a:ext cx="333679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rascunho_tarefas</a:t>
            </a:r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não existe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99031" y="3557102"/>
            <a:ext cx="7230683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13328" y="3658699"/>
            <a:ext cx="728217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rode o exemplo 05 inteiro antes do 06 e da verificação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1981" y="3976191"/>
            <a:ext cx="3437050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76278" y="4077789"/>
            <a:ext cx="333679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SPI/CPI diferentes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99031" y="3976191"/>
            <a:ext cx="7230683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313328" y="4077789"/>
            <a:ext cx="728217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</a:t>
            </a:r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DATE'2026-10-16'</a:t>
            </a:r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nunca </a:t>
            </a:r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current_date()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1981" y="4395281"/>
            <a:ext cx="3437050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6278" y="4496878"/>
            <a:ext cx="333679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primeiro comando ou dashboard demora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99031" y="4395281"/>
            <a:ext cx="7230683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313328" y="4496878"/>
            <a:ext cx="728217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serverless está ligando: espere uns 10 segundos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1981" y="4814370"/>
            <a:ext cx="3437050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6278" y="4915968"/>
            <a:ext cx="333679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Genie respondeu diferente do roteiro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99031" y="4814370"/>
            <a:ext cx="7230683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313328" y="4915968"/>
            <a:ext cx="728217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normal, ele varia. Pergunte "qual a regra de crítico?" e veja que ele não sabe</a:t>
            </a:r>
            <a:endParaRPr lang="en-US" sz="10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0944745" y="6387940"/>
            <a:ext cx="50436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 / 130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180315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FRASE DO PRIMEIRO DIA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126998"/>
            <a:ext cx="11094443" cy="1708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291"/>
              </a:lnSpc>
              <a:buNone/>
            </a:pPr>
            <a:r>
              <a:rPr lang="en-US" sz="3900" b="1" spc="-39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"São </a:t>
            </a:r>
            <a:pPr algn="l" indent="0" marL="0">
              <a:lnSpc>
                <a:spcPct val="98291"/>
              </a:lnSpc>
              <a:buNone/>
            </a:pPr>
            <a:r>
              <a:rPr lang="en-US" sz="3900" b="1" spc="-39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projetos</a:t>
            </a:r>
            <a:pPr algn="l" indent="0" marL="0">
              <a:lnSpc>
                <a:spcPct val="98291"/>
              </a:lnSpc>
              <a:buNone/>
            </a:pPr>
            <a:r>
              <a:rPr lang="en-US" sz="3900" b="1" spc="-39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em risco, espalhados em três ferramentas. Quatro deles estão com farol verde."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4279991"/>
            <a:ext cx="11094443" cy="6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 o que você responde ao dono no fim da noite 1. Na noite 4, a frase vem com o quanto custa, a causa e a decisão.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44447" y="6387940"/>
            <a:ext cx="50467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76 / 130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200724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TERÇA, 20/10 · ENGENHEIRO DE DADOS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331086"/>
            <a:ext cx="11094443" cy="155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6000" b="1" spc="-120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Integrar</a:t>
            </a:r>
            <a:endParaRPr lang="en-US" sz="6000" dirty="0"/>
          </a:p>
          <a:p>
            <a:pPr algn="l" indent="0" marL="0">
              <a:lnSpc>
                <a:spcPct val="87179"/>
              </a:lnSpc>
              <a:buNone/>
            </a:pPr>
            <a:r>
              <a:rPr lang="en-US" sz="6000" b="1" spc="-120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vez, para sempre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4075904"/>
            <a:ext cx="11094443" cy="6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prompts no Claude Code viram um projeto de verdade: pipeline, testes, IA nos textos, métrica governada, dashboard e Genie, tudo em código.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299043"/>
            <a:ext cx="3021135" cy="279393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WORKSPACE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Workspace e bundle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0085" r="10085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"disco" do Databricks: pastas, notebooks, arquivos SQL, dashboards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 deploy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copia o repositório para 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.bundle/vertice/dev/files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7329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690745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código vem do Git, nunca é editado aqui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3036117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3074216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448857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em diante: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src/silver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metricas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44944" y="6387940"/>
            <a:ext cx="50416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78 / 130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COMO RODAR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Code + o bundle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vertice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811591"/>
          </a:xfrm>
          <a:prstGeom prst="roundRect">
            <a:avLst>
              <a:gd name="adj" fmla="val 5420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67615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51829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instalar a CLI do Databricks e o Claude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databricks auth login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seu workspace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abrir o Claude Code na pasta da noite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037506"/>
            <a:ext cx="105357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3123" y="3075605"/>
            <a:ext cx="91081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cada prompt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84225" y="3412147"/>
            <a:ext cx="4794130" cy="711182"/>
          </a:xfrm>
          <a:prstGeom prst="roundRect">
            <a:avLst>
              <a:gd name="adj" fmla="val 16071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1070" y="3583592"/>
            <a:ext cx="4583061" cy="37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bundle deploy --profile SEU-PERFIL</a:t>
            </a: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bundle run vertice_farol --profile SEU-PERFIL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05392" y="1582301"/>
            <a:ext cx="965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461956" y="1582301"/>
            <a:ext cx="400759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NASCE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91095" y="1880744"/>
            <a:ext cx="1156564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5392" y="1982341"/>
            <a:ext cx="9650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47659" y="1880744"/>
            <a:ext cx="40820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61956" y="1982341"/>
            <a:ext cx="400759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bundle + conferência da bronze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1095" y="2308068"/>
            <a:ext cx="1156564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5392" y="2409666"/>
            <a:ext cx="9650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47659" y="2308068"/>
            <a:ext cx="40820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61956" y="2409666"/>
            <a:ext cx="400759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silver: as 3 ferramentas viram uma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91095" y="2735393"/>
            <a:ext cx="1156564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5392" y="2836990"/>
            <a:ext cx="9650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47659" y="2735393"/>
            <a:ext cx="40820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61956" y="2836990"/>
            <a:ext cx="400759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+ testes de qualidade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91095" y="3162717"/>
            <a:ext cx="1156564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05392" y="3264314"/>
            <a:ext cx="9650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47659" y="3162717"/>
            <a:ext cx="40820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61956" y="3264314"/>
            <a:ext cx="400759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no status semanal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91095" y="3590041"/>
            <a:ext cx="1156564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05392" y="3691639"/>
            <a:ext cx="9650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47659" y="3590041"/>
            <a:ext cx="40820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461956" y="3691639"/>
            <a:ext cx="400759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métrica governada (mv_projetos)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91095" y="4017366"/>
            <a:ext cx="1156564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05392" y="4118963"/>
            <a:ext cx="9650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347659" y="4017366"/>
            <a:ext cx="40820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461956" y="4118963"/>
            <a:ext cx="400759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e Genie como código</a:t>
            </a:r>
            <a:endParaRPr lang="en-US" sz="105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10945340" y="6387940"/>
            <a:ext cx="50374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79 / 130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JOBS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Jobs &amp; Pipelines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0085" r="10085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lista de tudo que roda sozinho, com agenda e as últimas execuções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vermelho e verde lado a lado: o histórico conta a história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54244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06227" y="2792343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7329" y="3166983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job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vertice_farol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(agendado, pausado no ensaio) e o pipeline. Os ✕ são os ensaios com erro, corrigidos no código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34625" y="6387940"/>
            <a:ext cx="51489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 / 130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O JOB VERTICE_FAROL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ordem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é sugestão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0667733" cy="4177005"/>
          </a:xfrm>
          <a:prstGeom prst="roundRect">
            <a:avLst>
              <a:gd name="adj" fmla="val 3344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1728347"/>
            <a:ext cx="10375641" cy="3884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981" y="587360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377" y="591170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tarefas na noite 2; a noite 3 pendura as 3 do modelo no mesmo job (em azul). Se a conferência falha, nada roda.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1633" y="6387940"/>
            <a:ext cx="47640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81 / 130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O JOB NO WORKSPACE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tarefas verdes,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minutos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485976"/>
            <a:ext cx="10667733" cy="17824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981" y="3464235"/>
            <a:ext cx="253358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84225" y="3661080"/>
            <a:ext cx="87538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73123" y="3699179"/>
            <a:ext cx="72549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conferência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84225" y="4073820"/>
            <a:ext cx="2172662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s · as 9 tabelas da bronze, contadas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3363" y="3464235"/>
            <a:ext cx="253358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95608" y="3661080"/>
            <a:ext cx="78083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84505" y="3699179"/>
            <a:ext cx="6271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medalhão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695608" y="4073820"/>
            <a:ext cx="2172662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min · silver + gold no pipeline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84745" y="3464235"/>
            <a:ext cx="253358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6990" y="3661080"/>
            <a:ext cx="136759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95888" y="3699179"/>
            <a:ext cx="123739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+ testes + métrica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406990" y="4073820"/>
            <a:ext cx="2172662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~30 s · só status novo vai para a IA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896128" y="3464235"/>
            <a:ext cx="253358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18372" y="3661080"/>
            <a:ext cx="174630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207270" y="3699179"/>
            <a:ext cx="163125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 → modelo → score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18372" y="4073820"/>
            <a:ext cx="2172662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~2,5 min · noite 3</a:t>
            </a:r>
            <a:endParaRPr lang="en-US" sz="11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942761" y="6387940"/>
            <a:ext cx="50643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82 / 130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LAKEFLOW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Lakeflow pipeline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820118"/>
            <a:ext cx="6455308" cy="27881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você escreve 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quê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(SQL de cada tabela), o Databricks resolve o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quando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a ordem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desenha o grafo sozinho, a partir dos 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56761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485070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expectativas de qualidade em cada tabela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2830442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2868541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243181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2: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vertice_medalhao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as 3 ferramentas desaguando em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silver.tarefas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40578" y="6387940"/>
            <a:ext cx="50870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83 / 130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O PIPELINE VERTICE_MEDALHAO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8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Você declara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cada tabela é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 o Lakeflow acha a ordem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2015281"/>
            <a:ext cx="10667733" cy="4144065"/>
          </a:xfrm>
          <a:prstGeom prst="roundRect">
            <a:avLst>
              <a:gd name="adj" fmla="val 3371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2161327"/>
            <a:ext cx="10375641" cy="385197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33831" y="6387940"/>
            <a:ext cx="51571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84 / 130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O PIPELINE NO WORKSPACE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grafo que o Lakeflow desenha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sozinho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49" y="1455304"/>
            <a:ext cx="10584996" cy="457188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934923" y="6387940"/>
            <a:ext cx="51458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85 / 130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SILVER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tabelas limpas: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sujeira resolvida uma vez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154158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587163" y="1582301"/>
            <a:ext cx="47485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272351" y="1582301"/>
            <a:ext cx="83647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 LIMPEZA FEZ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1710885" cy="549857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1541583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72866" y="1880744"/>
            <a:ext cx="685188" cy="549857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87163" y="1982341"/>
            <a:ext cx="474857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4.917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8054" y="1880744"/>
            <a:ext cx="8271660" cy="549857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72351" y="1982341"/>
            <a:ext cx="8364789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3 ferramentas viram uma</a:t>
            </a:r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sem linha de TOTAL, sem tarefa-resumo, data de série e milissegundo convertidas (Excel 1.643 · ClickUp 2.119 · Project 1.155)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1981" y="2481399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582996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72866" y="2481399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587163" y="2582996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8054" y="2481399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72351" y="2582996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em 2 formatos unificada; ferramenta de 8 jeitos vira excel, clickup ou msproject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1981" y="2908723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3010321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status_semanal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72866" y="2908723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587163" y="3010321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3.911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58054" y="2908723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72351" y="3010321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 em minúsculas; status vazio sinalizado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1981" y="3336048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437645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72866" y="3336048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587163" y="3437645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23.640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58054" y="3336048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272351" y="3437645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vírgula decimal recuperada: os 671 lançamentos voltam (R$ 193,35 mi)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1981" y="3763372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278" y="3864970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colaboradores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472866" y="3763372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587163" y="3864970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58054" y="3763372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272351" y="3864970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duplicatas do RH removidas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1981" y="4190697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6278" y="4292294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apontamentos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72866" y="4190697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587163" y="4292294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30.883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58054" y="4190697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272351" y="4292294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semana alinhada à sexta do status; hora extra sinalizada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61981" y="4618021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76278" y="4719619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entregas_fornecedor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472866" y="4618021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587163" y="4719619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158054" y="4618021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272351" y="4719619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CodeForge de 4 jeitos vira 1; atraso calculado</a:t>
            </a:r>
            <a:endParaRPr lang="en-US" sz="105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10934526" y="6387940"/>
            <a:ext cx="51499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86 / 130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SILVER.TAREFAS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Excel, ClickUp e Project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mesma tabela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46458"/>
          <a:stretch/>
        </p:blipFill>
        <p:spPr>
          <a:xfrm>
            <a:off x="761981" y="1455304"/>
            <a:ext cx="10667733" cy="43178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981" y="5836695"/>
            <a:ext cx="1109444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Mesmas colunas, mesmo tipo, mesma régua, não importa de onde veio. É aqui que o "juntar à mão" da noite 1 vira código testado.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44944" y="6387940"/>
            <a:ext cx="50416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87 / 130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LINEAGE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Lineage: de onde veio, para onde vai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4698" r="14698" t="0" b="0"/>
          <a:stretch/>
        </p:blipFill>
        <p:spPr>
          <a:xfrm>
            <a:off x="761981" y="1182261"/>
            <a:ext cx="5257669" cy="35559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981" y="4788971"/>
            <a:ext cx="5467975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lista: quem lê </a:t>
            </a:r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projeto_situacao_atual</a:t>
            </a:r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(Genie, dashboard, metric view, job) e de onde ela vem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9246" r="9246" t="0" b="0"/>
          <a:stretch/>
        </p:blipFill>
        <p:spPr>
          <a:xfrm>
            <a:off x="6172046" y="1182261"/>
            <a:ext cx="5257669" cy="355591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72046" y="4788971"/>
            <a:ext cx="546797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grafo: silver → gold → metric view e as features do ml, coluna a coluna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61981" y="528425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377" y="532235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Ninguém desenhou isto. O Unity Catalog anota sozinho cada leitura e cada escrita.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35022" y="6387940"/>
            <a:ext cx="51448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88 / 130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A GOLD NO CATÁLOGO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objetos,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pergunta cada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080043"/>
            <a:ext cx="6286343" cy="28144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38819" y="1455304"/>
            <a:ext cx="4190895" cy="2944640"/>
          </a:xfrm>
          <a:prstGeom prst="roundRect">
            <a:avLst>
              <a:gd name="adj" fmla="val 517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61063" y="1652149"/>
            <a:ext cx="133614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49961" y="1690248"/>
            <a:ext cx="120468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cria cada um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461063" y="207123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51559" y="1988691"/>
            <a:ext cx="3698148" cy="102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projeto_situacao_atual, fato_projeto_semana, utilizacao_pessoa_semana (pipeline), status_estruturado (IA), mv_projetos (métrica)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61063" y="317581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51559" y="3093266"/>
            <a:ext cx="369814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score_estouro_30d (o modelo)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61063" y="345768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51559" y="3375139"/>
            <a:ext cx="369814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contratos (IA nos PDFs)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61063" y="3707811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13460" y="3745910"/>
            <a:ext cx="373777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tabela tem COMMENT: é o que o Genie lê para entender o que cada coluna quer dizer.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935419" y="6387940"/>
            <a:ext cx="51406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89 / 130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· 1 DE 5 · GOLD.PROJETO_SITUACAO_ATUAL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fotografia de hoje: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perguntas 1 e 2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845622"/>
          </a:xfrm>
          <a:prstGeom prst="roundRect">
            <a:avLst>
              <a:gd name="adj" fmla="val 53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72636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61051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por projeto (60)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cadastro: cliente, segmento, ferramenta, gerente, contrato, prazo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60323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PV, EV, AC calculados sobre as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 das 3 ferramentas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96765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88511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SPI, CPI, EAC,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estouro previsto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margem, atraso projetado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24953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316698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situação: ok, atenção, crítico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4225" y="353140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4721" y="3448857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 do gerente × farol calculado, e a coluna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melancia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1095" y="1582301"/>
            <a:ext cx="5238619" cy="2845622"/>
          </a:xfrm>
          <a:prstGeom prst="roundRect">
            <a:avLst>
              <a:gd name="adj" fmla="val 5355"/>
            </a:avLst>
          </a:prstGeom>
          <a:solidFill>
            <a:srgbClr val="0059D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13340" y="1779146"/>
            <a:ext cx="43496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02237" y="1817245"/>
            <a:ext cx="26745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13340" y="2115688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· 10 · 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413340" y="2522078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críticos · em atenção · melancias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13340" y="2871616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413340" y="3278006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estouro previsto, o mesmo da noite 1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13340" y="3627545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0,92 · 0,97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413340" y="4033935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e CPI da carteira · margem projetada 20,4%</a:t>
            </a:r>
            <a:endParaRPr lang="en-US" sz="11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0935022" y="6387940"/>
            <a:ext cx="51448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 / 130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· 2 DE 5 · GOLD.FATO_PROJETO_SEMANA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evolução: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× semana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987203"/>
          </a:xfrm>
          <a:prstGeom prst="roundRect">
            <a:avLst>
              <a:gd name="adj" fmla="val 766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87240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72239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4.235 linhas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PV, EV e AC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acumulados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até cada sexta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SPI, CPI e EAC semana a semana; farol do gerente vigente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horas disponíveis, apontadas e ociosas da equipe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04385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296130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EV histórico vem do status semanal: as ferramentas só guardam o % de hoje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1095" y="1582301"/>
            <a:ext cx="5238619" cy="1987203"/>
          </a:xfrm>
          <a:prstGeom prst="roundRect">
            <a:avLst>
              <a:gd name="adj" fmla="val 7669"/>
            </a:avLst>
          </a:prstGeom>
          <a:solidFill>
            <a:srgbClr val="0059D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13340" y="1779146"/>
            <a:ext cx="104445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2237" y="1817245"/>
            <a:ext cx="90132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que serve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linha do SPI e do CPI da carteira no 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"qual era o SPI do PRJ-016 em setembro?" no Genie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13340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3835" y="267943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base do modelo da noite 3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cada linha é um "momento" do projeto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981" y="3721900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3759999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Cuidado que vira teste: PV, EV e AC já são acumulados. Somar semanas do mesmo projeto conta duas vezes.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0971930" y="6387940"/>
            <a:ext cx="4760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91 / 130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· 3 DE 5 · GOLD.UTILIZACAO_PESSOA_SEMANA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3: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gente parada × gente pedida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8266" r="18266" t="0" b="0"/>
          <a:stretch/>
        </p:blipFill>
        <p:spPr>
          <a:xfrm>
            <a:off x="761981" y="1582301"/>
            <a:ext cx="5238619" cy="38099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1095" y="1582301"/>
            <a:ext cx="5238619" cy="2681816"/>
          </a:xfrm>
          <a:prstGeom prst="roundRect">
            <a:avLst>
              <a:gd name="adj" fmla="val 5683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13340" y="1779146"/>
            <a:ext cx="175414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02237" y="1817245"/>
            <a:ext cx="163940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Pessoa × projeto × semana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utilização = apontado ÷ disponível; custo da hora parada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03835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o SPI do projeto na mesma semana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13340" y="2755633"/>
            <a:ext cx="80037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02237" y="2793732"/>
            <a:ext cx="64748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resposta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13340" y="3174722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03835" y="3092174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COL0017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COL0018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SREs seniores, a ~5,5% no PRJ-007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13340" y="34565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03835" y="337404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PRJ-011 está sem SRE há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semanas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57 dias de impacto no status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13340" y="39441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03835" y="386159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decisão óbvia vira simulação na noite 4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943158" y="6387940"/>
            <a:ext cx="50601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 / 130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FUNÇÕES DE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Funções de IA dentro do SQL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0232" r="10232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ai_classify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ai_extract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ai_query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ai_parse_document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IA como função SQL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 sobre a tabela inteira, sem API key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548568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06227" y="2586667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7329" y="2961308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2: a causa de cada bloqueio, lida no texto livre do status semanal. O PRJ-011 grita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SRE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há 12 semanas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40975" y="6387940"/>
            <a:ext cx="50828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93 / 130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· 4 DE 5 · GOLD.STATUS_ESTRUTURADO · A FUNÇÃO DE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texto livre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vira coluna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0667733" cy="867646"/>
          </a:xfrm>
          <a:prstGeom prst="roundRect">
            <a:avLst>
              <a:gd name="adj" fmla="val 13173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10691609" cy="53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ai_classify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(texto_status,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'["change_freeze","falta_sre","dependencia_fornecedor","rotatividade",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"mudanca_escopo","bug_retrabalho","aprovacao_cliente","sem_bloqueio"]'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ai_extract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(texto_status,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'{"bloqueio": ..., "quem_destrava": ..., "dias_impacto": {"type": "number"}}'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61981" y="2615043"/>
            <a:ext cx="3437348" cy="1530907"/>
          </a:xfrm>
          <a:prstGeom prst="roundRect">
            <a:avLst>
              <a:gd name="adj" fmla="val 99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4225" y="2811888"/>
            <a:ext cx="120398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3123" y="2849987"/>
            <a:ext cx="10672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Regra · custo zero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84225" y="3148430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2.954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84225" y="3554820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"sem bloqueios" e status vazio: não precisa de 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7124" y="2615043"/>
            <a:ext cx="3437348" cy="1530907"/>
          </a:xfrm>
          <a:prstGeom prst="roundRect">
            <a:avLst>
              <a:gd name="adj" fmla="val 9955"/>
            </a:avLst>
          </a:prstGeom>
          <a:solidFill>
            <a:srgbClr val="0059D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99369" y="2811888"/>
            <a:ext cx="126401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88266" y="2849987"/>
            <a:ext cx="112966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· últimos 90 dias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99369" y="3148430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599369" y="3554820"/>
            <a:ext cx="3112573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 com bloqueio, em ~2 minutos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92267" y="2615043"/>
            <a:ext cx="3437348" cy="1530907"/>
          </a:xfrm>
          <a:prstGeom prst="roundRect">
            <a:avLst>
              <a:gd name="adj" fmla="val 99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4512" y="2811888"/>
            <a:ext cx="164550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03410" y="2849987"/>
            <a:ext cx="152641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Palavra-chave · histórico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14512" y="3148430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794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214512" y="3554820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a IA custaria caro e não muda decisão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4285647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323746"/>
            <a:ext cx="1093595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Causas nos últimos 90 dias: escopo 42 · bug 37 · aprovação do cliente 35 · fornecedor 28 ·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SRE 12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rotatividade 9. O MERGE só processa status novo: IA cobra por chamada.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0934228" y="6387940"/>
            <a:ext cx="51530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94 / 130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· 4 DE 5 · A IA NO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travou,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a projeto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00" y="1455304"/>
            <a:ext cx="8877096" cy="444488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935220" y="6387940"/>
            <a:ext cx="51427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95 / 130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· 5 DE 5 · GOLD.MV_PROJETOS · A MÉTRICA GOVERNADA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SPI definido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 só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616829"/>
          </a:xfrm>
          <a:prstGeom prst="roundRect">
            <a:avLst>
              <a:gd name="adj" fmla="val 4368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5045330" cy="22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gold.mv_projetos 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METRICS</a:t>
            </a:r>
            <a:pPr algn="l" indent="0" marL="0">
              <a:lnSpc>
                <a:spcPct val="123932"/>
              </a:lnSpc>
              <a:buNone/>
            </a:pP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YAML AS</a:t>
            </a:r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$$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gold.projeto_situacao_atual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filter: status = 'em_andamento'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measures: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spi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SUM(ev) / SUM(pv)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estouro_previsto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SUM(estouro_previsto)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projetos_em_risco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COUNT(1) FILTER (WHERE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situacao IN ('atenção','crítico'))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91095" y="1582301"/>
            <a:ext cx="5238619" cy="3139004"/>
          </a:xfrm>
          <a:prstGeom prst="roundRect">
            <a:avLst>
              <a:gd name="adj" fmla="val 48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13340" y="1779146"/>
            <a:ext cx="111439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02237" y="1817245"/>
            <a:ext cx="97406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importa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03835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dashboard, Genie e app pedem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MEASURE(spi)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recebem a mesma fórmula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13340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03835" y="2603236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ninguém reescreve SPI num CASE escondido dentro de um gráfico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13340" y="317333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03835" y="309078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metric view só, de propósito: é a dos números da diretoria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13340" y="3629133"/>
            <a:ext cx="4794130" cy="895328"/>
          </a:xfrm>
          <a:prstGeom prst="roundRect">
            <a:avLst>
              <a:gd name="adj" fmla="val 12766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10185" y="3800578"/>
            <a:ext cx="4583061" cy="558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MEASURE(spi), MEASURE(estouro_previsto)</a:t>
            </a: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gold.mv_projetos</a:t>
            </a: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-- 0,92 · R$ 6.465.127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934923" y="6387940"/>
            <a:ext cx="51458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96 / 130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METRIC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 view: a fórmula num lugar só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10" y="1182261"/>
            <a:ext cx="5917850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guarda a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fórmula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KPI, não o número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08006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1997521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MEASURE(cpi)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é sempre ΣEV ÷ ΣAC, em qualquer grão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56761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485070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comentário de cada medida ensina o Genie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3036117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3074216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448857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2: uma metric view só, a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mv_projetos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com 11 medidas: SPI 0,92 · CPI 0,97 · 7 críticos · 4 melancias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45340" y="6387940"/>
            <a:ext cx="50374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97 / 130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TESTES DE QUALIDADE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 o dado de ontem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o dado errado de hoje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345274"/>
          </a:xfrm>
          <a:prstGeom prst="roundRect">
            <a:avLst>
              <a:gd name="adj" fmla="val 649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93114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82348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testes, depois do medalhão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60 projetos têm cronograma na silver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projeto veio da ferramenta do cadastro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horas da silver = linha de TOTAL de cada planilha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04385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296130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por pessoa; CodeForge virou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4225" y="332572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4721" y="324318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limpeza não mudou o custo total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4225" y="360760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74721" y="352505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 do status bate com o das ferramentas (&lt; 1%)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1095" y="1582301"/>
            <a:ext cx="5238619" cy="2345274"/>
          </a:xfrm>
          <a:prstGeom prst="roundRect">
            <a:avLst>
              <a:gd name="adj" fmla="val 6498"/>
            </a:avLst>
          </a:prstGeom>
          <a:solidFill>
            <a:srgbClr val="0059D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13340" y="1779146"/>
            <a:ext cx="9831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02237" y="1817245"/>
            <a:ext cx="8375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quebra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13340" y="2115688"/>
            <a:ext cx="4985895" cy="524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 passou THEN 'ok'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ELSE raise_error('Teste ' || n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|| ' falhou') END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13340" y="2742040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raise_error interrompe o job antes de o dashboard mostrar meio dado com cara de dado inteiro. Verificação da noite: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de 20 ok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1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0935419" y="6387940"/>
            <a:ext cx="51406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98 / 130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DASHBOARD COMO CÓDIGO · PORTFÓLIO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"Projeto Farol · Portfólio",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agora sobre a gold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5657" r="15657" t="0" b="0"/>
          <a:stretch/>
        </p:blipFill>
        <p:spPr>
          <a:xfrm>
            <a:off x="761981" y="1455304"/>
            <a:ext cx="5257669" cy="40638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14376" r="14376" t="0" b="0"/>
          <a:stretch/>
        </p:blipFill>
        <p:spPr>
          <a:xfrm>
            <a:off x="6172046" y="1455304"/>
            <a:ext cx="5257669" cy="406389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1981" y="5582701"/>
            <a:ext cx="1109444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Três páginas: Portfólio, Pessoas e Fornecedores. É um JSON no Git, gerado por script e publicado pelo bundle: tem diff, revisão e rollback.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935816" y="6387940"/>
            <a:ext cx="51365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 / 130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DASHBOARD · FORNECEDORES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promete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não cumpre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027483"/>
            <a:ext cx="5238619" cy="27925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05392" y="1455304"/>
            <a:ext cx="281117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FORNECEDOR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237035" y="1455304"/>
            <a:ext cx="216151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÷ PROMETIDO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91095" y="1753747"/>
            <a:ext cx="2931642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05392" y="1855344"/>
            <a:ext cx="281117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CodeForge (4 grafias)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22738" y="1753747"/>
            <a:ext cx="230697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237035" y="1855344"/>
            <a:ext cx="216151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1,41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91095" y="2189306"/>
            <a:ext cx="293164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5392" y="2290904"/>
            <a:ext cx="281117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QualiTest Brasil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122738" y="2189306"/>
            <a:ext cx="230697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237035" y="2290904"/>
            <a:ext cx="216151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0,98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91095" y="2624866"/>
            <a:ext cx="293164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05392" y="2726463"/>
            <a:ext cx="281117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DataPrime Analytics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22738" y="2624866"/>
            <a:ext cx="230697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237035" y="2726463"/>
            <a:ext cx="216151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0,98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91095" y="3060425"/>
            <a:ext cx="293164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05392" y="3162023"/>
            <a:ext cx="281117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SecureOps Segurança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122738" y="3060425"/>
            <a:ext cx="230697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237035" y="3162023"/>
            <a:ext cx="216151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0,98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91095" y="3495984"/>
            <a:ext cx="293164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5392" y="3597582"/>
            <a:ext cx="2811170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Pixel Design Studio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122738" y="3495984"/>
            <a:ext cx="230697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237035" y="3597582"/>
            <a:ext cx="216151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0,98</a:t>
            </a:r>
            <a:endParaRPr lang="en-US" sz="11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0889779" y="6387940"/>
            <a:ext cx="56153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 / 130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QUERY HISTORY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Query History: o que cada um perguntou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3802" r="13802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consulta que passou pelo warehouse: quem, quando, quanto tempo, de onde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abre o plano e o perfil de cada uma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548568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06227" y="2586667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7329" y="2961308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mostra o SQL que o Genie escreveu por trás de cada resposta. É assim que se audita a IA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26787" y="6387940"/>
            <a:ext cx="52304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101 / 130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GENIE CURADO · "FAROL · DIRETORIA"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mesmo modelo de IA,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agora acerta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4493" r="14493" t="0" b="0"/>
          <a:stretch/>
        </p:blipFill>
        <p:spPr>
          <a:xfrm>
            <a:off x="761981" y="1455304"/>
            <a:ext cx="5257669" cy="393690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rcRect l="14493" r="14493" t="0" b="0"/>
          <a:stretch/>
        </p:blipFill>
        <p:spPr>
          <a:xfrm>
            <a:off x="6172046" y="1455304"/>
            <a:ext cx="5257669" cy="39369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1981" y="5455704"/>
            <a:ext cx="1109444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com COMMENT em toda tabela, a metric view, instruções de negócio ("hoje é 16/10/2026", as regras de corte) e 9 SQLs de exemplo. Também é código no bundle.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897915" y="6387940"/>
            <a:ext cx="55307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102 / 130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O QUE MUDOU DA NOITE 1 PARA CÁ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8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mesmos números,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agora sem ninguém juntar à mão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2680625" y="2015281"/>
            <a:ext cx="49494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BRONZE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68326" y="2015281"/>
            <a:ext cx="37929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GOLD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1981" y="2313723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278" y="2415321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6328" y="2313723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80625" y="2415321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view com CASE, replace e conversão de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54029" y="2313723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68326" y="2415321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silver.tarefas, testada, num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1981" y="2765753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6278" y="2867350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6328" y="2765753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80625" y="2867350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fórmula repetida em cada query e gráfico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54029" y="2765753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68326" y="2867350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mv_projetos: uma fórmula para todos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1981" y="3217782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6278" y="3319380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atrasou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6328" y="3217782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680625" y="3319380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 3.911 textos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54029" y="3217782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68326" y="3319380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causa como coluna (IA)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981" y="3669811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278" y="3771409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Genie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6328" y="3669811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680625" y="3771409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erra as 4 perguntas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54029" y="3669811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68326" y="3771409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acerta, com instrução e exemplo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1981" y="4121841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6278" y="4223438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Atualizar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66328" y="4121841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680625" y="4223438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rodar tudo de novo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54029" y="4121841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68326" y="4223438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 toda segunda às 6h</a:t>
            </a:r>
            <a:endParaRPr lang="en-US" sz="12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0895732" y="6387940"/>
            <a:ext cx="55534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103 / 130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200724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 · QUARTA, 21/10 · CIENTISTA DE DADOS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331086"/>
            <a:ext cx="11094443" cy="155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6000" b="1" spc="-120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 o atraso</a:t>
            </a:r>
            <a:endParaRPr lang="en-US" sz="6000" dirty="0"/>
          </a:p>
          <a:p>
            <a:pPr algn="l" indent="0" marL="0">
              <a:lnSpc>
                <a:spcPct val="87179"/>
              </a:lnSpc>
              <a:buNone/>
            </a:pPr>
            <a:r>
              <a:rPr lang="en-US" sz="6000" b="1" spc="-120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ele acontecer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4075904"/>
            <a:ext cx="11094443" cy="6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4: o que vai dar errado no próximo mês? Um modelo, treinado com o passado de cada projeto, que avisa 40 dias antes.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299043"/>
            <a:ext cx="3021135" cy="279393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 · COMO RODAR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Três prompts,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três tarefas a mais no mesmo job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282372" cy="1397858"/>
          </a:xfrm>
          <a:prstGeom prst="roundRect">
            <a:avLst>
              <a:gd name="adj" fmla="val 10902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124824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11326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 · features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295139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ml.features_projeto_semana: uma linha por projeto e semana, só olhando para trás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133251" y="2090685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54612" y="1582301"/>
            <a:ext cx="3282471" cy="1397858"/>
          </a:xfrm>
          <a:prstGeom prst="roundRect">
            <a:avLst>
              <a:gd name="adj" fmla="val 10902"/>
            </a:avLst>
          </a:prstGeom>
          <a:solidFill>
            <a:srgbClr val="0059DB"/>
          </a:solidFill>
          <a:ln/>
        </p:spPr>
      </p:sp>
      <p:sp>
        <p:nvSpPr>
          <p:cNvPr id="10" name="Shape 8"/>
          <p:cNvSpPr/>
          <p:nvPr/>
        </p:nvSpPr>
        <p:spPr>
          <a:xfrm>
            <a:off x="4676857" y="1779146"/>
            <a:ext cx="123157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65754" y="1817245"/>
            <a:ext cx="109592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modelo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76857" y="2191886"/>
            <a:ext cx="2951501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treino, comparação com as regras de hoje, MLflow e registro no Unity Catalog (@prod)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825981" y="2090685"/>
            <a:ext cx="2417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200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47342" y="1582301"/>
            <a:ext cx="3282372" cy="1397858"/>
          </a:xfrm>
          <a:prstGeom prst="roundRect">
            <a:avLst>
              <a:gd name="adj" fmla="val 10902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9587" y="1779146"/>
            <a:ext cx="11097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485" y="1817245"/>
            <a:ext cx="96921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score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369587" y="2191886"/>
            <a:ext cx="295139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gold.score_estouro_30d: probabilidade, ranking, faixa e motivos em português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1981" y="3170654"/>
            <a:ext cx="5238619" cy="1734400"/>
          </a:xfrm>
          <a:prstGeom prst="roundRect">
            <a:avLst>
              <a:gd name="adj" fmla="val 8787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4225" y="3367499"/>
            <a:ext cx="165671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73123" y="3405598"/>
            <a:ext cx="15380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laboratório: schema ml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84225" y="3780239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features, métricas e o modelo moram fora da gold. Na gold fica só a resposta: o score.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1095" y="3170654"/>
            <a:ext cx="5238619" cy="1734400"/>
          </a:xfrm>
          <a:prstGeom prst="roundRect">
            <a:avLst>
              <a:gd name="adj" fmla="val 8787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3340" y="3367499"/>
            <a:ext cx="52515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02237" y="3405598"/>
            <a:ext cx="36125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13340" y="3742140"/>
            <a:ext cx="4794130" cy="692728"/>
          </a:xfrm>
          <a:prstGeom prst="roundRect">
            <a:avLst>
              <a:gd name="adj" fmla="val 16500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10185" y="3913586"/>
            <a:ext cx="4583061" cy="356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bundle deploy --profile SEU-PERFIL</a:t>
            </a:r>
            <a:endParaRPr lang="en-US" sz="95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bundle run vertice_farol --profile SEU-PERFIL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413340" y="4511066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tarefas, 4 a 5 minutos.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0890077" y="6387940"/>
            <a:ext cx="56122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105 / 130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NOTEBOOK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Notebook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0085" r="10085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texto, código e resultado na mesma página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08006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1997521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Python, SQL, Scala ou R, célula a célula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36194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279395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vira tarefa de job sem mudar uma linha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2624766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2662865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037506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3: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02-modelo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03-score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que treinam e pontuam o modelo dentro do job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889680" y="6387940"/>
            <a:ext cx="56163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106 / 130</a:t>
            </a:r>
            <a:endParaRPr lang="en-US" sz="1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 · AS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descreve um projeto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vai estourar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62747" cy="1499654"/>
          </a:xfrm>
          <a:prstGeom prst="roundRect">
            <a:avLst>
              <a:gd name="adj" fmla="val 101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77299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61900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está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2940873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SPI, CPI e o pior dos dois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2940873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físico × % do prazo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4424" y="1582301"/>
            <a:ext cx="3462747" cy="1499654"/>
          </a:xfrm>
          <a:prstGeom prst="roundRect">
            <a:avLst>
              <a:gd name="adj" fmla="val 101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6669" y="1779146"/>
            <a:ext cx="97708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75567" y="1817245"/>
            <a:ext cx="8312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onde vai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86669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77164" y="2115688"/>
            <a:ext cx="2940873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variação em 4 e 8 semanas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86669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77164" y="2397561"/>
            <a:ext cx="2940873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semanas com CPI caindo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86669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77164" y="2679435"/>
            <a:ext cx="2940873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e CPI do último mês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66868" y="1582301"/>
            <a:ext cx="3462747" cy="1499654"/>
          </a:xfrm>
          <a:prstGeom prst="roundRect">
            <a:avLst>
              <a:gd name="adj" fmla="val 101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9112" y="1779146"/>
            <a:ext cx="97539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78010" y="1817245"/>
            <a:ext cx="82950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Gente e custo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89112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79608" y="2115688"/>
            <a:ext cx="2940873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ociosidade da equipe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89112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79608" y="2397561"/>
            <a:ext cx="2940873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 do custo em consultoria e cloud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89112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79608" y="2679435"/>
            <a:ext cx="2940873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saídas do squad em 12 semanas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1981" y="3221651"/>
            <a:ext cx="10667733" cy="1003573"/>
          </a:xfrm>
          <a:prstGeom prst="roundRect">
            <a:avLst>
              <a:gd name="adj" fmla="val 15185"/>
            </a:avLst>
          </a:prstGeom>
          <a:solidFill>
            <a:srgbClr val="0059DB"/>
          </a:solidFill>
          <a:ln/>
        </p:spPr>
      </p:sp>
      <p:sp>
        <p:nvSpPr>
          <p:cNvPr id="30" name="Shape 28"/>
          <p:cNvSpPr/>
          <p:nvPr/>
        </p:nvSpPr>
        <p:spPr>
          <a:xfrm>
            <a:off x="984225" y="3418497"/>
            <a:ext cx="3166289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73123" y="3456596"/>
            <a:ext cx="31080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texto do gerente, já classificado pela IA da noite 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84225" y="3831236"/>
            <a:ext cx="10632174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quantos dos últimos 4 status citaram freeze, falta de SRE, fornecedor, rotatividade, escopo, retrabalho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1981" y="4364921"/>
            <a:ext cx="3437348" cy="997223"/>
          </a:xfrm>
          <a:prstGeom prst="roundRect">
            <a:avLst>
              <a:gd name="adj" fmla="val 1528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4225" y="4561766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4.235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984225" y="4968155"/>
            <a:ext cx="3112573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linhas (projeto × semana)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377124" y="4364921"/>
            <a:ext cx="3437348" cy="997223"/>
          </a:xfrm>
          <a:prstGeom prst="roundRect">
            <a:avLst>
              <a:gd name="adj" fmla="val 1528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99369" y="4561766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1.643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4599369" y="4968155"/>
            <a:ext cx="3112573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linhas de treino, com rótulo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992267" y="4364921"/>
            <a:ext cx="3437348" cy="997223"/>
          </a:xfrm>
          <a:prstGeom prst="roundRect">
            <a:avLst>
              <a:gd name="adj" fmla="val 1528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14512" y="4561766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16,7%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8214512" y="4968155"/>
            <a:ext cx="3112573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taxa base: estoura em 30 dias</a:t>
            </a:r>
            <a:endParaRPr lang="en-US" sz="115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10900098" y="6387940"/>
            <a:ext cx="55080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107 / 130</a:t>
            </a:r>
            <a:endParaRPr lang="en-US" sz="1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 · O MODELO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Vale mais que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regra de hoje?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495081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PREVÊ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865269" y="1582301"/>
            <a:ext cx="5035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578039" y="1582301"/>
            <a:ext cx="49268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LEITURA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498899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495081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regra atual (SPI ou CPI &lt; 0,9)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50972" y="1880744"/>
            <a:ext cx="712770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65269" y="1982341"/>
            <a:ext cx="50354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0,50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63742" y="1880744"/>
            <a:ext cx="4965973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78039" y="1982341"/>
            <a:ext cx="49268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só vê o que já aconteceu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1981" y="2332773"/>
            <a:ext cx="498899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434370"/>
            <a:ext cx="495081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regra da folga (quem está mais perto de 0,9)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50972" y="2332773"/>
            <a:ext cx="712770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65269" y="2434370"/>
            <a:ext cx="50354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0,87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63742" y="2332773"/>
            <a:ext cx="4965973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78039" y="2434370"/>
            <a:ext cx="49268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baseline honesto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1981" y="2784802"/>
            <a:ext cx="4988991" cy="40123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2886400"/>
            <a:ext cx="495081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(HistGradientBoosting)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50972" y="2784802"/>
            <a:ext cx="712770" cy="40123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65269" y="2886400"/>
            <a:ext cx="503542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200" b="1" dirty="0">
                <a:solidFill>
                  <a:srgbClr val="3EC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63742" y="2784802"/>
            <a:ext cx="4965973" cy="40123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78039" y="2886400"/>
            <a:ext cx="49268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ganha da folga, sem vazamento (assert &lt; 0,98)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1981" y="3376528"/>
            <a:ext cx="3437348" cy="1702353"/>
          </a:xfrm>
          <a:prstGeom prst="roundRect">
            <a:avLst>
              <a:gd name="adj" fmla="val 8952"/>
            </a:avLst>
          </a:prstGeom>
          <a:solidFill>
            <a:srgbClr val="0059D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4225" y="3573373"/>
            <a:ext cx="311257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de 10</a:t>
            </a:r>
            <a:endParaRPr lang="en-US" sz="3300" dirty="0"/>
          </a:p>
        </p:txBody>
      </p:sp>
      <p:sp>
        <p:nvSpPr>
          <p:cNvPr id="27" name="Text 25"/>
          <p:cNvSpPr txBox="1"/>
          <p:nvPr/>
        </p:nvSpPr>
        <p:spPr>
          <a:xfrm>
            <a:off x="984225" y="4068661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estouros do teste apareceram no top 5 da semana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77124" y="3376528"/>
            <a:ext cx="3437348" cy="1702353"/>
          </a:xfrm>
          <a:prstGeom prst="roundRect">
            <a:avLst>
              <a:gd name="adj" fmla="val 8952"/>
            </a:avLst>
          </a:prstGeom>
          <a:solidFill>
            <a:srgbClr val="0059D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99369" y="3573373"/>
            <a:ext cx="311257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 dias</a:t>
            </a:r>
            <a:endParaRPr lang="en-US" sz="3300" dirty="0"/>
          </a:p>
        </p:txBody>
      </p:sp>
      <p:sp>
        <p:nvSpPr>
          <p:cNvPr id="30" name="Text 28"/>
          <p:cNvSpPr txBox="1"/>
          <p:nvPr/>
        </p:nvSpPr>
        <p:spPr>
          <a:xfrm>
            <a:off x="4599369" y="4068661"/>
            <a:ext cx="3112573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antecedência, em média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992267" y="3376528"/>
            <a:ext cx="3437348" cy="1702353"/>
          </a:xfrm>
          <a:prstGeom prst="roundRect">
            <a:avLst>
              <a:gd name="adj" fmla="val 895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14512" y="3573373"/>
            <a:ext cx="3112573" cy="83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corte no tempo</a:t>
            </a:r>
            <a:endParaRPr lang="en-US" sz="3300" dirty="0"/>
          </a:p>
        </p:txBody>
      </p:sp>
      <p:sp>
        <p:nvSpPr>
          <p:cNvPr id="33" name="Text 31"/>
          <p:cNvSpPr txBox="1"/>
          <p:nvPr/>
        </p:nvSpPr>
        <p:spPr>
          <a:xfrm>
            <a:off x="8214512" y="4487750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treina até mar/2026, testa a partir de abr/2026: o futuro nunca entra no treino</a:t>
            </a:r>
            <a:endParaRPr lang="en-US" sz="11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0890176" y="6387940"/>
            <a:ext cx="56112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108 / 130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MLFLOW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MLflow: o caderno do cientista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8118" r="8118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treino vira uma execução: parâmetros, métricas, gráficos, o modelo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dá para comparar treinos lado a lado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548568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06227" y="2586667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7329" y="2961308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3: AUC 0,92 contra 0,50 da regra atual. 9 de 10 estouros avisados com 41 dias de antecedência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890573" y="6387940"/>
            <a:ext cx="56070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109 / 130</a:t>
            </a:r>
            <a:endParaRPr lang="en-US" sz="1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MODELOS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no Unity Catalog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358753"/>
            <a:ext cx="6455308" cy="37109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é objeto de catálogo, como uma tabela: dono, permissão, versões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alias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@prod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diz qual versão o job usa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56761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485070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trocar de versão é mover o alias, não reescrever código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3036117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3074216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448857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ml.modelo_estouro_30d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@prod, no laboratório do cientista. O score sai em lote, gravado na gold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26787" y="6387940"/>
            <a:ext cx="52304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110 / 130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 · GOLD.SCORE_ESTOURO_30D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lista que o dono abre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segunda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27065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365117" y="1582301"/>
            <a:ext cx="83043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392203" y="1582301"/>
            <a:ext cx="56999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168868" y="1582301"/>
            <a:ext cx="61756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FAIXA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991272" y="1582301"/>
            <a:ext cx="761711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MOTIVOS (EM PORTUGUÊS)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1981" y="1880744"/>
            <a:ext cx="488839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76278" y="1982341"/>
            <a:ext cx="27065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50820" y="1880744"/>
            <a:ext cx="1027087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65117" y="1982341"/>
            <a:ext cx="83043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77906" y="1880744"/>
            <a:ext cx="776665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392203" y="1982341"/>
            <a:ext cx="56999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54571" y="1880744"/>
            <a:ext cx="822404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68868" y="1982341"/>
            <a:ext cx="61756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76975" y="1880744"/>
            <a:ext cx="7552739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91272" y="1982341"/>
            <a:ext cx="7617111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já abaixo do corte: SPI 0,63; ritmo do último mês em 56% do planejado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1981" y="2299833"/>
            <a:ext cx="488839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2401431"/>
            <a:ext cx="27065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50820" y="2299833"/>
            <a:ext cx="1027087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365117" y="2401431"/>
            <a:ext cx="83043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77906" y="2299833"/>
            <a:ext cx="776665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392203" y="2401431"/>
            <a:ext cx="56999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54571" y="2299833"/>
            <a:ext cx="822404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168868" y="2401431"/>
            <a:ext cx="61756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76975" y="2299833"/>
            <a:ext cx="7552739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991272" y="2401431"/>
            <a:ext cx="7617111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já abaixo do corte: SPI 0,77; falta de SRE em 4 dos últimos 4 status; 38% das horas paradas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1981" y="2718923"/>
            <a:ext cx="488839" cy="368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278" y="2820520"/>
            <a:ext cx="27065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50820" y="2718923"/>
            <a:ext cx="1027087" cy="368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365117" y="2820520"/>
            <a:ext cx="83043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77906" y="2718923"/>
            <a:ext cx="776665" cy="368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392203" y="2820520"/>
            <a:ext cx="56999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0,89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54571" y="2718923"/>
            <a:ext cx="822404" cy="368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168868" y="2820520"/>
            <a:ext cx="61756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76975" y="2718923"/>
            <a:ext cx="7552739" cy="368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991272" y="2820520"/>
            <a:ext cx="7617111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pelo status semanal o índice já é 0,90: o cronograma da ferramenta diz 0,94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1981" y="3138012"/>
            <a:ext cx="488839" cy="368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76278" y="3239610"/>
            <a:ext cx="27065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250820" y="3138012"/>
            <a:ext cx="1027087" cy="368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365117" y="3239610"/>
            <a:ext cx="83043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PRJ-024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77906" y="3138012"/>
            <a:ext cx="776665" cy="368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392203" y="3239610"/>
            <a:ext cx="56999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0,46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054571" y="3138012"/>
            <a:ext cx="822404" cy="368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168868" y="3239610"/>
            <a:ext cx="61756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6C3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médio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876975" y="3138012"/>
            <a:ext cx="7552739" cy="368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991272" y="3239610"/>
            <a:ext cx="7617111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0,01 do corte de 0,9 (índice 0,91)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61981" y="3557102"/>
            <a:ext cx="488839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76278" y="3658699"/>
            <a:ext cx="27065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250820" y="3557102"/>
            <a:ext cx="1027087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365117" y="3658699"/>
            <a:ext cx="83043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PRJ-026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77906" y="3557102"/>
            <a:ext cx="776665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2392203" y="3658699"/>
            <a:ext cx="56999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0,35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054571" y="3557102"/>
            <a:ext cx="822404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168868" y="3658699"/>
            <a:ext cx="61756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6C3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médio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876975" y="3557102"/>
            <a:ext cx="7552739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991272" y="3658699"/>
            <a:ext cx="7617111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0,00 do corte; consultoria atrasando em 2 dos últimos 4 status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61981" y="3976191"/>
            <a:ext cx="488839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76278" y="4077789"/>
            <a:ext cx="270654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250820" y="3976191"/>
            <a:ext cx="1027087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365117" y="4077789"/>
            <a:ext cx="83043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PRJ-053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277906" y="3976191"/>
            <a:ext cx="776665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2392203" y="4077789"/>
            <a:ext cx="56999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0,32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054571" y="3976191"/>
            <a:ext cx="822404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3168868" y="4077789"/>
            <a:ext cx="617562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6C3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médio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876975" y="3976191"/>
            <a:ext cx="7552739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3991272" y="4077789"/>
            <a:ext cx="7617111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ritmo do último mês em 74%; squad perdendo gente: 2 saídas em 12 semanas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61981" y="4484179"/>
            <a:ext cx="3437348" cy="1194365"/>
          </a:xfrm>
          <a:prstGeom prst="roundRect">
            <a:avLst>
              <a:gd name="adj" fmla="val 12760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84225" y="4681024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· 4 · 19</a:t>
            </a:r>
            <a:endParaRPr lang="en-US" sz="2600" dirty="0"/>
          </a:p>
        </p:txBody>
      </p:sp>
      <p:sp>
        <p:nvSpPr>
          <p:cNvPr id="71" name="Text 69"/>
          <p:cNvSpPr txBox="1"/>
          <p:nvPr/>
        </p:nvSpPr>
        <p:spPr>
          <a:xfrm>
            <a:off x="984225" y="5087413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alto · médio · baixo, dos 41 em andamento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4377124" y="4484179"/>
            <a:ext cx="3437348" cy="1194365"/>
          </a:xfrm>
          <a:prstGeom prst="roundRect">
            <a:avLst>
              <a:gd name="adj" fmla="val 12760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599369" y="4681024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2600" dirty="0"/>
          </a:p>
        </p:txBody>
      </p:sp>
      <p:sp>
        <p:nvSpPr>
          <p:cNvPr id="74" name="Text 72"/>
          <p:cNvSpPr txBox="1"/>
          <p:nvPr/>
        </p:nvSpPr>
        <p:spPr>
          <a:xfrm>
            <a:off x="4599369" y="5087413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já críticos ou em atenção: probabilidade 1,0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7992267" y="4484179"/>
            <a:ext cx="3437348" cy="1194365"/>
          </a:xfrm>
          <a:prstGeom prst="roundRect">
            <a:avLst>
              <a:gd name="adj" fmla="val 12760"/>
            </a:avLst>
          </a:prstGeom>
          <a:solidFill>
            <a:srgbClr val="0059DB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8214512" y="4681024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600" dirty="0"/>
          </a:p>
        </p:txBody>
      </p:sp>
      <p:sp>
        <p:nvSpPr>
          <p:cNvPr id="77" name="Text 75"/>
          <p:cNvSpPr txBox="1"/>
          <p:nvPr/>
        </p:nvSpPr>
        <p:spPr>
          <a:xfrm>
            <a:off x="8214512" y="5087413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"ok" para a regra, mas com risco alto ou médio</a:t>
            </a:r>
            <a:endParaRPr lang="en-US" sz="1150" dirty="0"/>
          </a:p>
        </p:txBody>
      </p:sp>
      <p:pic>
        <p:nvPicPr>
          <p:cNvPr id="7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79" name="Text 76"/>
          <p:cNvSpPr txBox="1"/>
          <p:nvPr/>
        </p:nvSpPr>
        <p:spPr>
          <a:xfrm>
            <a:off x="10963695" y="6387940"/>
            <a:ext cx="48466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111 / 130</a:t>
            </a:r>
            <a:endParaRPr lang="en-US" sz="1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 · O SCORE NO CATÁLOGO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gold.score_estouro_30d,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por projeto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57" y="1455304"/>
            <a:ext cx="6657581" cy="457188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934923" y="6387940"/>
            <a:ext cx="51458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112 / 130</a:t>
            </a:r>
            <a:endParaRPr lang="en-US" sz="1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 · O "UAU"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PRJ-024: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ok hoje, 46% de estourar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37348" cy="1816948"/>
          </a:xfrm>
          <a:prstGeom prst="roundRect">
            <a:avLst>
              <a:gd name="adj" fmla="val 8387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20845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07188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de hoje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311257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3ECF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0,91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610975"/>
            <a:ext cx="3112573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regra diz ok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7124" y="1582301"/>
            <a:ext cx="3437348" cy="1816948"/>
          </a:xfrm>
          <a:prstGeom prst="roundRect">
            <a:avLst>
              <a:gd name="adj" fmla="val 8387"/>
            </a:avLst>
          </a:prstGeom>
          <a:solidFill>
            <a:srgbClr val="0059DB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369" y="1779146"/>
            <a:ext cx="740153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8266" y="1817245"/>
            <a:ext cx="5848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99369" y="2115688"/>
            <a:ext cx="311257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46%</a:t>
            </a:r>
            <a:endParaRPr lang="en-US" sz="3300" dirty="0"/>
          </a:p>
        </p:txBody>
      </p:sp>
      <p:sp>
        <p:nvSpPr>
          <p:cNvPr id="13" name="Text 11"/>
          <p:cNvSpPr txBox="1"/>
          <p:nvPr/>
        </p:nvSpPr>
        <p:spPr>
          <a:xfrm>
            <a:off x="4599369" y="2610975"/>
            <a:ext cx="3112573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cruzar 0,9 nos próximos 30 dias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92267" y="1582301"/>
            <a:ext cx="3437348" cy="1816948"/>
          </a:xfrm>
          <a:prstGeom prst="roundRect">
            <a:avLst>
              <a:gd name="adj" fmla="val 8387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4512" y="1779146"/>
            <a:ext cx="92479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3410" y="1817245"/>
            <a:ext cx="77687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calendário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14512" y="2115688"/>
            <a:ext cx="311257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6C3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01/11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8214512" y="2610975"/>
            <a:ext cx="3112573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começa o change freeze da Black Friday: marketplace sem deploy até 10/01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589744"/>
            <a:ext cx="10667733" cy="1252109"/>
          </a:xfrm>
          <a:prstGeom prst="roundRect">
            <a:avLst>
              <a:gd name="adj" fmla="val 12171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4225" y="3786589"/>
            <a:ext cx="196835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73123" y="3824688"/>
            <a:ext cx="186217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a lição de qualidade: PRJ-013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84225" y="4199329"/>
            <a:ext cx="10632174" cy="445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status de sexta diz 43%; a planilha diz 45%. O modelo usa o boletim e vê índice 0,90; a ferramenta diz 0,94. Quando as fontes não batem, o modelo avisa antes de o número "melhorar" no papel.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0932740" y="6387940"/>
            <a:ext cx="51685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113 / 130</a:t>
            </a:r>
            <a:endParaRPr lang="en-US" sz="1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2169165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 · QUINTA, 22/10 · ENGENHEIRO DE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493007"/>
            <a:ext cx="11094443" cy="155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6000" b="1" spc="-120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dado</a:t>
            </a:r>
            <a:endParaRPr lang="en-US" sz="6000" dirty="0"/>
          </a:p>
          <a:p>
            <a:pPr algn="l" indent="0" marL="0">
              <a:lnSpc>
                <a:spcPct val="87179"/>
              </a:lnSpc>
              <a:buNone/>
            </a:pPr>
            <a:r>
              <a:rPr lang="en-US" sz="6000" b="1" spc="-120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decisão do dono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4237825"/>
            <a:ext cx="1109444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IA lê os contratos em PDF, a Torre vira um app, e a decisão fica gravada com nome e hora.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299043"/>
            <a:ext cx="3021135" cy="279393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 · COMO RODAR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Três prompts 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script que sobe tudo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203841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064890" y="1582301"/>
            <a:ext cx="858054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NASCE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1981" y="1880744"/>
            <a:ext cx="218861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278" y="1982341"/>
            <a:ext cx="203841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agente de contratos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50593" y="1880744"/>
            <a:ext cx="847912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64890" y="1982341"/>
            <a:ext cx="858054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ai_parse_document + ai_extract nos 8 PDFs → </a:t>
            </a:r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gold.contratos</a:t>
            </a:r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 Genie "Farol · Diretoria + Contratos"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1981" y="2316303"/>
            <a:ext cx="218861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6278" y="2417900"/>
            <a:ext cx="203841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o app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50593" y="2316303"/>
            <a:ext cx="847912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64890" y="2417900"/>
            <a:ext cx="858054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farol-torre</a:t>
            </a:r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(AppKit): Projetos em risco, Simulador, Perguntar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1981" y="2751862"/>
            <a:ext cx="218861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6278" y="2853460"/>
            <a:ext cx="203841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aprovação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50593" y="2751862"/>
            <a:ext cx="8479122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64890" y="2853460"/>
            <a:ext cx="8580548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aba Decisões, gravando no </a:t>
            </a:r>
            <a:pPr algn="l" indent="0" marL="0">
              <a:lnSpc>
                <a:spcPct val="111111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Lakebase</a:t>
            </a:r>
            <a:pPr algn="l" indent="0" marL="0">
              <a:lnSpc>
                <a:spcPct val="111111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(Postgres) com o usuário e o horário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1981" y="3301719"/>
            <a:ext cx="10667733" cy="711182"/>
          </a:xfrm>
          <a:prstGeom prst="roundRect">
            <a:avLst>
              <a:gd name="adj" fmla="val 16071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8826" y="3473165"/>
            <a:ext cx="10691609" cy="37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 zero, na ordem que funciona: Lakebase → contratos → Genie → app</a:t>
            </a:r>
            <a:pPr algn="l" indent="0" marL="0">
              <a:lnSpc>
                <a:spcPct val="123932"/>
              </a:lnSpc>
              <a:buNone/>
            </a:pPr>
            <a:endParaRPr lang="en-US" sz="10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aulas/aula-04-engenheiro-ia/torre-app/scripts/subir-tudo.sh SEU-PERFIL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1981" y="4139898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377" y="4177997"/>
            <a:ext cx="1093595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app é um usuário do Unity Catalog: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conceder-acesso.sh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dá USE e SELECT na gold e na silver antes do build. O primeiro acesso pede "Authorize", feito por uma pessoa.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926985" y="6387940"/>
            <a:ext cx="52283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115 / 130</a:t>
            </a:r>
            <a:endParaRPr lang="en-US" sz="1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 · O AGENTE QUE LÊ CONTRATO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PDFs,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tabela na gold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0667733" cy="4577045"/>
          </a:xfrm>
          <a:prstGeom prst="roundRect">
            <a:avLst>
              <a:gd name="adj" fmla="val 3052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1728347"/>
            <a:ext cx="10375641" cy="428495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26589" y="6387940"/>
            <a:ext cx="52325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116 / 130</a:t>
            </a:r>
            <a:endParaRPr lang="en-US" sz="10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 · A LIÇÃO DO AI_EXTRACT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schema, texto.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 schema, dado.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174920"/>
          </a:xfrm>
          <a:prstGeom prst="roundRect">
            <a:avLst>
              <a:gd name="adj" fmla="val 7007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939380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79204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schema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15688"/>
            <a:ext cx="4794130" cy="1005656"/>
          </a:xfrm>
          <a:prstGeom prst="roundRect">
            <a:avLst>
              <a:gd name="adj" fmla="val 11365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1070" y="2287133"/>
            <a:ext cx="4583061" cy="66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{"multa_atraso": "0,2% do valor da entrega</a:t>
            </a:r>
            <a:endParaRPr lang="en-US" sz="9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atrasada por dia corrido, limitada a 5%",</a:t>
            </a:r>
            <a:endParaRPr lang="en-US" sz="9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"renovacao_automatica": "renovado</a:t>
            </a:r>
            <a:endParaRPr lang="en-US" sz="9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automaticamente por mais 12 meses"}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84225" y="3197542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dá para somar nem comparar.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1095" y="1582301"/>
            <a:ext cx="5238619" cy="2174920"/>
          </a:xfrm>
          <a:prstGeom prst="roundRect">
            <a:avLst>
              <a:gd name="adj" fmla="val 7007"/>
            </a:avLst>
          </a:prstGeom>
          <a:solidFill>
            <a:srgbClr val="0059DB"/>
          </a:solidFill>
          <a:ln/>
        </p:spPr>
      </p:sp>
      <p:sp>
        <p:nvSpPr>
          <p:cNvPr id="11" name="Shape 9"/>
          <p:cNvSpPr/>
          <p:nvPr/>
        </p:nvSpPr>
        <p:spPr>
          <a:xfrm>
            <a:off x="6413340" y="1779146"/>
            <a:ext cx="1704436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02237" y="1817245"/>
            <a:ext cx="158770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 JSON schema tipado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13340" y="2115688"/>
            <a:ext cx="4794130" cy="1171347"/>
          </a:xfrm>
          <a:prstGeom prst="roundRect">
            <a:avLst>
              <a:gd name="adj" fmla="val 9758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10185" y="2287133"/>
            <a:ext cx="4583061" cy="834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932"/>
              </a:lnSpc>
              <a:buNone/>
            </a:pPr>
            <a:r>
              <a:rPr lang="en-US" sz="9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multa_atraso_pct_dia  0.5     (number)</a:t>
            </a:r>
            <a:endParaRPr lang="en-US" sz="9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teto_multa_pct        10.0    (number)</a:t>
            </a:r>
            <a:endParaRPr lang="en-US" sz="9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renovacao_automatica  true    (boolean)</a:t>
            </a:r>
            <a:endParaRPr lang="en-US" sz="9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aviso_previo_dias     90      (integer)</a:t>
            </a:r>
            <a:endParaRPr lang="en-US" sz="900" dirty="0"/>
          </a:p>
          <a:p>
            <a:pPr algn="l" indent="0" marL="0">
              <a:lnSpc>
                <a:spcPct val="123932"/>
              </a:lnSpc>
              <a:buNone/>
            </a:pPr>
            <a:r>
              <a:rPr lang="en-US" sz="9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data_fim_vigencia     2026-12-31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13340" y="3363233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Vira coluna: filtra, soma, cruza com as entregas.</a:t>
            </a:r>
            <a:endParaRPr lang="en-US" sz="11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937006" y="6387940"/>
            <a:ext cx="51241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117 / 130</a:t>
            </a:r>
            <a:endParaRPr lang="en-US" sz="10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 · GOLD.CONTRATOS NO CATÁLOGO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PDF virou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 e coluna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000994"/>
            <a:ext cx="5257669" cy="24645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981" y="5062014"/>
            <a:ext cx="546797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contrato por linha: fornecedor e objeto, lidos do PDF.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046" y="1995964"/>
            <a:ext cx="5257669" cy="247459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72046" y="5062014"/>
            <a:ext cx="5467975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colunas tipadas: data, booleano, inteiro e decimal. null = contrato sem multa por atraso.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27184" y="6387940"/>
            <a:ext cx="52263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118 / 130</a:t>
            </a:r>
            <a:endParaRPr lang="en-US" sz="1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 · GOLD.CONTRATOS · O QUE O CONTRATO DIZ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Dinheiro na mesa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prazo vencendo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629132"/>
          </a:xfrm>
          <a:prstGeom prst="roundRect">
            <a:avLst>
              <a:gd name="adj" fmla="val 5796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189642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78736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Multa cobrável da CodeForge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R$ 1,12 mi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610975"/>
            <a:ext cx="4985895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120 entregas atrasadas na vigência atual × 0,5% ao dia, com teto de 10% por entrega (cláusula 6). Dá para descontar das próximas faturas.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1095" y="1582301"/>
            <a:ext cx="5238619" cy="2629132"/>
          </a:xfrm>
          <a:prstGeom prst="roundRect">
            <a:avLst>
              <a:gd name="adj" fmla="val 579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3340" y="1779146"/>
            <a:ext cx="88967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237" y="1817245"/>
            <a:ext cx="7403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Aviso prévio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13340" y="2115688"/>
            <a:ext cx="2071437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27637" y="2217285"/>
            <a:ext cx="1916557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NuvemSul Cloud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84777" y="2115688"/>
            <a:ext cx="2722693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99074" y="2217285"/>
            <a:ext cx="259386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venceu há 14 dias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13340" y="2534777"/>
            <a:ext cx="2071437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27637" y="2636375"/>
            <a:ext cx="1916557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DataPrime Analytics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84777" y="2534777"/>
            <a:ext cx="2722693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99074" y="2636375"/>
            <a:ext cx="259386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F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venceu há 15 dias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13340" y="2953867"/>
            <a:ext cx="2071437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27637" y="3055464"/>
            <a:ext cx="1916557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Observa360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4777" y="2953867"/>
            <a:ext cx="2722693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99074" y="3055464"/>
            <a:ext cx="259386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6C3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vence em 15 dias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13340" y="3372956"/>
            <a:ext cx="2071437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27637" y="3474554"/>
            <a:ext cx="1916557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QualiTest Brasil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84777" y="3372956"/>
            <a:ext cx="2722693" cy="36829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99074" y="3474554"/>
            <a:ext cx="2593863" cy="16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00" b="1" dirty="0">
                <a:solidFill>
                  <a:srgbClr val="F6C3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46 dias · não renova sozinho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13340" y="3817445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NuvemSul e DataPrime renovaram sozinhos: </a:t>
            </a:r>
            <a:pPr algn="l" indent="0" marL="0">
              <a:lnSpc>
                <a:spcPct val="115385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R$ 21,4 mi/ano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1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927481" y="6387940"/>
            <a:ext cx="52232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119 / 130</a:t>
            </a:r>
            <a:endParaRPr lang="en-US" sz="10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APPS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Databricks Apps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495404"/>
            <a:ext cx="6455308" cy="34376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site de verdade (React + Node) hospedado no workspace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lê do warehouse, grava no Lakebase, conversa com o Genie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7329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690745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1º acesso, cada pessoa clica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Authorize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app age em nome dela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3241792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3279891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654532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4: 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farol-torre</a:t>
            </a:r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com projetos em risco, o simulador COL0017 → PRJ-011 e o botão Aprovar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897915" y="6387940"/>
            <a:ext cx="55307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120 / 130</a:t>
            </a:r>
            <a:endParaRPr lang="en-US" sz="1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 · APP FAROL-TORRE · ABA 1 DE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em risco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400" r="400" t="0" b="0"/>
          <a:stretch/>
        </p:blipFill>
        <p:spPr>
          <a:xfrm>
            <a:off x="761981" y="1455304"/>
            <a:ext cx="6447470" cy="4190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9946" y="1455304"/>
            <a:ext cx="4029768" cy="3302711"/>
          </a:xfrm>
          <a:prstGeom prst="roundRect">
            <a:avLst>
              <a:gd name="adj" fmla="val 461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22191" y="1652149"/>
            <a:ext cx="96854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11088" y="1690248"/>
            <a:ext cx="82238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mostra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22191" y="207123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12686" y="1988691"/>
            <a:ext cx="3530575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de 41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em risco (7 críticos, 4 melancias)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22191" y="2353112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12686" y="2270564"/>
            <a:ext cx="3530575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R$ 6,5 mi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estouro previsto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22191" y="263498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12686" y="2552438"/>
            <a:ext cx="3530575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R$ 1,2 mi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multa a cobrar de fornecedor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22191" y="291685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12686" y="2834311"/>
            <a:ext cx="3530575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alto risco em 30 dias (modelo da noite 3)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22191" y="340440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12686" y="3321860"/>
            <a:ext cx="3530575" cy="61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projeto com SPI, CPI, farol, estouro, atraso, a causa que a IA leu e a probabilidade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22191" y="4065883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4587" y="4103982"/>
            <a:ext cx="357019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Lê a gold pelo SQL warehouse: os mesmos números do dashboard e do Genie.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934923" y="6387940"/>
            <a:ext cx="51458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121 / 130</a:t>
            </a:r>
            <a:endParaRPr lang="en-US" sz="10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 · APP FAROL-TORRE · ABA 2 DE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Simulador: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se eu mover essa pessoa?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400" r="400" t="0" b="0"/>
          <a:stretch/>
        </p:blipFill>
        <p:spPr>
          <a:xfrm>
            <a:off x="761981" y="1455304"/>
            <a:ext cx="6447470" cy="4190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9946" y="1455304"/>
            <a:ext cx="4029768" cy="3302711"/>
          </a:xfrm>
          <a:prstGeom prst="roundRect">
            <a:avLst>
              <a:gd name="adj" fmla="val 461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22191" y="1652149"/>
            <a:ext cx="124863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11088" y="1690248"/>
            <a:ext cx="111367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COL0017 → PRJ-011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22191" y="207123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12686" y="1988691"/>
            <a:ext cx="3530575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SRE sênior a 6% no PRJ-007, que ainda está no discovery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22191" y="255878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12686" y="2476240"/>
            <a:ext cx="3530575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151 h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paradas viram produção no mês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22191" y="284066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12686" y="2758113"/>
            <a:ext cx="3530575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dias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cronograma recuperados no PRJ-011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22191" y="332821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12686" y="3245662"/>
            <a:ext cx="3530575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R$ 30.123 de ociosidade a menos − R$ 7.992 de mobilização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22191" y="381575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12686" y="3733211"/>
            <a:ext cx="3530575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de R$ 22.131/mês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22191" y="4065883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4587" y="4103982"/>
            <a:ext cx="357019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dias recuperados vêm do que a IA leu no status: 57 dias de impacto por falta de SRE.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906051" y="6387940"/>
            <a:ext cx="54461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122 / 130</a:t>
            </a:r>
            <a:endParaRPr lang="en-US" sz="10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LAKEBASE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Lakebase: um Postgres dentro do Databricks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0640" r="10640" t="0" b="0"/>
          <a:stretch/>
        </p:blipFill>
        <p:spPr>
          <a:xfrm>
            <a:off x="761981" y="1182261"/>
            <a:ext cx="5257669" cy="35559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981" y="4788971"/>
            <a:ext cx="546797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projeto </a:t>
            </a:r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farol-torre</a:t>
            </a:r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Postgres 17, 1 CU, branch production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10640" r="10640" t="0" b="0"/>
          <a:stretch/>
        </p:blipFill>
        <p:spPr>
          <a:xfrm>
            <a:off x="6172046" y="1182261"/>
            <a:ext cx="5257669" cy="355591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72046" y="4788971"/>
            <a:ext cx="546797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tabela </a:t>
            </a:r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torre.decisoes</a:t>
            </a:r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onde o app grava cada aprovação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61981" y="509376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377" y="513186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lakehouse é ótimo para ler muito. O Lakebase é para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gravar uma linha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em milissegundos: a decisão do dono.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03868" y="6387940"/>
            <a:ext cx="54688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123 / 130</a:t>
            </a:r>
            <a:endParaRPr lang="en-US" sz="10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 · APP FAROL-TORRE · ABA 3 DE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Decisões: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gravadas no Lakebase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968" y="1455304"/>
            <a:ext cx="4132645" cy="26669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1095" y="1455304"/>
            <a:ext cx="5238619" cy="2604229"/>
          </a:xfrm>
          <a:prstGeom prst="roundRect">
            <a:avLst>
              <a:gd name="adj" fmla="val 585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13340" y="1652149"/>
            <a:ext cx="107550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02237" y="1690248"/>
            <a:ext cx="93361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13340" y="207123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03835" y="1988691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simulador, o dono escreve a justificativa e aprova ou recusa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13340" y="255878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03835" y="2476240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decisão vai para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torre.decisoes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num Postgres do Lakebase, com o usuário do login e o horário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13340" y="30463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03835" y="29637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aba lista o histórico: quem decidiu o quê, quando e por quê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13340" y="353388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03835" y="3451337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analítico na gold (warehouse); transação no Lakebase (Postgres)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015" y="4274634"/>
            <a:ext cx="2981665" cy="158746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897121" y="6387940"/>
            <a:ext cx="55389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124 / 130</a:t>
            </a:r>
            <a:endParaRPr lang="en-US" sz="10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 · APP FAROL-TORRE · ABA 4 DE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Perguntar: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Genie dentro da Torre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400" r="400" t="0" b="0"/>
          <a:stretch/>
        </p:blipFill>
        <p:spPr>
          <a:xfrm>
            <a:off x="761981" y="1455304"/>
            <a:ext cx="6447470" cy="4190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9946" y="1455304"/>
            <a:ext cx="4029768" cy="2192878"/>
          </a:xfrm>
          <a:prstGeom prst="roundRect">
            <a:avLst>
              <a:gd name="adj" fmla="val 6950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22191" y="1652149"/>
            <a:ext cx="185365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11088" y="1690248"/>
            <a:ext cx="174289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"Farol · Diretoria + Contratos"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22191" y="207123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12686" y="1988691"/>
            <a:ext cx="3530575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projetos, causa do atraso, gente parada, risco em 30 dias e o contrato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22191" y="255878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12686" y="2476240"/>
            <a:ext cx="3530575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"Quanto dá para cobrar de multa da CodeForge?" →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R$ 1.122.967,66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120 entregas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22191" y="30463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12686" y="2963788"/>
            <a:ext cx="3530575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mostra a SQL que rodou: dá para conferir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22191" y="332821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12686" y="3245662"/>
            <a:ext cx="3530575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benchmark: </a:t>
            </a:r>
            <a:pPr algn="l" indent="0" marL="0">
              <a:lnSpc>
                <a:spcPct val="11538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de 10</a:t>
            </a:r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certas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898213" y="6387940"/>
            <a:ext cx="55276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125 / 130</a:t>
            </a:r>
            <a:endParaRPr lang="en-US" sz="1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 · O PITCH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 a Torre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vale no ano 1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37348" cy="1283263"/>
          </a:xfrm>
          <a:prstGeom prst="roundRect">
            <a:avLst>
              <a:gd name="adj" fmla="val 11876"/>
            </a:avLst>
          </a:prstGeom>
          <a:solidFill>
            <a:srgbClr val="0059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4225" y="1779146"/>
            <a:ext cx="311257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R$ 3,0 mi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984225" y="2274434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valor no ano 1: multa cobrada, atraso evitado, gente realocada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77124" y="1582301"/>
            <a:ext cx="3437348" cy="1283263"/>
          </a:xfrm>
          <a:prstGeom prst="roundRect">
            <a:avLst>
              <a:gd name="adj" fmla="val 1187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369" y="1779146"/>
            <a:ext cx="311257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R$ 0,4 mi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4599369" y="2274434"/>
            <a:ext cx="3112573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custo para construir e manter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92267" y="1582301"/>
            <a:ext cx="3437348" cy="1283263"/>
          </a:xfrm>
          <a:prstGeom prst="roundRect">
            <a:avLst>
              <a:gd name="adj" fmla="val 1187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14512" y="1779146"/>
            <a:ext cx="3112573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noites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8214512" y="2274434"/>
            <a:ext cx="3112573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Excel espalhado à decisão gravada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1981" y="3056060"/>
            <a:ext cx="10667733" cy="1499654"/>
          </a:xfrm>
          <a:prstGeom prst="roundRect">
            <a:avLst>
              <a:gd name="adj" fmla="val 101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4225" y="3252905"/>
            <a:ext cx="142633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73123" y="3291004"/>
            <a:ext cx="129847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o dono ganhou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84225" y="367199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74721" y="3589446"/>
            <a:ext cx="10434059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segunda: quem atrasa, quanto custa, quem está parado, o que vem aí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4225" y="395386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74721" y="3871320"/>
            <a:ext cx="10434059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farol que segue o número, não a percepção do gerente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84225" y="423574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74721" y="4153193"/>
            <a:ext cx="10434059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contrato na conversa: multa cobrada e renovação decidida, não automática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897816" y="6387940"/>
            <a:ext cx="55317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126 / 130</a:t>
            </a:r>
            <a:endParaRPr lang="en-US" sz="10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TODOS OS ENTREGÁVEIS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existe no workspace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fim da quinta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122707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284752" y="1582301"/>
            <a:ext cx="939189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ENTREGÁVEIS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1981" y="1880744"/>
            <a:ext cx="1408474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278" y="1982341"/>
            <a:ext cx="1227075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analista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70455" y="1880744"/>
            <a:ext cx="9259259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84752" y="1982341"/>
            <a:ext cx="9391891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catálogo e volume · 9 tabelas na bronze · 6 exemplos SQL · dashboard "Projeto Farol · Noite 1 (bronze)" · Genie "Farol · Noite 1 (bronze, sem curadoria)"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1981" y="2481399"/>
            <a:ext cx="1408474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6278" y="2582996"/>
            <a:ext cx="1227075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engenheiro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70455" y="2481399"/>
            <a:ext cx="9259259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284752" y="2582996"/>
            <a:ext cx="9391891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bundle vertice · job vertice_farol · pipeline vertice_medalhao · silver (7) · gold (5) · IA nos status · mv_projetos · 10 testes · dashboard "Projeto Farol · Portfólio" · Genie "Farol · Diretoria"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1981" y="3082054"/>
            <a:ext cx="1408474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6278" y="3183652"/>
            <a:ext cx="1227075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cientista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70455" y="3082054"/>
            <a:ext cx="9259259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84752" y="3183652"/>
            <a:ext cx="9391891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ml.features_projeto_semana · experimento MLflow · modelo ml.modelo_estouro_30d @prod · gold.score_estouro_30d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1981" y="3509379"/>
            <a:ext cx="1408474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6278" y="3610976"/>
            <a:ext cx="1227075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· engenheiro de 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70455" y="3509379"/>
            <a:ext cx="9259259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284752" y="3610976"/>
            <a:ext cx="9391891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 farol_contratos · gold.contratos · Genie "Farol · Diretoria + Contratos" · app farol-torre (4 abas) · Lakebase farol-torre · pitch</a:t>
            </a:r>
            <a:endParaRPr lang="en-US" sz="10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908234" y="6387940"/>
            <a:ext cx="54234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127 / 130</a:t>
            </a:r>
            <a:endParaRPr lang="en-US" sz="10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NÚMEROS DE REFERÊNCIA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o seu número bateu,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você chegou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2571686" cy="1728050"/>
          </a:xfrm>
          <a:prstGeom prst="roundRect">
            <a:avLst>
              <a:gd name="adj" fmla="val 881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54152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37827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221228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18/18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522078"/>
            <a:ext cx="221228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verificação · R$ 6,47 mi · 7 críticos · 4 melancias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60663" y="1582301"/>
            <a:ext cx="2571686" cy="1728050"/>
          </a:xfrm>
          <a:prstGeom prst="roundRect">
            <a:avLst>
              <a:gd name="adj" fmla="val 881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2908" y="1779146"/>
            <a:ext cx="56573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71806" y="1817245"/>
            <a:ext cx="40345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682908" y="2115688"/>
            <a:ext cx="221228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20/20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682908" y="2522078"/>
            <a:ext cx="2212285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verificação · 4.917 tarefas · 163 status com IA · CodeForge ×1,41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59346" y="1582301"/>
            <a:ext cx="2571686" cy="1728050"/>
          </a:xfrm>
          <a:prstGeom prst="roundRect">
            <a:avLst>
              <a:gd name="adj" fmla="val 881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1590" y="1779146"/>
            <a:ext cx="56860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0488" y="1817245"/>
            <a:ext cx="40644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381590" y="2115688"/>
            <a:ext cx="221228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0,92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381590" y="2522078"/>
            <a:ext cx="221228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AUC · 9 de 10 avisados · 41 dias antes · PRJ-024 em 46%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58029" y="1582301"/>
            <a:ext cx="2571686" cy="1728050"/>
          </a:xfrm>
          <a:prstGeom prst="roundRect">
            <a:avLst>
              <a:gd name="adj" fmla="val 881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80273" y="1779146"/>
            <a:ext cx="57575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69171" y="1817245"/>
            <a:ext cx="41387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080273" y="2115688"/>
            <a:ext cx="221228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47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10/10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080273" y="2522078"/>
            <a:ext cx="2212285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Genie · R$ 1,12 mi de multa · 19 dias e R$ 22,1 mil/mês no simulador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1981" y="3500846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3538945"/>
            <a:ext cx="1093595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noite tem um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99-verificacao.sql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esperado × obtido. "CONFIRA" quer dizer que o problema está na carga ou na query, não no dado: a seed é fixa.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0898312" y="6387940"/>
            <a:ext cx="55265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128 / 130</a:t>
            </a:r>
            <a:endParaRPr lang="en-US" sz="10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MAPA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workspace, </a:t>
            </a:r>
            <a:pPr algn="l" indent="0" marL="0">
              <a:lnSpc>
                <a:spcPct val="94017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blocos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136343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23306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mora o código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Workspace · Git folder · bundle · notebooks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4424" y="1582301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9" name="Shape 7"/>
          <p:cNvSpPr/>
          <p:nvPr/>
        </p:nvSpPr>
        <p:spPr>
          <a:xfrm>
            <a:off x="4586669" y="1779146"/>
            <a:ext cx="109882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5567" y="1817245"/>
            <a:ext cx="95786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processa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86669" y="2191886"/>
            <a:ext cx="3138988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Serverless · SQL Warehouse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66868" y="1582301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9112" y="1779146"/>
            <a:ext cx="126748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8010" y="1817245"/>
            <a:ext cx="113328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mora o dado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89112" y="2191886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Unity Catalog · schemas · tabelas · volumes · lineage · metric views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2922713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225" y="3119558"/>
            <a:ext cx="132523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3123" y="3157657"/>
            <a:ext cx="119333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move o dado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4225" y="3532298"/>
            <a:ext cx="3138988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Ingestion · Lakeflow pipeline · Jobs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4424" y="2922713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6669" y="3119558"/>
            <a:ext cx="110546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75567" y="3157657"/>
            <a:ext cx="96477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pergunta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86669" y="3532298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Editor · Query History · AI/BI Dashboard · Genie · funções de IA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66868" y="2922713"/>
            <a:ext cx="3462747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9112" y="3119558"/>
            <a:ext cx="95743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8010" y="3157657"/>
            <a:ext cx="81082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decide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189112" y="3532298"/>
            <a:ext cx="313898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MLflow · modelo no Unity Catalog · Lakebase · Apps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1981" y="428852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377" y="4326623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 isto existe no </a:t>
            </a:r>
            <a:pPr algn="l" indent="0" marL="0">
              <a:lnSpc>
                <a:spcPct val="10683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 Edition</a:t>
            </a:r>
            <a:pPr algn="l" indent="0" marL="0">
              <a:lnSpc>
                <a:spcPct val="106838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sem cartão de crédito. O que não existe está no último slide.</a:t>
            </a:r>
            <a:endParaRPr lang="en-US" sz="11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0898709" y="6387940"/>
            <a:ext cx="55224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129 / 130</a:t>
            </a:r>
            <a:endParaRPr lang="en-US" sz="10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2395775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FAROL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719617"/>
            <a:ext cx="11094443" cy="7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6000" b="1" spc="-120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Bora </a:t>
            </a:r>
            <a:pPr algn="l" indent="0" marL="0">
              <a:lnSpc>
                <a:spcPct val="87179"/>
              </a:lnSpc>
              <a:buNone/>
            </a:pPr>
            <a:r>
              <a:rPr lang="en-US" sz="6000" b="1" spc="-120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construir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3687273"/>
            <a:ext cx="11094443" cy="6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838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github.com/lvgalvao/ImersaoControlTower · uma pasta por noite, com README, roteiro e verificação.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299043"/>
            <a:ext cx="3021135" cy="2793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130</Slides>
  <Notes>130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130</vt:i4>
      </vt:variant>
    </vt:vector>
  </HeadingPairs>
  <TitlesOfParts>
    <vt:vector size="1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Farol · Imersão Databricks + Claude Code</dc:title>
  <dc:subject>PptxGenJS Presentation</dc:subject>
  <dc:creator>PptxGenJS</dc:creator>
  <cp:lastModifiedBy>PptxGenJS</cp:lastModifiedBy>
  <cp:revision>1</cp:revision>
  <dcterms:created xsi:type="dcterms:W3CDTF">2026-10-19T20:54:46Z</dcterms:created>
  <dcterms:modified xsi:type="dcterms:W3CDTF">2026-10-19T20:54:46Z</dcterms:modified>
</cp:coreProperties>
</file>
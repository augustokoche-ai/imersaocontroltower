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</p:sldIdLst>
  <p:notesMasterIdLst>
    <p:notesMasterId r:id="rId1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notesMaster" Target="notesMasters/notesMaster1.xml"/><Relationship Id="rId128" Type="http://schemas.openxmlformats.org/officeDocument/2006/relationships/presProps" Target="presProps.xml"/><Relationship Id="rId129" Type="http://schemas.openxmlformats.org/officeDocument/2006/relationships/viewProps" Target="viewProps.xml"/><Relationship Id="rId130" Type="http://schemas.openxmlformats.org/officeDocument/2006/relationships/theme" Target="theme/theme1.xml"/><Relationship Id="rId1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image" Target="../media/image-31-2.jpe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image" Target="../media/image-35-2.jpe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image" Target="../media/image-36-2.jpe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image" Target="../media/image-37-2.jpe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image" Target="../media/image-42-2.jpe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image" Target="../media/image-54-2.jpeg"/><Relationship Id="rId3" Type="http://schemas.openxmlformats.org/officeDocument/2006/relationships/image" Target="../media/image-54-3.jpeg"/><Relationship Id="rId4" Type="http://schemas.openxmlformats.org/officeDocument/2006/relationships/image" Target="../media/image-5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image" Target="../media/image-56-2.jpe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image" Target="../media/image-61-2.jpeg"/><Relationship Id="rId3" Type="http://schemas.openxmlformats.org/officeDocument/2006/relationships/image" Target="../media/image-6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image" Target="../media/image-63-2.jpeg"/><Relationship Id="rId3" Type="http://schemas.openxmlformats.org/officeDocument/2006/relationships/image" Target="../media/image-6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image" Target="../media/image-65-2.jpeg"/><Relationship Id="rId3" Type="http://schemas.openxmlformats.org/officeDocument/2006/relationships/image" Target="../media/image-6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image" Target="../media/image-66-2.jpeg"/><Relationship Id="rId3" Type="http://schemas.openxmlformats.org/officeDocument/2006/relationships/image" Target="../media/image-6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image" Target="../media/image-69-2.jpeg"/><Relationship Id="rId3" Type="http://schemas.openxmlformats.org/officeDocument/2006/relationships/image" Target="../media/image-6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image" Target="../media/image-71-2.jpeg"/><Relationship Id="rId3" Type="http://schemas.openxmlformats.org/officeDocument/2006/relationships/image" Target="../media/image-7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image" Target="../media/image-73-2.jpeg"/><Relationship Id="rId3" Type="http://schemas.openxmlformats.org/officeDocument/2006/relationships/image" Target="../media/image-7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image" Target="../media/image-75-2.jpeg"/><Relationship Id="rId3" Type="http://schemas.openxmlformats.org/officeDocument/2006/relationships/image" Target="../media/image-75-3.jpeg"/><Relationship Id="rId4" Type="http://schemas.openxmlformats.org/officeDocument/2006/relationships/image" Target="../media/image-7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image" Target="../media/image-76-2.jpeg"/><Relationship Id="rId3" Type="http://schemas.openxmlformats.org/officeDocument/2006/relationships/image" Target="../media/image-7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image" Target="../media/image-77-2.jpeg"/><Relationship Id="rId3" Type="http://schemas.openxmlformats.org/officeDocument/2006/relationships/image" Target="../media/image-77-3.jpeg"/><Relationship Id="rId4" Type="http://schemas.openxmlformats.org/officeDocument/2006/relationships/image" Target="../media/image-7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image" Target="../media/image-83-2.jpeg"/><Relationship Id="rId3" Type="http://schemas.openxmlformats.org/officeDocument/2006/relationships/image" Target="../media/image-83-3.jpeg"/><Relationship Id="rId4" Type="http://schemas.openxmlformats.org/officeDocument/2006/relationships/image" Target="../media/image-8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image" Target="../media/image-85-2.jpeg"/><Relationship Id="rId3" Type="http://schemas.openxmlformats.org/officeDocument/2006/relationships/image" Target="../media/image-8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image" Target="../media/image-8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image" Target="../media/image-91-2.jpeg"/><Relationship Id="rId3" Type="http://schemas.openxmlformats.org/officeDocument/2006/relationships/image" Target="../media/image-91-3.jpeg"/><Relationship Id="rId4" Type="http://schemas.openxmlformats.org/officeDocument/2006/relationships/image" Target="../media/image-9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image" Target="../media/image-9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image" Target="../media/image-93-2.jpeg"/><Relationship Id="rId3" Type="http://schemas.openxmlformats.org/officeDocument/2006/relationships/image" Target="../media/image-9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image" Target="../media/image-94-2.jpeg"/><Relationship Id="rId3" Type="http://schemas.openxmlformats.org/officeDocument/2006/relationships/image" Target="../media/image-9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image" Target="../media/image-95-2.jpeg"/><Relationship Id="rId3" Type="http://schemas.openxmlformats.org/officeDocument/2006/relationships/image" Target="../media/image-95-3.jpeg"/><Relationship Id="rId4" Type="http://schemas.openxmlformats.org/officeDocument/2006/relationships/image" Target="../media/image-9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image" Target="../media/image-96-2.jpeg"/><Relationship Id="rId3" Type="http://schemas.openxmlformats.org/officeDocument/2006/relationships/image" Target="../media/image-9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image" Target="../media/image-9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image" Target="../media/image-9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image" Target="../media/image-10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image" Target="../media/image-10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image" Target="../media/image-102-2.jpeg"/><Relationship Id="rId3" Type="http://schemas.openxmlformats.org/officeDocument/2006/relationships/image" Target="../media/image-10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image" Target="../media/image-103-2.jpeg"/><Relationship Id="rId3" Type="http://schemas.openxmlformats.org/officeDocument/2006/relationships/image" Target="../media/image-10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image" Target="../media/image-104-2.jpeg"/><Relationship Id="rId3" Type="http://schemas.openxmlformats.org/officeDocument/2006/relationships/image" Target="../media/image-10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image" Target="../media/image-105-2.jpeg"/><Relationship Id="rId3" Type="http://schemas.openxmlformats.org/officeDocument/2006/relationships/image" Target="../media/image-10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image" Target="../media/image-106-2.jpeg"/><Relationship Id="rId3" Type="http://schemas.openxmlformats.org/officeDocument/2006/relationships/image" Target="../media/image-10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image" Target="../media/image-107-2.jpeg"/><Relationship Id="rId3" Type="http://schemas.openxmlformats.org/officeDocument/2006/relationships/image" Target="../media/image-10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image" Target="../media/image-108-2.jpeg"/><Relationship Id="rId3" Type="http://schemas.openxmlformats.org/officeDocument/2006/relationships/image" Target="../media/image-10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image" Target="../media/image-109-2.jpeg"/><Relationship Id="rId3" Type="http://schemas.openxmlformats.org/officeDocument/2006/relationships/image" Target="../media/image-10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image" Target="../media/image-110-2.jpeg"/><Relationship Id="rId3" Type="http://schemas.openxmlformats.org/officeDocument/2006/relationships/image" Target="../media/image-1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image" Target="../media/image-111-2.jpeg"/><Relationship Id="rId3" Type="http://schemas.openxmlformats.org/officeDocument/2006/relationships/image" Target="../media/image-1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image" Target="../media/image-112-2.jpeg"/><Relationship Id="rId3" Type="http://schemas.openxmlformats.org/officeDocument/2006/relationships/image" Target="../media/image-1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image" Target="../media/image-113-2.jpeg"/><Relationship Id="rId3" Type="http://schemas.openxmlformats.org/officeDocument/2006/relationships/image" Target="../media/image-113-3.jpeg"/><Relationship Id="rId4" Type="http://schemas.openxmlformats.org/officeDocument/2006/relationships/image" Target="../media/image-1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image" Target="../media/image-114-2.jpeg"/><Relationship Id="rId3" Type="http://schemas.openxmlformats.org/officeDocument/2006/relationships/image" Target="../media/image-1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image" Target="../media/image-115-2.jpeg"/><Relationship Id="rId3" Type="http://schemas.openxmlformats.org/officeDocument/2006/relationships/image" Target="../media/image-1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image" Target="../media/image-116-2.jpeg"/><Relationship Id="rId3" Type="http://schemas.openxmlformats.org/officeDocument/2006/relationships/image" Target="../media/image-1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image" Target="../media/image-117-2.jpeg"/><Relationship Id="rId3" Type="http://schemas.openxmlformats.org/officeDocument/2006/relationships/image" Target="../media/image-1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image" Target="../media/image-118-2.jpeg"/><Relationship Id="rId3" Type="http://schemas.openxmlformats.org/officeDocument/2006/relationships/image" Target="../media/image-1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image" Target="../media/image-119-2.jpeg"/><Relationship Id="rId3" Type="http://schemas.openxmlformats.org/officeDocument/2006/relationships/image" Target="../media/image-119-3.jpeg"/><Relationship Id="rId4" Type="http://schemas.openxmlformats.org/officeDocument/2006/relationships/image" Target="../media/image-1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image" Target="../media/image-120-2.jpeg"/><Relationship Id="rId3" Type="http://schemas.openxmlformats.org/officeDocument/2006/relationships/image" Target="../media/image-1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image" Target="../media/image-121-2.jpeg"/><Relationship Id="rId3" Type="http://schemas.openxmlformats.org/officeDocument/2006/relationships/image" Target="../media/image-1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2-image-1.png"/><Relationship Id="rId2" Type="http://schemas.openxmlformats.org/officeDocument/2006/relationships/image" Target="../media/image-122-2.jpeg"/><Relationship Id="rId3" Type="http://schemas.openxmlformats.org/officeDocument/2006/relationships/image" Target="../media/image-122-3.jpeg"/><Relationship Id="rId4" Type="http://schemas.openxmlformats.org/officeDocument/2006/relationships/image" Target="../media/image-1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3-image-1.png"/><Relationship Id="rId2" Type="http://schemas.openxmlformats.org/officeDocument/2006/relationships/image" Target="../media/image-123-2.jpeg"/><Relationship Id="rId3" Type="http://schemas.openxmlformats.org/officeDocument/2006/relationships/image" Target="../media/image-1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4-image-1.png"/><Relationship Id="rId2" Type="http://schemas.openxmlformats.org/officeDocument/2006/relationships/image" Target="../media/image-1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5-image-1.png"/><Relationship Id="rId2" Type="http://schemas.openxmlformats.org/officeDocument/2006/relationships/image" Target="../media/image-1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é 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único profissional de dados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da Vértice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533587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177914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520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274434"/>
            <a:ext cx="2172662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pessoas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73363" y="1582301"/>
            <a:ext cx="2533587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95608" y="177914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3695608" y="2274434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de clientes (41 em andamento)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4745" y="1582301"/>
            <a:ext cx="2533587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6990" y="177914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R$ 305 mi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6406990" y="2274434"/>
            <a:ext cx="2172662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carteira contratada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96128" y="1582301"/>
            <a:ext cx="2533587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18372" y="177914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3300" dirty="0"/>
          </a:p>
        </p:txBody>
      </p:sp>
      <p:sp>
        <p:nvSpPr>
          <p:cNvPr id="15" name="Text 13"/>
          <p:cNvSpPr txBox="1"/>
          <p:nvPr/>
        </p:nvSpPr>
        <p:spPr>
          <a:xfrm>
            <a:off x="9118372" y="2274434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ferramentas: 20 no Excel, 25 no ClickUp, 15 no MS Project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3081459"/>
            <a:ext cx="5244969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278304"/>
            <a:ext cx="90693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316403"/>
            <a:ext cx="75830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é hoje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84225" y="369739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174721" y="3614846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gerente controla o projeto numa ferramenta diferente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84225" y="397926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174721" y="3896719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PMO junta tudo à mão, toda sexta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84225" y="426114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174721" y="4178592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farol do status semanal está quase todo verde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84745" y="3081459"/>
            <a:ext cx="5244969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6990" y="3278304"/>
            <a:ext cx="140827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5888" y="3316403"/>
            <a:ext cx="12796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custo de não saber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06990" y="369739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97485" y="3614846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atraso aparece quando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cliente reclama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6990" y="397926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97485" y="3896719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escopo cresce e ninguém cobra aditivo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6990" y="426114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97485" y="4178592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parada num projeto, faltando em outro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61981" y="473350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14377" y="477160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Empresa fictícia, dado simulado com seed fixa: todo mundo chega exatamente nos mesmos números. "Hoje" no dataset é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16/10/2026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00" dirty="0"/>
          </a:p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1026202" y="6387940"/>
            <a:ext cx="4196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/ 125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PEDIDO DO DONO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Quatro perguntas, em português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13414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9945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atraso · noite 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5005707" cy="539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Quais projetos estão atrasados, e de quais clientes?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046" y="1582301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0059DB"/>
          </a:solidFill>
          <a:ln/>
        </p:spPr>
      </p:sp>
      <p:sp>
        <p:nvSpPr>
          <p:cNvPr id="9" name="Shape 7"/>
          <p:cNvSpPr/>
          <p:nvPr/>
        </p:nvSpPr>
        <p:spPr>
          <a:xfrm>
            <a:off x="6394290" y="1779146"/>
            <a:ext cx="125945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3188" y="1817245"/>
            <a:ext cx="112492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dinheiro · noite 1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394290" y="2191886"/>
            <a:ext cx="5005707" cy="269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esse atraso vai me custar?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61981" y="3080864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84225" y="3277709"/>
            <a:ext cx="114317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3123" y="3315808"/>
            <a:ext cx="10039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gente · noite 2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84225" y="3690448"/>
            <a:ext cx="5005707" cy="539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Tenho gente parada enquanto outro projeto pede gente?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172046" y="3080864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94290" y="3277709"/>
            <a:ext cx="116866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3188" y="3315808"/>
            <a:ext cx="103050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futuro · noite 3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94290" y="3690448"/>
            <a:ext cx="5005707" cy="269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vai dar errado no próximo mês?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61981" y="4592126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377" y="4630225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noite 4 junta tudo numa tela que o dono usa, com o contrato do fornecedor na conversa.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1024019" y="6387940"/>
            <a:ext cx="42192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/ 125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PRIMEIRA SEMANA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todo mundo já quer resposta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620400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6925" y="1858519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282868" y="1791846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"Quais projetos estão atrasados?"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61981" y="2401431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925" y="2639550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DIRETORIA FINANCEIRA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282868" y="2572876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"Quanto esse atraso vai nos custar?"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61981" y="3182461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96925" y="3420580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 E ALOCAÇÃO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282868" y="3353907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"Tem gente parada enquanto outro projeto pede gente?"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61981" y="3963492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96925" y="4201611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COMERCIAL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282868" y="4134937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"Para qual cliente eu ligo antes que ele me ligue?"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61981" y="4744522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96925" y="4982641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JURÍDICO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282868" y="4915968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"Essa multa do fornecedor a gente consegue cobrar?"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61981" y="5525552"/>
            <a:ext cx="10667733" cy="679433"/>
          </a:xfrm>
          <a:prstGeom prst="roundRect">
            <a:avLst>
              <a:gd name="adj" fmla="val 16822"/>
            </a:avLst>
          </a:prstGeom>
          <a:solidFill>
            <a:srgbClr val="0F1E3D"/>
          </a:solidFill>
          <a:ln w="12700">
            <a:solidFill>
              <a:srgbClr val="467C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3275" y="5770021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289218" y="5703348"/>
            <a:ext cx="8215171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"Preciso disso para ontem."</a:t>
            </a:r>
            <a:endParaRPr lang="en-US" sz="17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1017272" y="6387940"/>
            <a:ext cx="42894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/ 125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OBJETIVO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Dois clientes, dois objetivos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458480"/>
          </a:xfrm>
          <a:prstGeom prst="roundRect">
            <a:avLst>
              <a:gd name="adj" fmla="val 6199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241611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23278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cliente do projeto · o dono da Vértice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4985895" cy="7429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Saber, todo dia, quais projetos estão atrasados, quanto isso custa e o que fazer, em vez de descobrir quando o cliente reclama.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84225" y="315706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74721" y="307451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e CPI de 100% dos projetos, das 3 ferramentas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84225" y="34389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74721" y="3356387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"Por que o projeto X atrasou?" em menos de 1 minuto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84225" y="37208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4721" y="36382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decisão de realocação registrada e rastreável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1095" y="1582301"/>
            <a:ext cx="5238619" cy="2458480"/>
          </a:xfrm>
          <a:prstGeom prst="roundRect">
            <a:avLst>
              <a:gd name="adj" fmla="val 619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3340" y="1779146"/>
            <a:ext cx="174442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02237" y="1817245"/>
            <a:ext cx="162929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cliente da imersão · você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413340" y="2191886"/>
            <a:ext cx="4985895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Sair com um projeto de ponta a ponta no GitHub e o discurso pronto para vender ao dono.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13340" y="29094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826870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chapéus numa semana: analista, engenheiro, cientista, engenheiro de IA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339696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3314419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na sua conta Databricks Free Edition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367884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3596292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pitch de 3 minutos com ROI em reais</a:t>
            </a:r>
            <a:endParaRPr lang="en-US" sz="12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1018364" y="6387940"/>
            <a:ext cx="42780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/ 125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DOR · MEDIDO NO DADO DA VÉRTICE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dono descobre o atraso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quando o cliente reclama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816948"/>
          </a:xfrm>
          <a:prstGeom prst="roundRect">
            <a:avLst>
              <a:gd name="adj" fmla="val 8387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499157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33421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Prazo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de 41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610975"/>
            <a:ext cx="313898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andamento com SPI ou CPI abaixo de 0,9. Sete críticos, espalhados nas três ferramentas.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4424" y="1582301"/>
            <a:ext cx="3462747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86669" y="1779146"/>
            <a:ext cx="52068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75567" y="1817245"/>
            <a:ext cx="35660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86669" y="2115688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R$ 6,5 mi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4586669" y="2610975"/>
            <a:ext cx="313898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 se nada mudar. 8 projetos com escopo crescendo sem aditivo desde o 6º mês.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66868" y="1582301"/>
            <a:ext cx="3462747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89112" y="1779146"/>
            <a:ext cx="46681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78010" y="1817245"/>
            <a:ext cx="30057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189112" y="2115688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verdes</a:t>
            </a:r>
            <a:endParaRPr lang="en-US" sz="3300" dirty="0"/>
          </a:p>
        </p:txBody>
      </p:sp>
      <p:sp>
        <p:nvSpPr>
          <p:cNvPr id="18" name="Text 16"/>
          <p:cNvSpPr txBox="1"/>
          <p:nvPr/>
        </p:nvSpPr>
        <p:spPr>
          <a:xfrm>
            <a:off x="8189112" y="2610975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faróis verdes no status desta sexta. Pelo número, só 24 projetos estão ok.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61981" y="3538945"/>
            <a:ext cx="3462747" cy="2014090"/>
          </a:xfrm>
          <a:prstGeom prst="roundRect">
            <a:avLst>
              <a:gd name="adj" fmla="val 756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4225" y="3735790"/>
            <a:ext cx="52654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73123" y="3773889"/>
            <a:ext cx="3626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84225" y="4072332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 9%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984225" y="4567619"/>
            <a:ext cx="3138988" cy="78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uso de dois SREs seniores num projeto que ainda está no desenho, enquanto o checkout do varejo pede SRE toda semana.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64424" y="3538945"/>
            <a:ext cx="3462747" cy="2014090"/>
          </a:xfrm>
          <a:prstGeom prst="roundRect">
            <a:avLst>
              <a:gd name="adj" fmla="val 756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86669" y="3735790"/>
            <a:ext cx="83946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75567" y="3773889"/>
            <a:ext cx="68814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Fornecedor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586669" y="4072332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×1,41</a:t>
            </a:r>
            <a:endParaRPr lang="en-US" sz="3300" dirty="0"/>
          </a:p>
        </p:txBody>
      </p:sp>
      <p:sp>
        <p:nvSpPr>
          <p:cNvPr id="28" name="Text 26"/>
          <p:cNvSpPr txBox="1"/>
          <p:nvPr/>
        </p:nvSpPr>
        <p:spPr>
          <a:xfrm>
            <a:off x="4586669" y="4567619"/>
            <a:ext cx="313898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CodeForge entrega 41% depois do prometido, e compras tem o nome dela escrito de 4 jeitos.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966868" y="3538945"/>
            <a:ext cx="3462747" cy="2014090"/>
          </a:xfrm>
          <a:prstGeom prst="roundRect">
            <a:avLst>
              <a:gd name="adj" fmla="val 756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89112" y="3735790"/>
            <a:ext cx="82686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278010" y="3773889"/>
            <a:ext cx="67503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Calendário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189112" y="4072332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01/11</a:t>
            </a:r>
            <a:endParaRPr lang="en-US" sz="3300" dirty="0"/>
          </a:p>
        </p:txBody>
      </p:sp>
      <p:sp>
        <p:nvSpPr>
          <p:cNvPr id="33" name="Text 31"/>
          <p:cNvSpPr txBox="1"/>
          <p:nvPr/>
        </p:nvSpPr>
        <p:spPr>
          <a:xfrm>
            <a:off x="8189112" y="4567619"/>
            <a:ext cx="313898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começa o freeze da Black Friday. No ano passado, ele travou os 3 projetos de e-commerce por 10 semanas.</a:t>
            </a:r>
            <a:endParaRPr lang="en-US" sz="1150" dirty="0"/>
          </a:p>
        </p:txBody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1017967" y="6387940"/>
            <a:ext cx="42821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/ 125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fluxo só, da fonte à decisão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246653" cy="2820222"/>
          </a:xfrm>
          <a:prstGeom prst="roundRect">
            <a:avLst>
              <a:gd name="adj" fmla="val 678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56404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016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Fontes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Excel, ClickUp, Project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semanal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RH, timesheet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438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2961308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financeiro, compras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4225" y="332572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243181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contratos em PDF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097532" y="2801867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418893" y="1582301"/>
            <a:ext cx="2697095" cy="2820222"/>
          </a:xfrm>
          <a:prstGeom prst="roundRect">
            <a:avLst>
              <a:gd name="adj" fmla="val 565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41138" y="1779146"/>
            <a:ext cx="168419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730036" y="1817245"/>
            <a:ext cx="156665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 · Unity Catalog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41138" y="2115688"/>
            <a:ext cx="2252606" cy="361941"/>
          </a:xfrm>
          <a:prstGeom prst="roundRect">
            <a:avLst>
              <a:gd name="adj" fmla="val 24561"/>
            </a:avLst>
          </a:prstGeom>
          <a:solidFill>
            <a:srgbClr val="25252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755435" y="2191886"/>
            <a:ext cx="2104972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C98B4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Bronze · como veio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41138" y="2541127"/>
            <a:ext cx="2252606" cy="571486"/>
          </a:xfrm>
          <a:prstGeom prst="roundRect">
            <a:avLst>
              <a:gd name="adj" fmla="val 15556"/>
            </a:avLst>
          </a:prstGeom>
          <a:solidFill>
            <a:srgbClr val="25252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755435" y="2617325"/>
            <a:ext cx="210497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9FB0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Silver · as 3 ferramentas num modelo só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41138" y="3176111"/>
            <a:ext cx="2252606" cy="361941"/>
          </a:xfrm>
          <a:prstGeom prst="roundRect">
            <a:avLst>
              <a:gd name="adj" fmla="val 24561"/>
            </a:avLst>
          </a:prstGeom>
          <a:solidFill>
            <a:srgbClr val="25252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755435" y="3252309"/>
            <a:ext cx="2104972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E8C3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Gold · KPIs governados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641138" y="3614250"/>
            <a:ext cx="2342710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Lakeflow · ai_classify e ai_extract nos status · Metric View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204886" y="2801867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526248" y="1582301"/>
            <a:ext cx="2246554" cy="2820222"/>
          </a:xfrm>
          <a:prstGeom prst="roundRect">
            <a:avLst>
              <a:gd name="adj" fmla="val 678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48492" y="1779146"/>
            <a:ext cx="67695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837390" y="1817245"/>
            <a:ext cx="5191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Previsão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748492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938987" y="2115688"/>
            <a:ext cx="167603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modelo de estouro em 30 dias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748492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938987" y="2603236"/>
            <a:ext cx="167603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score por projeto, com motivo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861700" y="2801867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9183061" y="1582301"/>
            <a:ext cx="2246653" cy="2820222"/>
          </a:xfrm>
          <a:prstGeom prst="roundRect">
            <a:avLst>
              <a:gd name="adj" fmla="val 678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05305" y="1779146"/>
            <a:ext cx="64361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494203" y="1817245"/>
            <a:ext cx="484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Decisão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40530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595801" y="2115688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40530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595801" y="2397561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em português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940530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595801" y="2679435"/>
            <a:ext cx="1676136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de aprovação + Lakebase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405305" y="324953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595801" y="3166983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agente de contratos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761981" y="458031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14377" y="461841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KPIs são definidos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reusados no dashboard, no Genie, no app e no agente.</a:t>
            </a:r>
            <a:endParaRPr lang="en-US" sz="1100" dirty="0"/>
          </a:p>
        </p:txBody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11028384" y="6387940"/>
            <a:ext cx="41738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/ 125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SE BENEFICIA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pessoa da Vértice usa uma porta diferente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1892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209944" y="1582301"/>
            <a:ext cx="393712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PRECISA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224234" y="1582301"/>
            <a:ext cx="425483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USA A TORRE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233366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Dono e diretoria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95647" y="1880744"/>
            <a:ext cx="4014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9944" y="1982341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quais projetos atrasam e quanto custa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109937" y="1880744"/>
            <a:ext cx="43197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224234" y="1982341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de portfólio + pergunta ao Genie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1981" y="2316303"/>
            <a:ext cx="233366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17900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Gerente de projeto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95647" y="2316303"/>
            <a:ext cx="4014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9944" y="2417900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do projeto, causa do desvio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109937" y="2316303"/>
            <a:ext cx="43197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224234" y="2417900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causa extraída do status semanal, sem farol de enfeite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751862"/>
            <a:ext cx="233366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53460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PMO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095647" y="2751862"/>
            <a:ext cx="4014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209944" y="2853460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numa visão só, simular realocação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109937" y="2751862"/>
            <a:ext cx="43197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224234" y="2853460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app: simula, aprova e registra a decisão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3187422"/>
            <a:ext cx="233366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289019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Financeiro e controller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095647" y="3187422"/>
            <a:ext cx="4014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09944" y="3289019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margem por contrato, estouro previsto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109937" y="3187422"/>
            <a:ext cx="43197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224234" y="3289019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e margem projetada governados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1981" y="3622981"/>
            <a:ext cx="233366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24579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095647" y="3622981"/>
            <a:ext cx="4014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209944" y="3724579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consultoria subcontratada que atrasa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109937" y="3622981"/>
            <a:ext cx="43197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224234" y="3724579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ranking de fornecedor e a multa que dá para cobrar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61981" y="4058541"/>
            <a:ext cx="2333666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160138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Profissional de dados (você)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095647" y="4058541"/>
            <a:ext cx="4014290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209944" y="4160138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construir e operar tudo isso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109937" y="4058541"/>
            <a:ext cx="431977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224234" y="4160138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bundle, pipeline, modelo, app, com Claude Code</a:t>
            </a:r>
            <a:endParaRPr lang="en-US" sz="110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11018463" y="6387940"/>
            <a:ext cx="42770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/ 125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EMPRESAS SE BENEFICIAM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empresa que vive de projeto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202579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92192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Software houses e integradoras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dezenas de projetos de clientes, cada squad com sua ferramenta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4424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86669" y="1779146"/>
            <a:ext cx="91874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75567" y="1817245"/>
            <a:ext cx="77058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Consultorias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586669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de projetos, banco de horas, margem por contrato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66868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89112" y="1779146"/>
            <a:ext cx="157882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8010" y="1817245"/>
            <a:ext cx="14570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 de grandes empresas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189112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PMO corporativo com projetos internos e fornecedores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119558"/>
            <a:ext cx="196309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157657"/>
            <a:ext cx="185670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Agências e produtoras digitais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84225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entregas com prazo de cliente e equipe compartilhada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64424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86669" y="3119558"/>
            <a:ext cx="163607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75567" y="3157657"/>
            <a:ext cx="151661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Engenharia e construção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86669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mesmo SPI e CPI, com obra no lugar de sprint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66868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89112" y="3119558"/>
            <a:ext cx="101151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78010" y="3157657"/>
            <a:ext cx="86706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Qualquer PMO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189112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a planilha de sexta é a única verdade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1018860" y="6387940"/>
            <a:ext cx="42728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/ 125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CHEGAMOS LÁ · 4 NOITES, 4 CHAPÉUS, 1 PROJETO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noite termina com algo rodando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6306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711282" y="1582301"/>
            <a:ext cx="16626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CHAPÉU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538548" y="1582301"/>
            <a:ext cx="354615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PERGUNTA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176908" y="1582301"/>
            <a:ext cx="430404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ENTREGÁVEL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1880744"/>
            <a:ext cx="835004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1982341"/>
            <a:ext cx="63066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19/10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596985" y="1880744"/>
            <a:ext cx="1827266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711282" y="1982341"/>
            <a:ext cx="166261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Analista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24251" y="1880744"/>
            <a:ext cx="3638360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38548" y="1982341"/>
            <a:ext cx="354615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o Databricks faz? Quem está atrasado?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62611" y="1880744"/>
            <a:ext cx="4367103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76908" y="1982341"/>
            <a:ext cx="430404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das 3 ferramentas, SPI/CPI em SQL, 1º dashboard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61981" y="2530809"/>
            <a:ext cx="835004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632406"/>
            <a:ext cx="63066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20/10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596985" y="2530809"/>
            <a:ext cx="1827266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711282" y="2632406"/>
            <a:ext cx="166261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Engenheiro de Dados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424251" y="2530809"/>
            <a:ext cx="3638360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38548" y="2632406"/>
            <a:ext cx="354615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integrar tudo e rodar sozinho?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62611" y="2530809"/>
            <a:ext cx="4367103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76908" y="2632406"/>
            <a:ext cx="430404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pipeline, IA nos textos, KPIs governados, Genie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3180874"/>
            <a:ext cx="835004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282471"/>
            <a:ext cx="630666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21/10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596985" y="3180874"/>
            <a:ext cx="182726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711282" y="3282471"/>
            <a:ext cx="1662619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Cientista de Dados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424251" y="3180874"/>
            <a:ext cx="3638360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38548" y="3282471"/>
            <a:ext cx="3546156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Quais vão estourar em 30 dias?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062611" y="3180874"/>
            <a:ext cx="4367103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176908" y="3282471"/>
            <a:ext cx="4304049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modelo no Unity Catalog, score por projeto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61981" y="3632903"/>
            <a:ext cx="835004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734500"/>
            <a:ext cx="63066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22/10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596985" y="3632903"/>
            <a:ext cx="1827266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711282" y="3734500"/>
            <a:ext cx="166261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Engenheiro de IA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424251" y="3632903"/>
            <a:ext cx="3638360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538548" y="3734500"/>
            <a:ext cx="354615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 dono, que não escreve SQL?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062611" y="3632903"/>
            <a:ext cx="4367103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176908" y="3734500"/>
            <a:ext cx="430404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agente de contratos, app + Lakebase, pitch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61981" y="4409965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14377" y="4448064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Repositório: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github.com/lvgalvao/ImersaoControlTower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tudo no Databricks Free Edition</a:t>
            </a:r>
            <a:endParaRPr lang="en-US" sz="1100" dirty="0"/>
          </a:p>
        </p:txBody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0973617" y="6387940"/>
            <a:ext cx="47434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/ 125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CAMINHO DAS 4 NOITES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projeto só,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camada por noite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4577045"/>
          </a:xfrm>
          <a:prstGeom prst="roundRect">
            <a:avLst>
              <a:gd name="adj" fmla="val 3052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428495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010625" y="6387940"/>
            <a:ext cx="4358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/ 125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O DADO MORA NO FIM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pouca tabela, de propósito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2212126"/>
            <a:ext cx="102470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2250225"/>
            <a:ext cx="8807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noite 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955057"/>
            <a:ext cx="2202379" cy="78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tabelas, o dado como veio, sujeira inclusa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volume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os arquivos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63838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6083" y="2212126"/>
            <a:ext cx="96200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74981" y="2250225"/>
            <a:ext cx="8155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 · noite 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686083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686083" y="2955057"/>
            <a:ext cx="2202379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tabelas limpas: as 3 ferramentas viraram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(+ 2 dos contratos, noite 4)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65696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6387940" y="2212126"/>
            <a:ext cx="118047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76838" y="2250225"/>
            <a:ext cx="104278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noites 2 a 4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387940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387940" y="2955057"/>
            <a:ext cx="2202379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por pergunta do dono, prontas para dashboard, Genie e app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67553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89798" y="2212126"/>
            <a:ext cx="80543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78696" y="2250225"/>
            <a:ext cx="6527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· noite 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089798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089798" y="2955057"/>
            <a:ext cx="220237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e métricas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o modelo registrado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76278" y="4130969"/>
            <a:ext cx="41091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OBJETO DA GOLD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055962" y="4130969"/>
            <a:ext cx="54822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811692" y="4130969"/>
            <a:ext cx="57238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61981" y="4429411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76278" y="4531009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projeto_situacao_atual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41665" y="4429411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055962" y="4531009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97395" y="4429411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811692" y="4531009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atrasa, de qual cliente, quanto custa (SPI, CPI, estouro, melancia)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1981" y="4864971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6278" y="4966568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fato_projeto_semana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941665" y="4864971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055962" y="4966568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697395" y="4864971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811692" y="4966568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evolução semana a semana (base do modelo)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1981" y="5300530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6278" y="5402127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utilizacao_pessoa_semana · status_estruturado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941665" y="5300530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55962" y="5402127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97395" y="5300530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11692" y="5402127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parada × gente pedida · por que travou (IA)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61981" y="5736089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76278" y="5837687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mv_projetos · score_estouro_30d · contratos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941665" y="5736089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055962" y="5837687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3 · 4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697395" y="5736089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811692" y="5837687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métrica governada · o que vem aí · o que o contrato diz</a:t>
            </a:r>
            <a:endParaRPr lang="en-US" sz="1100" dirty="0"/>
          </a:p>
        </p:txBody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10981753" y="6387940"/>
            <a:ext cx="46588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/ 125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ANTES DA PRIMEIRA QUERY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mínimo para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acompanhar tudo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Primeiro o Databricks: o que é, por que o mercado usa e como entrar. Depois os conceitos de dado e de gestão de projetos que aparecem nas 4 noites.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O QUE 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plataforma para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dado e IA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num lugar só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664155"/>
          </a:xfrm>
          <a:prstGeom prst="roundRect">
            <a:avLst>
              <a:gd name="adj" fmla="val 5720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981547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83590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uma frase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4985895" cy="7429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Guardar, limpar, analisar e colocar IA em cima dos dados da empresa, sem montar dez ferramentas diferentes.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84225" y="315706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74721" y="307451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 na nuvem: AWS, Azure ou Google Cloud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84225" y="34389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74721" y="3356387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SQL, Python, dashboards, IA e apps no mesmo lugar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84225" y="37208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4721" y="36382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usa: analista, engenheiro, cientista, engenheiro de IA e o negócio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1095" y="1582301"/>
            <a:ext cx="5238619" cy="2664155"/>
          </a:xfrm>
          <a:prstGeom prst="roundRect">
            <a:avLst>
              <a:gd name="adj" fmla="val 572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3340" y="1779146"/>
            <a:ext cx="92489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02237" y="1817245"/>
            <a:ext cx="77698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onde veio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fundada 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2013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pelos criadores do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Apache Spark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na Universidade da Califórnia em Berkeley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criou e abriu projetos que viraram padrão de mercado: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Spark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Delta Lake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MLflow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Unity Catalog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13340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03835" y="309078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popularizou a ideia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próximo slide</a:t>
            </a:r>
            <a:endParaRPr lang="en-US" sz="12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72823" y="6387940"/>
            <a:ext cx="47516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/ 125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O MERCADO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vale a pena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aprender isso agora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562161" cy="1480406"/>
          </a:xfrm>
          <a:prstGeom prst="roundRect">
            <a:avLst>
              <a:gd name="adj" fmla="val 10294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1779146"/>
            <a:ext cx="220237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US$ 190 bi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274434"/>
            <a:ext cx="220237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avaliação, na rodada de US$ 5 bi de ago/2026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63838" y="1582301"/>
            <a:ext cx="2562161" cy="1480406"/>
          </a:xfrm>
          <a:prstGeom prst="roundRect">
            <a:avLst>
              <a:gd name="adj" fmla="val 10294"/>
            </a:avLst>
          </a:prstGeom>
          <a:solidFill>
            <a:srgbClr val="0059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86083" y="1779146"/>
            <a:ext cx="220237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US$ 7 bi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3686083" y="2274434"/>
            <a:ext cx="2202379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receita anualizada, crescendo mais de 80% ao ano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65696" y="1582301"/>
            <a:ext cx="2562161" cy="1480406"/>
          </a:xfrm>
          <a:prstGeom prst="roundRect">
            <a:avLst>
              <a:gd name="adj" fmla="val 1029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87940" y="1779146"/>
            <a:ext cx="220237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mil+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6387940" y="2274434"/>
            <a:ext cx="220237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empresas clientes no mundo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67553" y="1582301"/>
            <a:ext cx="2562161" cy="1480406"/>
          </a:xfrm>
          <a:prstGeom prst="roundRect">
            <a:avLst>
              <a:gd name="adj" fmla="val 1029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9798" y="1779146"/>
            <a:ext cx="220237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60%+</a:t>
            </a:r>
            <a:endParaRPr lang="en-US" sz="3300" dirty="0"/>
          </a:p>
        </p:txBody>
      </p:sp>
      <p:sp>
        <p:nvSpPr>
          <p:cNvPr id="15" name="Text 13"/>
          <p:cNvSpPr txBox="1"/>
          <p:nvPr/>
        </p:nvSpPr>
        <p:spPr>
          <a:xfrm>
            <a:off x="9089798" y="2274434"/>
            <a:ext cx="220237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 Fortune 500 usa Databricks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3240503"/>
            <a:ext cx="10667733" cy="1252109"/>
          </a:xfrm>
          <a:prstGeom prst="roundRect">
            <a:avLst>
              <a:gd name="adj" fmla="val 1217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437348"/>
            <a:ext cx="199394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475447"/>
            <a:ext cx="188880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isso quer dizer para você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84225" y="3850087"/>
            <a:ext cx="10632174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uma das empresas de dados que mais cresce no mundo, e a vaga de dados que pede "Databricks" já não é exceção. O que você faz nestas 4 noites é o que essas empresas fazem todo dia.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61981" y="4632308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377" y="4670407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Fontes: Databricks (comunicado de 2026: US$ 7 bi de run-rate) e CNBC (13/08/2026: rodada a US$ 190 bi); página de clientes da Databricks (20 mil+, 60%+ da Fortune 500).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73915" y="6387940"/>
            <a:ext cx="47403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/ 125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LAKEHOUSE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warehouse + data lake =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911005"/>
          </a:xfrm>
          <a:prstGeom prst="roundRect">
            <a:avLst>
              <a:gd name="adj" fmla="val 79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13384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99429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warehouse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294087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tabelas organizadas, SQL rápido, dashboards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603236"/>
            <a:ext cx="294087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caro e rígido; não guarda planilha, PDF, JSON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64424" y="1582301"/>
            <a:ext cx="3462747" cy="1911005"/>
          </a:xfrm>
          <a:prstGeom prst="roundRect">
            <a:avLst>
              <a:gd name="adj" fmla="val 79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6669" y="1779146"/>
            <a:ext cx="73291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75567" y="1817245"/>
            <a:ext cx="57732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lake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86669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77164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guarda qualquer arquivo, barato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86669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77164" y="2397561"/>
            <a:ext cx="294087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um "pântano": ninguém sabe o que tem, nem confia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66868" y="1582301"/>
            <a:ext cx="3462747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9" name="Shape 17"/>
          <p:cNvSpPr/>
          <p:nvPr/>
        </p:nvSpPr>
        <p:spPr>
          <a:xfrm>
            <a:off x="8189112" y="1779146"/>
            <a:ext cx="80186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78010" y="1817245"/>
            <a:ext cx="6490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189112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79608" y="2115688"/>
            <a:ext cx="294087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arquivos ficam no lake, mas com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 de verdade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por cima (Delta)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89112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79608" y="2603236"/>
            <a:ext cx="294087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governança num catálogo só (Unity Catalog)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89112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79608" y="3090785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SQL, BI, ML e IA sobre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mesmo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dado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1981" y="3671101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14377" y="3709200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Projeto Farol: as planilhas, os JSON e os XML entram como arquivo no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volume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viram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mesmo catálogo. É o lakehouse na prática.</a:t>
            </a:r>
            <a:endParaRPr lang="en-US" sz="110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0973518" y="6387940"/>
            <a:ext cx="47444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 / 125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O MAPA DO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workspace,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blocos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36343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23306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código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Workspace · Git folder · bundle · notebooks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4424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9" name="Shape 7"/>
          <p:cNvSpPr/>
          <p:nvPr/>
        </p:nvSpPr>
        <p:spPr>
          <a:xfrm>
            <a:off x="4586669" y="1779146"/>
            <a:ext cx="109882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75567" y="1817245"/>
            <a:ext cx="9578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processa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586669" y="2191886"/>
            <a:ext cx="3138988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 · SQL Warehouse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66868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9112" y="1779146"/>
            <a:ext cx="126748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8010" y="1817245"/>
            <a:ext cx="113328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dado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189112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Unity Catalog · schemas · tabelas · volumes · lineage · metric views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119558"/>
            <a:ext cx="132523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157657"/>
            <a:ext cx="119333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move o dado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84225" y="3532298"/>
            <a:ext cx="3138988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Ingestion · Lakeflow pipeline · Jobs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64424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86669" y="3119558"/>
            <a:ext cx="110546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75567" y="3157657"/>
            <a:ext cx="9647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pergunta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86669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Editor · Query History · AI/BI Dashboard · Genie · funções de IA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66868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89112" y="3119558"/>
            <a:ext cx="95743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78010" y="3157657"/>
            <a:ext cx="81082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decide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189112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MLflow · modelo no Unity Catalog · Lakebase · Apps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61981" y="428852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377" y="4326623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isto existe no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Free Edition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sem cartão de crédito. O tour completo, tela a tela, está no apêndice.</a:t>
            </a:r>
            <a:endParaRPr lang="en-US" sz="110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0983936" y="6387940"/>
            <a:ext cx="46361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/ 125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FREE EDITION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Sua conta,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graça e sem cartão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87243"/>
          </a:xfrm>
          <a:prstGeom prst="roundRect">
            <a:avLst>
              <a:gd name="adj" fmla="val 6384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2948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16175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criar (5 min)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 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databricks.com/learn/free-edition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 up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Google, Microsoft ou e-mail (o login é por código, sem senha)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workspace abre pronto: não tem cluster para criar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24953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166983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guarde o endereço do seu workspace (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dbc-….cloud.databricks.com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): cada conta tem o seu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2387243"/>
          </a:xfrm>
          <a:prstGeom prst="roundRect">
            <a:avLst>
              <a:gd name="adj" fmla="val 638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13340" y="1779146"/>
            <a:ext cx="80434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65161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vem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Databricks liga e desliga a máquina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SQL Warehouse (2X-Small), notebooks, jobs, pipelines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dashboards, Genie, funções de IA, Lakebase e até 3 apps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13340" y="3024806"/>
            <a:ext cx="67834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02237" y="3062905"/>
            <a:ext cx="5205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Cuidado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13340" y="34438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603835" y="336134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entrou e viu tudo vazio? Confira se é 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 certa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login leva ao workspace da última conta usada</a:t>
            </a:r>
            <a:endParaRPr lang="en-US" sz="120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0974014" y="6387940"/>
            <a:ext cx="4739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/ 125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COMO SE USA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menu da esquerda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o mapa da semana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30872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MENU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073423" y="1582301"/>
            <a:ext cx="601320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 SERVE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083945" y="1582301"/>
            <a:ext cx="128073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Catalog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959126" y="1880744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073423" y="1982341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 catálogos, schemas, tabelas e volumes; subir arquivo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969648" y="1880744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083945" y="1982341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em diante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1981" y="2316303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17900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Editor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959126" y="2316303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073423" y="2417900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escrever e rodar SQL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969648" y="2316303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083945" y="2417900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751862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53460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959126" y="2751862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073423" y="2853460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montar e publicar painéis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969648" y="2751862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83945" y="2853460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e 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3187422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289019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Agents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959126" y="3187422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73423" y="3289019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perguntar em português para os dados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969648" y="3187422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83945" y="3289019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 2 e 4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1981" y="3622981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24579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Jobs &amp; Pipelines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959126" y="3622981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073423" y="3724579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roda sozinho, com agenda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969648" y="3622981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0083945" y="3724579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e 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61981" y="4058541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160138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Experiments · Models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959126" y="4058541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073423" y="4160138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MLflow e o modelo registrado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9969648" y="4058541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0083945" y="4160138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61981" y="4494100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76278" y="4595698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Compute → Apps · Lakebase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959126" y="4494100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073423" y="4595698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app da Torre e o banco que grava as decisões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969648" y="4494100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0083945" y="4595698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pic>
        <p:nvPicPr>
          <p:cNvPr id="4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0" name="Text 47"/>
          <p:cNvSpPr txBox="1"/>
          <p:nvPr/>
        </p:nvSpPr>
        <p:spPr>
          <a:xfrm>
            <a:off x="10974411" y="6387940"/>
            <a:ext cx="47351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/ 125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CONCEITOS DE DADO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palavras que você vai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ouvir o tempo todo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5154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TERMO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523567" y="1582301"/>
            <a:ext cx="810352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UMA FRASE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09269" y="1880744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23567" y="1982341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 e colunas que o SQL consegue ler; no Databricks, uma tabela </a:t>
            </a:r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Delta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61981" y="2308068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409666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09269" y="2308068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23567" y="2409666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língua para perguntar ao dado: SELECT o quê, FROM onde, WHERE com qual filtro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1981" y="2735393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2836990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· schema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409269" y="2735393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523567" y="2836990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gaveta e a pasta: </a:t>
            </a:r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&gt; </a:t>
            </a:r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</a:t>
            </a:r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&gt; </a:t>
            </a:r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1981" y="3162717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264314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Volume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409269" y="3162717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23567" y="3264314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pasta de </a:t>
            </a:r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arquivos</a:t>
            </a:r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(planilha, JSON, XML, PDF) dentro do catálogo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61981" y="3590041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76278" y="3691639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 · warehouse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409269" y="3590041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23567" y="3691639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máquina que roda tudo, ligada e desligada pelo Databricks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61981" y="4017366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76278" y="4118963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· job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409269" y="4017366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3567" y="4118963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sequência que roda sozinha e na ordem certa, toda segunda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61981" y="4444690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76278" y="4546288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KPI · métrica governada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409269" y="4444690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23567" y="4546288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número do negócio, com a fórmula definida uma vez só</a:t>
            </a:r>
            <a:endParaRPr lang="en-US" sz="1050" dirty="0"/>
          </a:p>
        </p:txBody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0944745" y="6387940"/>
            <a:ext cx="50436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/ 125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CONCEITOS DE DADO · O MEDALHÃO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camadas: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bronze, silver e gold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282372" cy="1861396"/>
          </a:xfrm>
          <a:prstGeom prst="roundRect">
            <a:avLst>
              <a:gd name="adj" fmla="val 81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2837883" cy="361941"/>
          </a:xfrm>
          <a:prstGeom prst="roundRect">
            <a:avLst>
              <a:gd name="adj" fmla="val 24561"/>
            </a:avLst>
          </a:prstGeom>
          <a:solidFill>
            <a:srgbClr val="2525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8523" y="1855344"/>
            <a:ext cx="2713660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C98B4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Bronze · como veio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217285"/>
            <a:ext cx="295139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arquivo virou tabela, sem mexer em nada. A sujeira fica, de propósito: dá para voltar na origem e comparar.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84225" y="2910311"/>
            <a:ext cx="54152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73123" y="2948410"/>
            <a:ext cx="37827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133251" y="2322454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454612" y="1582301"/>
            <a:ext cx="3282471" cy="1861396"/>
          </a:xfrm>
          <a:prstGeom prst="roundRect">
            <a:avLst>
              <a:gd name="adj" fmla="val 81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76857" y="1779146"/>
            <a:ext cx="2837982" cy="361941"/>
          </a:xfrm>
          <a:prstGeom prst="roundRect">
            <a:avLst>
              <a:gd name="adj" fmla="val 24561"/>
            </a:avLst>
          </a:prstGeom>
          <a:solidFill>
            <a:srgbClr val="252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91154" y="1855344"/>
            <a:ext cx="2713763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9FB0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Silver · limpo e junto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676857" y="2217285"/>
            <a:ext cx="2951501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 e números corrigidos, duplicatas fora, as 3 ferramentas num modelo só. Testado.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76857" y="2910311"/>
            <a:ext cx="56573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65754" y="2948410"/>
            <a:ext cx="403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7825981" y="2322454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47342" y="1582301"/>
            <a:ext cx="3282372" cy="1861396"/>
          </a:xfrm>
          <a:prstGeom prst="roundRect">
            <a:avLst>
              <a:gd name="adj" fmla="val 8187"/>
            </a:avLst>
          </a:prstGeom>
          <a:solidFill>
            <a:srgbClr val="0059DB"/>
          </a:solidFill>
          <a:ln/>
        </p:spPr>
      </p:sp>
      <p:sp>
        <p:nvSpPr>
          <p:cNvPr id="19" name="Shape 17"/>
          <p:cNvSpPr/>
          <p:nvPr/>
        </p:nvSpPr>
        <p:spPr>
          <a:xfrm>
            <a:off x="8369587" y="1779146"/>
            <a:ext cx="2837883" cy="361941"/>
          </a:xfrm>
          <a:prstGeom prst="roundRect">
            <a:avLst>
              <a:gd name="adj" fmla="val 24561"/>
            </a:avLst>
          </a:prstGeom>
          <a:solidFill>
            <a:srgbClr val="252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83884" y="1855344"/>
            <a:ext cx="2713660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E8C3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Gold · pronto para decidir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369587" y="2217285"/>
            <a:ext cx="295139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tabela por pergunta do dono, com o KPI calculado. É o que dashboard, Genie e app leem.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369587" y="2910311"/>
            <a:ext cx="83550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458485" y="2948410"/>
            <a:ext cx="68401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noites 2 a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1981" y="362149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365959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Separar em camadas é o que permite consertar um erro sem perder a origem, e trocar uma fonte sem quebrar o dashboard.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81753" y="6387940"/>
            <a:ext cx="46588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/ 125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GESTÃO DE PROJETOS · COMO SE MEDE UM PROJETO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plano dizia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meses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Hoje é o fim do 3º mês.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582301"/>
            <a:ext cx="1109444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projeto de </a:t>
            </a:r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meses</a:t>
            </a:r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por </a:t>
            </a:r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 linha vermelha é </a:t>
            </a:r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</a:t>
            </a:r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dia da entrega.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2096638"/>
            <a:ext cx="1716997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590735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6355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2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041974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3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67593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4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1981" y="2458579"/>
            <a:ext cx="171699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plano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61981" y="2706223"/>
            <a:ext cx="17169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foi combinado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90735" y="2474454"/>
            <a:ext cx="6613360" cy="406390"/>
          </a:xfrm>
          <a:prstGeom prst="roundRect">
            <a:avLst>
              <a:gd name="adj" fmla="val 21875"/>
            </a:avLst>
          </a:prstGeom>
          <a:solidFill>
            <a:srgbClr val="467C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743131" y="2474454"/>
            <a:ext cx="6719402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pronto em 3 meses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267593" y="2474454"/>
            <a:ext cx="2162121" cy="406390"/>
          </a:xfrm>
          <a:prstGeom prst="roundRect">
            <a:avLst>
              <a:gd name="adj" fmla="val 21875"/>
            </a:avLst>
          </a:prstGeom>
          <a:ln w="12700">
            <a:solidFill>
              <a:srgbClr val="2F2F39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761981" y="3036415"/>
            <a:ext cx="171699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realidade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61981" y="3284059"/>
            <a:ext cx="17169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está pronto hoje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90735" y="3052289"/>
            <a:ext cx="4960020" cy="40639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743131" y="3052289"/>
            <a:ext cx="4999928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 pronto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50755" y="3052289"/>
            <a:ext cx="1653340" cy="406390"/>
          </a:xfrm>
          <a:prstGeom prst="rect">
            <a:avLst/>
          </a:prstGeom>
          <a:solidFill>
            <a:srgbClr val="252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50755" y="3052289"/>
            <a:ext cx="1719474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25%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267593" y="3052289"/>
            <a:ext cx="2162121" cy="406390"/>
          </a:xfrm>
          <a:prstGeom prst="roundRect">
            <a:avLst>
              <a:gd name="adj" fmla="val 21875"/>
            </a:avLst>
          </a:prstGeom>
          <a:ln w="12700">
            <a:solidFill>
              <a:srgbClr val="FF6B6B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9280293" y="3064989"/>
            <a:ext cx="2235398" cy="393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 mês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61981" y="3614250"/>
            <a:ext cx="171699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dinheiro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61981" y="3861894"/>
            <a:ext cx="17169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já foi gasto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90735" y="3630125"/>
            <a:ext cx="6613360" cy="406390"/>
          </a:xfrm>
          <a:prstGeom prst="roundRect">
            <a:avLst>
              <a:gd name="adj" fmla="val 21875"/>
            </a:avLst>
          </a:prstGeom>
          <a:solidFill>
            <a:srgbClr val="FF6B6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743131" y="3630125"/>
            <a:ext cx="6719402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 gastos · o orçamento inteiro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267593" y="3630125"/>
            <a:ext cx="2162121" cy="406390"/>
          </a:xfrm>
          <a:prstGeom prst="roundRect">
            <a:avLst>
              <a:gd name="adj" fmla="val 21875"/>
            </a:avLst>
          </a:prstGeom>
          <a:ln w="12700">
            <a:solidFill>
              <a:srgbClr val="FF6B6B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9280293" y="3642825"/>
            <a:ext cx="2235398" cy="393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R$ ?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69171" y="2127197"/>
            <a:ext cx="19050" cy="2095448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245369" y="1943051"/>
            <a:ext cx="40108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00" kern="0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61981" y="4268284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4377" y="4306383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perguntas, três números: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devia estar pronto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(100%),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está pronto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(75%),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já custou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(R$ 300 mil). Tudo o que vem agora é dividir um pelo outro.</a:t>
            </a:r>
            <a:endParaRPr lang="en-US" sz="11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0952881" y="6387940"/>
            <a:ext cx="49590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 / 125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· SCHEDULE PERFORMANCE INDEX · ÍNDICE DE PRAZO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SPI: quanto do que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devia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estar pronto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está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pronto?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645799"/>
            <a:ext cx="1981150" cy="628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Devia estar pronto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1893443"/>
            <a:ext cx="1981150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 · pelo plano, no fim do 3º mês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44729" y="1756922"/>
            <a:ext cx="7137222" cy="406390"/>
          </a:xfrm>
          <a:prstGeom prst="roundRect">
            <a:avLst>
              <a:gd name="adj" fmla="val 21875"/>
            </a:avLst>
          </a:prstGeom>
          <a:solidFill>
            <a:srgbClr val="467C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97125" y="1756922"/>
            <a:ext cx="7264218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1981" y="2439530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Está pronto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1981" y="268717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· valor agregado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44729" y="2455404"/>
            <a:ext cx="5352916" cy="40639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97125" y="2455404"/>
            <a:ext cx="5408541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97645" y="2455404"/>
            <a:ext cx="1784305" cy="406390"/>
          </a:xfrm>
          <a:prstGeom prst="rect">
            <a:avLst/>
          </a:prstGeom>
          <a:solidFill>
            <a:srgbClr val="25252D"/>
          </a:solidFill>
          <a:ln/>
        </p:spPr>
      </p:sp>
      <p:sp>
        <p:nvSpPr>
          <p:cNvPr id="13" name="Shape 11"/>
          <p:cNvSpPr/>
          <p:nvPr/>
        </p:nvSpPr>
        <p:spPr>
          <a:xfrm>
            <a:off x="761981" y="3131662"/>
            <a:ext cx="5244969" cy="1723982"/>
          </a:xfrm>
          <a:prstGeom prst="roundRect">
            <a:avLst>
              <a:gd name="adj" fmla="val 8840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984225" y="3328507"/>
            <a:ext cx="62595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366606"/>
            <a:ext cx="4660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84225" y="3715848"/>
            <a:ext cx="4992499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3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= 75% ÷ 100% = 0,75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984225" y="4230185"/>
            <a:ext cx="4992499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"andou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 do que devia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". Em tempo: 3 meses ÷ 0,75 =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meses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Um mês de atraso, se o ritmo não mudar.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84745" y="3131662"/>
            <a:ext cx="5244969" cy="1723982"/>
          </a:xfrm>
          <a:prstGeom prst="roundRect">
            <a:avLst>
              <a:gd name="adj" fmla="val 884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6990" y="3328507"/>
            <a:ext cx="114525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5888" y="3366606"/>
            <a:ext cx="100615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régua da Torre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06990" y="3753947"/>
            <a:ext cx="1920132" cy="25399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6990" y="3753947"/>
            <a:ext cx="1996938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 &lt; 0,80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327122" y="3753947"/>
            <a:ext cx="960017" cy="253994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27122" y="3753947"/>
            <a:ext cx="998417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atenção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287139" y="3753947"/>
            <a:ext cx="1920331" cy="253994"/>
          </a:xfrm>
          <a:prstGeom prst="rect">
            <a:avLst/>
          </a:prstGeom>
          <a:solidFill>
            <a:srgbClr val="5AD47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287139" y="3753947"/>
            <a:ext cx="1997144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ok ≥ 0,90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406990" y="4084139"/>
            <a:ext cx="499249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Nosso exemplo (0,75) é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Na Vértice, o pior é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PRJ-016: 0,63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+298 dias projetados.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0950797" y="6387940"/>
            <a:ext cx="49807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 / 125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 · COST PERFORMANCE INDEX · ÍNDICE DE CUSTO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CPI: o que foi entregue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quanto, 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custou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quanto?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645799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189344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· 75% de R$ 300 mil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44729" y="1661674"/>
            <a:ext cx="6438739" cy="40639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97125" y="1661674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R$ 225 mil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283468" y="1661674"/>
            <a:ext cx="2146246" cy="406390"/>
          </a:xfrm>
          <a:prstGeom prst="rect">
            <a:avLst/>
          </a:prstGeom>
          <a:solidFill>
            <a:srgbClr val="25252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1981" y="2249034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Custou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61981" y="2496678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 · custo real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44729" y="2264909"/>
            <a:ext cx="8584985" cy="406390"/>
          </a:xfrm>
          <a:prstGeom prst="roundRect">
            <a:avLst>
              <a:gd name="adj" fmla="val 21875"/>
            </a:avLst>
          </a:prstGeom>
          <a:solidFill>
            <a:srgbClr val="FF6B6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97125" y="2264909"/>
            <a:ext cx="8769893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1981" y="2941167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984225" y="3138012"/>
            <a:ext cx="62595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176111"/>
            <a:ext cx="4660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84225" y="3525352"/>
            <a:ext cx="4992499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3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 = 225 ÷ 300 = 0,75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984225" y="4039690"/>
            <a:ext cx="4992499" cy="642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gasto comprou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R$ 0,75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entrega. Os outros 25 centavos viraram retrabalho, hora extra, escopo que ninguém cobrou.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84745" y="2941167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6990" y="3138012"/>
            <a:ext cx="105744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5888" y="3176111"/>
            <a:ext cx="91483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Independentes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406990" y="3550752"/>
            <a:ext cx="4992499" cy="642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Aqui os dois deram 0,75 por coincidência. Dá para estar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prazo e estourando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(hora extra para entregar) ou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atrasado e barato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(time parado). Por isso a Torre olha os dois.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6990" y="4269871"/>
            <a:ext cx="499249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Vértice: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PRJ-009, CPI 0,77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E 8 projetos com o CPI caindo desde o 6º mês.</a:t>
            </a:r>
            <a:endParaRPr lang="en-US" sz="115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44051" y="6387940"/>
            <a:ext cx="50509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/ 125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· ESTIMATE AT COMPLETION · ESTIMATIVA NO TÉRMINO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EAC: se nada mudar,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vai custar no fim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645799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Orçamento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189344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 · o combinado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44729" y="1661674"/>
            <a:ext cx="6438739" cy="406390"/>
          </a:xfrm>
          <a:prstGeom prst="rect">
            <a:avLst/>
          </a:prstGeom>
          <a:solidFill>
            <a:srgbClr val="467C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97125" y="1661674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1981" y="2249034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Vai custar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1981" y="2496678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= orçamento ÷ CPI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44729" y="2264909"/>
            <a:ext cx="6438739" cy="406390"/>
          </a:xfrm>
          <a:prstGeom prst="rect">
            <a:avLst/>
          </a:prstGeom>
          <a:solidFill>
            <a:srgbClr val="467CF6">
              <a:alpha val="5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97125" y="2264909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283468" y="2264909"/>
            <a:ext cx="2146246" cy="40639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283468" y="2264909"/>
            <a:ext cx="2232096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R$ 100 mil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61981" y="2852269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Prazo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1981" y="309991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duração ÷ SPI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844729" y="2868144"/>
            <a:ext cx="6438739" cy="406390"/>
          </a:xfrm>
          <a:prstGeom prst="rect">
            <a:avLst/>
          </a:prstGeom>
          <a:solidFill>
            <a:srgbClr val="467CF6">
              <a:alpha val="55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997125" y="2868144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meses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283468" y="2868144"/>
            <a:ext cx="2146246" cy="40639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83468" y="2868144"/>
            <a:ext cx="2232096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+ 1 mês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61981" y="3544402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0059DB"/>
          </a:solidFill>
          <a:ln/>
        </p:spPr>
      </p:sp>
      <p:sp>
        <p:nvSpPr>
          <p:cNvPr id="21" name="Shape 19"/>
          <p:cNvSpPr/>
          <p:nvPr/>
        </p:nvSpPr>
        <p:spPr>
          <a:xfrm>
            <a:off x="984225" y="3741247"/>
            <a:ext cx="62595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73123" y="3779346"/>
            <a:ext cx="4660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984225" y="4128587"/>
            <a:ext cx="4992499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3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300 ÷ 0,75 = R$ 400 mil</a:t>
            </a:r>
            <a:endParaRPr lang="en-US" sz="2300" dirty="0"/>
          </a:p>
        </p:txBody>
      </p:sp>
      <p:sp>
        <p:nvSpPr>
          <p:cNvPr id="24" name="Text 22"/>
          <p:cNvSpPr txBox="1"/>
          <p:nvPr/>
        </p:nvSpPr>
        <p:spPr>
          <a:xfrm>
            <a:off x="984225" y="4642925"/>
            <a:ext cx="4992499" cy="642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 previsto: R$ 100 mil.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É o primeiro número que o dono quer ouvir, e sai de três colunas: orçamento, % concluído e custo real.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184745" y="3544402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6990" y="3741247"/>
            <a:ext cx="77993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5888" y="3779346"/>
            <a:ext cx="62622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Vértice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6406990" y="4077789"/>
            <a:ext cx="499249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3300" dirty="0"/>
          </a:p>
        </p:txBody>
      </p:sp>
      <p:sp>
        <p:nvSpPr>
          <p:cNvPr id="29" name="Text 27"/>
          <p:cNvSpPr txBox="1"/>
          <p:nvPr/>
        </p:nvSpPr>
        <p:spPr>
          <a:xfrm>
            <a:off x="6406990" y="4573076"/>
            <a:ext cx="499249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previsto, somando só quem estoura. O maior é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PRJ-021, R$ 1,78 mi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Resposta da pergunta 2 do dono.</a:t>
            </a:r>
            <a:endParaRPr lang="en-US" sz="115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0945043" y="6387940"/>
            <a:ext cx="50405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/ 125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× NÚMERO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projeto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44969" cy="2307076"/>
          </a:xfrm>
          <a:prstGeom prst="roundRect">
            <a:avLst>
              <a:gd name="adj" fmla="val 66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56255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0015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farol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4992499" cy="66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sexta o gerente põe uma cor no status: </a:t>
            </a:r>
            <a:pPr algn="l" indent="0" marL="0">
              <a:lnSpc>
                <a:spcPct val="115385"/>
              </a:lnSpc>
              <a:buNone/>
            </a:pPr>
            <a:r>
              <a:rPr lang="en-US" sz="1300" b="1" dirty="0">
                <a:solidFill>
                  <a:srgbClr val="5AD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verde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300" b="1" dirty="0">
                <a:solidFill>
                  <a:srgbClr val="FFD1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amarelo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ou </a:t>
            </a:r>
            <a:pPr algn="l" indent="0" marL="0">
              <a:lnSpc>
                <a:spcPct val="115385"/>
              </a:lnSpc>
              <a:buNone/>
            </a:pPr>
            <a:r>
              <a:rPr lang="en-US" sz="13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vermelho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No olhômetro. É a mensagem do pedreiro: </a:t>
            </a:r>
            <a:pPr algn="l" indent="0" marL="0">
              <a:lnSpc>
                <a:spcPct val="115385"/>
              </a:lnSpc>
              <a:buNone/>
            </a:pPr>
            <a:r>
              <a:rPr lang="en-US" sz="1300" i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"tá tudo certo, chefe"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3000102"/>
            <a:ext cx="499249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5AD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verdes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3495389"/>
            <a:ext cx="4992499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41 projetos em andamento, pelo gerente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4745" y="1582301"/>
            <a:ext cx="5244969" cy="2307076"/>
          </a:xfrm>
          <a:prstGeom prst="roundRect">
            <a:avLst>
              <a:gd name="adj" fmla="val 660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406990" y="1779146"/>
            <a:ext cx="7552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95888" y="1817245"/>
            <a:ext cx="60053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número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406990" y="2191886"/>
            <a:ext cx="4992499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SPI não tem opinião. Ele divide o que está pronto pelo que devia estar.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6990" y="2777262"/>
            <a:ext cx="499249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ok</a:t>
            </a:r>
            <a:endParaRPr lang="en-US" sz="3300" dirty="0"/>
          </a:p>
        </p:txBody>
      </p:sp>
      <p:sp>
        <p:nvSpPr>
          <p:cNvPr id="15" name="Text 13"/>
          <p:cNvSpPr txBox="1"/>
          <p:nvPr/>
        </p:nvSpPr>
        <p:spPr>
          <a:xfrm>
            <a:off x="6406990" y="3272549"/>
            <a:ext cx="4992499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pelo SPI e CPI. Os outros 17 estão em atenção ou críticos.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4067173"/>
            <a:ext cx="10667733" cy="932633"/>
          </a:xfrm>
          <a:prstGeom prst="roundRect">
            <a:avLst>
              <a:gd name="adj" fmla="val 16340"/>
            </a:avLst>
          </a:prstGeom>
          <a:solidFill>
            <a:srgbClr val="1E1E24"/>
          </a:solidFill>
          <a:ln w="6350">
            <a:solidFill>
              <a:srgbClr val="467C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4225" y="4340216"/>
            <a:ext cx="10632174" cy="46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</a:t>
            </a:r>
            <a:pPr algn="l" indent="0" marL="0">
              <a:lnSpc>
                <a:spcPct val="115385"/>
              </a:lnSpc>
              <a:buNone/>
            </a:pPr>
            <a:r>
              <a:rPr lang="en-US" sz="13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= verde por fora, vermelho por dentro. </a:t>
            </a:r>
            <a:pPr algn="l" indent="0" marL="0">
              <a:lnSpc>
                <a:spcPct val="115385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projetos</a:t>
            </a:r>
            <a:pPr algn="l" indent="0" marL="0">
              <a:lnSpc>
                <a:spcPct val="115385"/>
              </a:lnSpc>
              <a:buNone/>
            </a:pPr>
            <a:r>
              <a:rPr lang="en-US" sz="13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 Vértice (PRJ-012, 028, 034, 042) estão verdes para o gerente e abaixo de 0,9 pelo número. Ninguém mentiu. Só ninguém fez a conta.</a:t>
            </a:r>
            <a:endParaRPr lang="en-US" sz="135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0944646" y="6387940"/>
            <a:ext cx="50447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 / 125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GLOSSÁRIO · AS SIGLAS FICAM EM INGLÊS, ATÉ NO PMO BRASILEIRO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siglas, em uma linha cada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7880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SIGLA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862587" y="1582301"/>
            <a:ext cx="25851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INGLÊS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576946" y="1582301"/>
            <a:ext cx="28466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PORTUGUÊS (PMBOK)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542718" y="1582301"/>
            <a:ext cx="392360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UMA FRASE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1880744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1982341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748290" y="1880744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862587" y="1982341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Planned Value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62649" y="1880744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6946" y="1982341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Planejado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428421" y="1880744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542718" y="1982341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devia estar pronto hoje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324538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426135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748290" y="2324538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862587" y="2426135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Earned Value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462649" y="2324538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6946" y="2426135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Agregado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428421" y="2324538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542718" y="2426135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está pronto de verdade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61981" y="2768332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2869930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748290" y="2768332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862587" y="2869930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Actual Cost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462649" y="2768332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6946" y="2869930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Real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428421" y="2768332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542718" y="2869930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já foi gasto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61981" y="3212127"/>
            <a:ext cx="98630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313724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748290" y="3212127"/>
            <a:ext cx="271435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862587" y="3313724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 Performance Index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462649" y="3212127"/>
            <a:ext cx="296577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576946" y="3313724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Índice de Desempenho de Prazo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428421" y="3212127"/>
            <a:ext cx="400129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542718" y="3313724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÷ PV · abaixo de 1 é atraso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61981" y="3655921"/>
            <a:ext cx="98630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6278" y="3757519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1748290" y="3655921"/>
            <a:ext cx="271435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862587" y="3757519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 Performance Index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462649" y="3655921"/>
            <a:ext cx="296577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576946" y="3757519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Índice de Desempenho de Custo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7428421" y="3655921"/>
            <a:ext cx="400129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542718" y="3757519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÷ AC · abaixo de 1 é estouro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761981" y="4099715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76278" y="4201313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1748290" y="4099715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862587" y="4201313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Budget at Completion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462649" y="4099715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576946" y="4201313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Orçamento no Término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7428421" y="4099715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7542718" y="4201313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orçamento original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761981" y="4543510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76278" y="4645107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748290" y="4543510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862587" y="4645107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Estimate at Completion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4462649" y="4543510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576946" y="4645107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Estimativa no Término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7428421" y="4543510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542718" y="4645107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 ÷ CPI · quanto vai custar no fim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761981" y="4987304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76278" y="5088902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1748290" y="4987304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862587" y="5088902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VAC · Variance at Completion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462649" y="4987304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4576946" y="5088902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Variação no Término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7428421" y="4987304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7542718" y="5088902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− BAC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761981" y="5431099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876278" y="5532696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1748290" y="5431099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862587" y="5532696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4462649" y="5431099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4576946" y="5532696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 de base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7428421" y="5431099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7542718" y="5532696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plano original, contra o qual tudo é medido</a:t>
            </a:r>
            <a:endParaRPr lang="en-US" sz="1150" dirty="0"/>
          </a:p>
        </p:txBody>
      </p:sp>
      <p:sp>
        <p:nvSpPr>
          <p:cNvPr id="80" name="Shape 78"/>
          <p:cNvSpPr/>
          <p:nvPr/>
        </p:nvSpPr>
        <p:spPr>
          <a:xfrm>
            <a:off x="761981" y="5989190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14377" y="6027289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Régua da Torre: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ou CPI &lt; 0,9 = atenção · &lt; 0,8 = crítico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Definida uma vez, usada em toda query, dashboard, Genie e app.</a:t>
            </a:r>
            <a:endParaRPr lang="en-US" sz="1100" dirty="0"/>
          </a:p>
        </p:txBody>
      </p:sp>
      <p:pic>
        <p:nvPicPr>
          <p:cNvPr id="8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3" name="Text 80"/>
          <p:cNvSpPr txBox="1"/>
          <p:nvPr/>
        </p:nvSpPr>
        <p:spPr>
          <a:xfrm>
            <a:off x="10955064" y="6387940"/>
            <a:ext cx="49363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 / 125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SEGUNDA, 19/10 · ANALISTA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Ler tudo,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converter nada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 navegador. Planilha, JSON e XML viram tabela com o mesmo comando, e o SQL responde as perguntas 1 e 2.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O QUE VOCÊ ENTREGA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entregas,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todas no navegador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4982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248934" y="1582301"/>
            <a:ext cx="4193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509876" y="1582301"/>
            <a:ext cx="60377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VOCÊ SABE QUE CHEGOU LÁ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34637" y="1880744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48934" y="1982341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Ambiente no Databricks Free Edition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95579" y="1880744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09876" y="1982341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bronze, silver, gold e o volume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1981" y="2332773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34370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134637" y="2332773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48934" y="2434370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Excel, JSON e XML lidos com o mesmo comando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395579" y="2332773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509876" y="2434370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tabelas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 bronze, contagens iguais às da verificação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2784802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86400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134637" y="2784802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248934" y="2886400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 encontrada antes de virar decisão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395579" y="2784802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509876" y="2886400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achados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exemplo 03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61981" y="3236832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338429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134637" y="3236832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248934" y="3338429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numa fila só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395579" y="3236832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509876" y="3338429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dos 41 projetos em andamento (exemplo 05)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61981" y="3688861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90458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134637" y="3688861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248934" y="3790458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atraso em dinheiro, e o farol desmentido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395579" y="3688861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509876" y="3790458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 e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melancias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(exemplo 06)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61981" y="4140890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242488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134637" y="4140890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248934" y="4242488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publicado e o Genie errando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395579" y="4140890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509876" y="4242488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dashboard da bronze e as 4 perguntas no Genie sem curadoria</a:t>
            </a:r>
            <a:endParaRPr lang="en-US" sz="120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10945539" y="6387940"/>
            <a:ext cx="50354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 / 125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Quatro passos,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pela interface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462647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64361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84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conta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2098884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databricks.com/learn/free-edition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cartão, tudo serverless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313526" y="2287828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634887" y="1582301"/>
            <a:ext cx="2324736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3857132" y="1779146"/>
            <a:ext cx="122968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46029" y="1817245"/>
            <a:ext cx="109396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a casa do dado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857132" y="2191886"/>
            <a:ext cx="1955457" cy="985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Catalog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schemas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volume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bronze.raw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48521" y="2287828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69883" y="1582301"/>
            <a:ext cx="2324836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6592127" y="1779146"/>
            <a:ext cx="100615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81025" y="1817245"/>
            <a:ext cx="86149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os arquivos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592127" y="2191886"/>
            <a:ext cx="1955561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baixe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dados-vertice.zip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Drive e suba cada pasta no volume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783616" y="2287828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104978" y="1582301"/>
            <a:ext cx="2324736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7222" y="1779146"/>
            <a:ext cx="91140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416120" y="1817245"/>
            <a:ext cx="76294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SQL Editor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327222" y="2191886"/>
            <a:ext cx="1955457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01-ingestao-bronze.sql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GitHub, cole e rode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61981" y="3564940"/>
            <a:ext cx="10667733" cy="1152893"/>
          </a:xfrm>
          <a:prstGeom prst="roundRect">
            <a:avLst>
              <a:gd name="adj" fmla="val 9914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826" y="3736385"/>
            <a:ext cx="10691609" cy="81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o mesmo comando para CSV, Excel, JSON e XML</a:t>
            </a:r>
            <a:pPr algn="l" indent="0" marL="0">
              <a:lnSpc>
                <a:spcPct val="123932"/>
              </a:lnSpc>
              <a:buNone/>
            </a:pP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TABLE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lakehouse_vertice.bronze.excel_tarefas 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read_files(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'/Volumes/lakehouse_vertice/bronze/raw/excel/'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format =&gt; 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'excel'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headerRows =&gt; 1, inferColumnTypes =&gt; false);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4844830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377" y="4882929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Conferência: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99-verificacao.sql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mostra esperado × obtido. Hoje: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de 18 ok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0942662" y="6387940"/>
            <a:ext cx="50653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/ 125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O VOLUME RAW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arquivos,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jeito que cada sistema exporta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468898"/>
          </a:xfrm>
          <a:prstGeom prst="roundRect">
            <a:avLst>
              <a:gd name="adj" fmla="val 4629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045330" cy="213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/Volumes/lakehouse_vertice/bronze/raw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pmo/         projetos · status_semanal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excel/       20 planilhas .xlsx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clickup/     25 exports .json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msproject/   15 arquivos .xml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rh/          colaboradores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timesheet/   apontamentos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financeiro/  custos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compras/     entregas_fornecedor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documentos/  8 contratos em PDF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(lidos na noite 4)</a:t>
            </a:r>
            <a:endParaRPr lang="en-US" sz="10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rcRect l="7908" r="7908" t="0" b="0"/>
          <a:stretch/>
        </p:blipFill>
        <p:spPr>
          <a:xfrm>
            <a:off x="6191095" y="1582301"/>
            <a:ext cx="5238619" cy="35559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191095" y="5189011"/>
            <a:ext cx="5448164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20 planilhas no volume: arquivo de verdade, um por projeto, cada gerente com o seu nome de arquivo.</a:t>
            </a:r>
            <a:endParaRPr lang="en-US" sz="1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9570" y="6387940"/>
            <a:ext cx="468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/ 125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A BRONZE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tabelas,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pergunta do dono por trás de cada uma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2015281"/>
            <a:ext cx="30775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064097" y="2015281"/>
            <a:ext cx="116433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12248" y="2015281"/>
            <a:ext cx="140073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FONTE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87703" y="2015281"/>
            <a:ext cx="45008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 PARA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2313723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2415321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· status_semanal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949800" y="2313723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064097" y="2415321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· 3.911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297950" y="2313723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12248" y="2415321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PMO (CSV)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73406" y="2313723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87703" y="2415321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 e o farol de toda sexta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1981" y="2749283"/>
            <a:ext cx="318781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850880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excel_tarefas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949800" y="2749283"/>
            <a:ext cx="13481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064097" y="2850880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1.663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97950" y="2749283"/>
            <a:ext cx="1575455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12248" y="2850880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planilhas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73406" y="2749283"/>
            <a:ext cx="45563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87703" y="2850880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1: quem atrasa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61981" y="3184842"/>
            <a:ext cx="318781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286440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clickup_tarefas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949800" y="3184842"/>
            <a:ext cx="13481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064097" y="3286440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2.119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297950" y="3184842"/>
            <a:ext cx="1575455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12248" y="3286440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JSON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73406" y="3184842"/>
            <a:ext cx="45563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7703" y="3286440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1: quem atrasa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61981" y="3620402"/>
            <a:ext cx="318781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721999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msproject_tarefas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949800" y="3620402"/>
            <a:ext cx="13481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064097" y="3721999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1.260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297950" y="3620402"/>
            <a:ext cx="1575455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12248" y="3721999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XML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873406" y="3620402"/>
            <a:ext cx="45563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987703" y="3721999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1: quem atrasa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61981" y="4055961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6278" y="4157559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949800" y="4055961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064097" y="4157559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297950" y="4055961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412248" y="4157559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financeiro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873406" y="4055961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987703" y="4157559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2: quanto custa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61981" y="4491521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76278" y="4593118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colaboradores · apontamentos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949800" y="4491521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064097" y="4593118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523 · 30.883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297950" y="4491521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412248" y="4593118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 · timesheet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873406" y="4491521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987703" y="4593118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3: gente parada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61981" y="4927080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76278" y="5028677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entregas_fornecedor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3949800" y="4927080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4064097" y="5028677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640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297950" y="4927080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412248" y="5028677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compras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873406" y="4927080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987703" y="5028677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consultoria que atrasa (e a multa da noite 4)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761981" y="5451537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14377" y="5489636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entra como texto (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inferColumnTypes =&gt; false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no CSV e no Excel: se o Databricks adivinhasse o tipo, a sujeira sumiria antes de a gente ver.</a:t>
            </a:r>
            <a:endParaRPr lang="en-US" sz="1100" dirty="0"/>
          </a:p>
        </p:txBody>
      </p:sp>
      <p:pic>
        <p:nvPicPr>
          <p:cNvPr id="6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7" name="Text 64"/>
          <p:cNvSpPr txBox="1"/>
          <p:nvPr/>
        </p:nvSpPr>
        <p:spPr>
          <a:xfrm>
            <a:off x="10950797" y="6387940"/>
            <a:ext cx="49807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/ 125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1 DE 9 · BRONZE.PROJETOS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 do PMO: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qual ferramenta cada projeto vive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221212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225022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63121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54866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uma por projeto (41 em andamento, 19 concluídos)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311876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303621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cliente, segmento, tipo, valor do contrato, orçamento, início, fim previsto, gerente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360631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352376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codigo_ferramenta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a chave para achar o cronograma no Excel, no ClickUp ou no Project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409386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401131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R$ 305,2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(R$ 208,6 mi em andamento)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201528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221212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225022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63121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54866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data_inicio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2 formatos: 2025-03-14 e 14/03/2025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91308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83054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 escrita de 8 jeitos: Excel, excel, Planilha, ClickUp, click up, Project…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340063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331809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projetos sem código da ferramenta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4578930"/>
            <a:ext cx="10667733" cy="692728"/>
          </a:xfrm>
          <a:prstGeom prst="roundRect">
            <a:avLst>
              <a:gd name="adj" fmla="val 16500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8826" y="4750376"/>
            <a:ext cx="10691609" cy="356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projeto_id | cliente              | ferramenta | codigo_ferramenta                          | valor_contrato | data_inicio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PRJ-001    | Fintech Pagar Fácil  | MS Project | PRJ-001_migracao_do_mainframe_para_clo.xml | 7957000.00     | 14/03/2025</a:t>
            </a:r>
            <a:endParaRPr lang="en-US" sz="9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48615" y="6387940"/>
            <a:ext cx="50034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 / 125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2 DE 9 · BRONZE.STATUS_SEMANAL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sexta, o gerente escreve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aconteceu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3.911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projeto × sexta-feira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(verde, amarelo, vermelho), % concluído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texto livre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entregas e bloqueios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o único histórico de avanço que existe: as ferramentas só guardam o % de hoje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farol é do gerente, e gerente é otimista: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verdes hoje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escrito Verde, VERDE, verde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vazio, "N/A", "ver ata da reunião", texto em CAIXA ALTA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658402"/>
            <a:ext cx="10667733" cy="692728"/>
          </a:xfrm>
          <a:prstGeom prst="roundRect">
            <a:avLst>
              <a:gd name="adj" fmla="val 16500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826" y="3829847"/>
            <a:ext cx="10691609" cy="356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PRJ-011 · 2026-10-16 · amarelo · "Bloqueios: Sem SRE alocado: pipeline de deploy quebrado e ninguém para corrigir. Impacto estimado: 1 semana."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61981" y="4465427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4503526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noite 2, a IA lê esse texto e devolve a causa como coluna (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gold.status_estruturado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41868" y="6387940"/>
            <a:ext cx="5073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/ 125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3 DE 9 · BRONZE.EXCEL_TAREFAS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planilhas,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gerente do seu jeito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3964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963689"/>
          </a:xfrm>
          <a:prstGeom prst="roundRect">
            <a:avLst>
              <a:gd name="adj" fmla="val 514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1.663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uma por linha de planilha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read_files aponta para 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lê as 20 de uma vez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3835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colunas renomeadas ("% Concluído" → pct_concluido), valor intocado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13340" y="3243181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502237" y="3281280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13340" y="366227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57972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como texto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número de série (45700 = 13/02/2025)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39441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386159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como "45%" ou 0.45, e 11 tarefas acima de 100%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13340" y="42260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603835" y="414347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 de TOTAL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fim que soma tudo de novo</a:t>
            </a:r>
            <a:endParaRPr lang="en-US" sz="12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42860" y="6387940"/>
            <a:ext cx="5063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 / 125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4 DE 9 · BRONZE.CLICKUP_TAREFAS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exports da API,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lista dentro de lista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4080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887491"/>
          </a:xfrm>
          <a:prstGeom prst="roundRect">
            <a:avLst>
              <a:gd name="adj" fmla="val 527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2.119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cada arquivo é uma lista (um projeto),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explode()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abre uma linha por tarefa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JSON a gente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deixa inferir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 tipo: é o que mantém a estrutura aninhada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3166983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02237" y="3205082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13340" y="358607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50352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 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milissegundos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desde 1970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86794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78539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escrito de 12 jeitos (to do, Em andamento, DONE…)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41498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4067272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% e a baseline escondidos numa lista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custom_fields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42463" y="6387940"/>
            <a:ext cx="50674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 / 125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5 DE 9 · BRONZE.MSPROJECT_TAREFAS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cronogramas do Project,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&lt;Task&gt; por linha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4080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887491"/>
          </a:xfrm>
          <a:prstGeom prst="roundRect">
            <a:avLst>
              <a:gd name="adj" fmla="val 527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1.260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rowTag =&gt; 'Task'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cada &lt;Task&gt; vira uma linha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baseline, início e fim reais e % concluído, tudo aninhado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961308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02237" y="2999407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13340" y="338039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29785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no formato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PT40H0M0S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66227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579723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105 tarefas-resumo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(fases e o projeto inteiro) que somam as de baixo: contar tudo dobra as horas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41498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4067272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fase está na tarefa de cima, não na própria tarefa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52881" y="6387940"/>
            <a:ext cx="49590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 / 125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6 DE 9 · BRONZE.COLABORADORES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520 pessoas: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papel, custo e quem saiu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523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RH (deviam ser 520)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papel (dev, qa, sre, tech_lead…), senioridade,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custo/hora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admissão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desligamento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mostra os squads com rotatividade (PRJ-016 e PRJ-030)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pessoas duplicadas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mesmo id, nome e papel em CAIXA ALTA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DISTINCT não resolve, porque as linhas são diferentes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61981" y="3452726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58826" y="3624172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colaborador_id | nome            | papel     | senioridade | custo_hora | data_admissao | data_desligamento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COL0001        | Débora Pacheco  | tech_lead | pleno       | 155.47     | 2024-04-29    |</a:t>
            </a:r>
            <a:endParaRPr lang="en-US" sz="10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43058" y="6387940"/>
            <a:ext cx="50612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/ 125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7 DE 9 · BRONZE.APONTAMENTOS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timesheet: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disponíveis × apontadas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30.883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pessoa × projeto × semana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quem diz onde cada pessoa está: dá para saber o squad de cada projeto sem outra planilha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ociosidade = disponível − apontado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13707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12406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história escondida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SREs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COL0018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apontam de 2% a 9% no PRJ-007, que ainda está no discovery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enquanto isso, o PRJ-011 reclama de falta de SRE há 12 semanas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309078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apontar mais que o disponível é hora extra: legítimo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658402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826" y="3829847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colaborador_id | projeto_id | semana_inicio | horas_disponiveis | horas_apontadas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COL0017        | PRJ-007    | 2026-10-12    | 40.0              | 2.4</a:t>
            </a:r>
            <a:endParaRPr lang="en-US" sz="10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43356" y="6387940"/>
            <a:ext cx="50581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 / 125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8 DE 9 · BRONZE.CUSTOS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real gasto,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lançamento por lançamento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 lançamentos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pessoal, consultoria, cloud, licenças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real total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R$ 193,35 mi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o CPI, diz se cada real gasto entregou um real de trabalho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671 valores com vírgula decimal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(1245,78)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try_cast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ingênuo transforma em nulo e some com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R$ 5,41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(dá R$ 187,94 mi)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estornos negativos, que são legítimos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452726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826" y="3624172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lancamento_id | projeto_id | data       | categoria | descricao                                 | valor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L0000001      | PRJ-001    | 2025-01-10 | pessoal   | Folha alocada PRJ-001 semana 2025-01-06   | 1245.78</a:t>
            </a:r>
            <a:endParaRPr lang="en-US" sz="10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35915" y="6387940"/>
            <a:ext cx="51355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 / 125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9 DE 9 · BRONZE.ENTREGAS_FORNECEDOR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 consultoria prometeu,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quando entregou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fornecedor = consultoria subcontratada pela Vértice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aqui a Vértice é a contratante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640 entregas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5 fornecedores: pedido, prometido, entregue, valor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309078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prazo real ÷ prometido mostra quem cumpre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45520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372659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noite 4 vira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multa que a Vértice cobra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cruzando com o contrato em PDF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1779146"/>
            <a:ext cx="13707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12406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história escondida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entrega com prazo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×1,41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0% no prazo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vem escrita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jeitos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sem normalizar, vira 4 fornecedores medianos e some do ranking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entregas em atraso hoje, todas dela</a:t>
            </a:r>
            <a:endParaRPr lang="en-US" sz="12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72823" y="6387940"/>
            <a:ext cx="47516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 / 125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A BRONZE PRONTA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9 tabelas no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Catalog Explorer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2488"/>
          <a:stretch/>
        </p:blipFill>
        <p:spPr>
          <a:xfrm>
            <a:off x="761981" y="1455304"/>
            <a:ext cx="10667733" cy="444488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5963692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São 10 itens porque o exemplo 05 cria a view </a:t>
            </a:r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rascunho_tarefas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Logo depois da ingestão você vê 9.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44051" y="6387940"/>
            <a:ext cx="50509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 / 125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OS 6 EXEMPLOS SQL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primeiro SELECT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resposta do dono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3706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384366" y="1582301"/>
            <a:ext cx="285130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54604" y="1582301"/>
            <a:ext cx="515924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ELE MOSTRA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 · primeiro SELECT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0069" y="1880744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84366" y="1982341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SELECT, FROM, LIMIT, COUNT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40306" y="1880744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54604" y="1982341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projetos, 41 em andamento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1981" y="2316303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17900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 · ORDER BY e DISTINCT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70069" y="2316303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84366" y="2417900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BY, DISTINCT, CAST, SUM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40306" y="2316303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4604" y="2417900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de R$ 305,2 mi; a ferramenta escrita de 8 jeitos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751862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53460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 · WHERE e a sujeira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70069" y="2751862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384366" y="2853460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WHERE, LIKE, IS NULL, FILTER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40306" y="2751862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4604" y="2853460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achados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sujeira, antes de virarem decisão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3187422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289019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 · GROUP BY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270069" y="3187422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384366" y="3289019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date_trunc, try_cast, replace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40306" y="3187422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354604" y="3289019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por mês; o try_cast que perde 671 lançamentos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1981" y="3622981"/>
            <a:ext cx="250808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24579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 · UNION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270069" y="3622981"/>
            <a:ext cx="297023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384366" y="3724579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CTE, UNION ALL, CASE, JOIN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40306" y="3622981"/>
            <a:ext cx="518940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54604" y="3724579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numa fila só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SPI de cada projeto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61981" y="4058541"/>
            <a:ext cx="250808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160138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 · quanto custa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270069" y="4058541"/>
            <a:ext cx="297023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384366" y="4160138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 encadeada, KPI, janela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40306" y="4058541"/>
            <a:ext cx="518940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54604" y="4160138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estouro; 7 críticos; 4 melancias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61981" y="4582998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914377" y="4621097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exemplo existe em dois notebooks: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branco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(você digita) e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resolvido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(para conferir).</a:t>
            </a:r>
            <a:endParaRPr lang="en-US" sz="1100" dirty="0"/>
          </a:p>
        </p:txBody>
      </p:sp>
      <p:pic>
        <p:nvPicPr>
          <p:cNvPr id="4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6" name="Text 43"/>
          <p:cNvSpPr txBox="1"/>
          <p:nvPr/>
        </p:nvSpPr>
        <p:spPr>
          <a:xfrm>
            <a:off x="10941868" y="6387940"/>
            <a:ext cx="5073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/ 125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01 · SELECT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existe no catálogo,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onde cada projeto vive?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1917156"/>
          </a:xfrm>
          <a:prstGeom prst="roundRect">
            <a:avLst>
              <a:gd name="adj" fmla="val 5962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58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lakehouse_vertice.bronze.projetos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10;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bronze.projetos)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projetos,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bronze.excel_tarefas)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linhas_no_excel,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bronze.clickup_tarefas)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tarefas_no_clickup,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bronze.msproject_tarefas)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tarefas_no_project;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217780"/>
          </a:xfrm>
          <a:prstGeom prst="roundRect">
            <a:avLst>
              <a:gd name="adj" fmla="val 125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SELECT, FROM, LIMIT, COUNT(*). Antes de calcular qualquer KPI, olhe o dado. Sempre.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2939778"/>
            <a:ext cx="4656517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136623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174722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55571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473165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3.911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status semanais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383758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3755038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1.663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linhas · ClickUp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2.119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Project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1.260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11946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036912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mesma informação com três caras: data em texto, em número de série e em milissegundos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478480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4822903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exemplo-01-primeiro-select.sql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GitHub. Copie, cole no SQL Editor e rode bloco a bloco.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35121" y="6387940"/>
            <a:ext cx="51437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44 / 125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02 · ORDER BY, DISTINCT E CAST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vale a carteira,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quais os maiores contratos?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092074"/>
          </a:xfrm>
          <a:prstGeom prst="roundRect">
            <a:avLst>
              <a:gd name="adj" fmla="val 546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755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a armadilha: ordenar texto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projeto_id, valor_contrato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valor_contrato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PRJ-052 em 1º?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com CAST, ordena como número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projeto_id,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(valor_contrato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PRJ-017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DISTINCT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ferramenta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bronze tudo é texto: sem CAST, ORDER BY ordena como palavra, e '8380000' passa na frente de '15275000'.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maior contrato de verdade: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PRJ-017, R$ 15,3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(o texto dizia PRJ-052)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24893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4166389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R$ 305,2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R$ 208,6 mi em andamento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5308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448262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ferramenta escrita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jeitos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Excel, excel, Planilha, ClickUp, Clickup…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519615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234254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exemplo-02-order-by-e-distinct.sql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 primeira sujeira do dia é o retrato do problema da Vértice: cada um registra do seu jeito.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36113" y="6387940"/>
            <a:ext cx="51334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45 / 125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03 · WHERE E A SUJEIRA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Dá para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confiar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nesse número?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092074"/>
          </a:xfrm>
          <a:prstGeom prst="roundRect">
            <a:avLst>
              <a:gd name="adj" fmla="val 546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755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data_inicio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'%/%'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data_inicio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'%-%'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iso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arquivo, tarefa, horas_previstas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bronze.excel_tarefas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 =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'TOTAL'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conta duas vezes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'%,%'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bronze.custos;        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vírgula decimal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217780"/>
          </a:xfrm>
          <a:prstGeom prst="roundRect">
            <a:avLst>
              <a:gd name="adj" fmla="val 125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WHERE, LIKE, IS NULL, COUNT(*) FILTER. Dado sujo não dá erro: dá um número errado, em silêncio.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2939778"/>
            <a:ext cx="4656517" cy="2192878"/>
          </a:xfrm>
          <a:prstGeom prst="roundRect">
            <a:avLst>
              <a:gd name="adj" fmla="val 6950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136623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174722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55571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473165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em 2 formatos: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×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383758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3755038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linhas de TOTAL no Excel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105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tarefas-resumo no Project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3251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242587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custos com vírgula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pessoas duplicadas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status vazios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95342" y="48126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85838" y="4730136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jeitos · status do ClickUp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61981" y="527235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377" y="531045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exemplo-03-where-e-a-sujeira.sql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12 achados. É o exemplo mais importante do dia, e tudo que ele acha é o que a silver conserta amanhã.</a:t>
            </a:r>
            <a:endParaRPr lang="en-US" sz="11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35816" y="6387940"/>
            <a:ext cx="51365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 / 125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04 · GROUP BY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a Vértice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gasta por mês?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092074"/>
          </a:xfrm>
          <a:prstGeom prst="roundRect">
            <a:avLst>
              <a:gd name="adj" fmla="val 546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755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-- 1. quebra: '12345,67' não é número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-- 2. não quebra... e joga 671 linhas fora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try_cast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-- 3. o certo: vírgula vira ponto antes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date_trunc(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'MONTH'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DATE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mes,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(replace(valor,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','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BY, date_trunc, try_cast, replace. A primeira query falha de propósito; a segunda "funciona" e mente.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try_cast: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R$ 187,94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(671 lançamentos sumiram)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24893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4166389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certo: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R$ 193,35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custo real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5308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448262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é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R$ 117,8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quase dois terços; consultoria R$ 29,4 mi; cloud R$ 23,0 mi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519615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234254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exemplo-04-group-by-custo-no-tempo.sql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 diferença de R$ 5,41 mi é o tamanho de um erro silencioso.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46233" y="6387940"/>
            <a:ext cx="50282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47 / 125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05 · UNION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três ferramentas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numa fila só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266993"/>
          </a:xfrm>
          <a:prstGeom prst="roundRect">
            <a:avLst>
              <a:gd name="adj" fmla="val 5042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930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VIEW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bronze.rascunho_tarefas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'excel'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tarefa,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data texto OU série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bronze.excel_tarefas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 &lt;&gt;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'TOTAL'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'clickup'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name,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milissegundos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bronze.clickup_tarefas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 ...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'msproject'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PT40H0M0S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bronze.msproject_tarefas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Summary = 0;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SPI = horas agregadas ÷ horas planejadas até 16/10/2026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CTE, UNION ALL, CASE, JOIN. Cada ferramenta é traduzida para as mesmas 7 colunas e empilhada: um rascunho à mão da silver de amanhã.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 / 1.643 tarefas · ClickUp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2.119 · Project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1.155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24893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4166389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 numa tabela só, pela primeira vez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5308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448262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SPI de cada um: o pior é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PRJ-016, 0,63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499047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02857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exemplo-05-union-quais-projetos-atrasados.sql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Rode inteiro: ele cria a view que o exemplo 06, o dashboard e a verificação usam.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36312" y="6387940"/>
            <a:ext cx="51313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 / 125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05 · PERGUNTA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atrasa: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7 críticos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463496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561568" y="1582301"/>
            <a:ext cx="297533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651063" y="1582301"/>
            <a:ext cx="5754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432987" y="1582301"/>
            <a:ext cx="54399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184649" y="1582301"/>
            <a:ext cx="11759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61981" y="1880744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76278" y="1982341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 · Integração com laboratórios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47271" y="1880744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61568" y="1982341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Operadora Bem Cuidar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536766" y="1880744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51063" y="1982341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0,63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318690" y="1880744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432987" y="1982341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70352" y="1880744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184649" y="1982341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R$ 257 mil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316303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417900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PRJ-030 · APIs de Open Finance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47271" y="2316303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561568" y="2417900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Seguradora Porto Firme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36766" y="2316303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651063" y="2417900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0,69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18690" y="2316303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432987" y="2417900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0,90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070352" y="2316303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184649" y="2417900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R$ 363 mil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61981" y="2751862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6278" y="2853460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PRJ-039 · Antifraude em tempo real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7271" y="2751862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561568" y="2853460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Banco Meridiano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536766" y="2751862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651063" y="2853460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0,75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318690" y="2751862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432987" y="2853460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0,95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070352" y="2751862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184649" y="2853460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R$ 130 mil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1981" y="3187422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6278" y="3289019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PRJ-009 · Prontuário eletrônico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47271" y="3187422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561568" y="3289019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Rede Diagnóstica Vida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536766" y="3187422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651063" y="3289019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0,94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318690" y="3187422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432987" y="3289019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0,77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0070352" y="3187422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0184649" y="3289019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R$ 518 mil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61981" y="3622981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76278" y="3724579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PRJ-011 · Checkout e meios de pagamento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447271" y="3622981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561568" y="3724579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Supermercados Bom Preço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536766" y="3622981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651063" y="3724579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0,77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9318690" y="3622981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9432987" y="3724579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0070352" y="3622981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184649" y="3724579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R$ 310 mil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61981" y="4058541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76278" y="4160138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PRJ-027 · Migração do mainframe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447271" y="4058541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561568" y="4160138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Corretora Valor Real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536766" y="4058541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651063" y="4160138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0,95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9318690" y="4058541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9432987" y="4160138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0,79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0070352" y="4058541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0184649" y="4160138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R$ 497 mil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761981" y="4494100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876278" y="4595698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PRJ-054 · Migração do mainframe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5447271" y="4494100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561568" y="4595698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Seguradora Porto Firme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8536766" y="4494100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8651063" y="4595698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0,80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9318690" y="4494100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9432987" y="4595698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0,93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10070352" y="4494100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10184649" y="4595698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R$ 410 mil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761981" y="5005858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14377" y="5043957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= trabalho entregue ÷ trabalho que devia estar pronto.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Abaixo de 0,8 é crítico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abaixo de 0,9, atenção (mais 10 projetos).</a:t>
            </a:r>
            <a:endParaRPr lang="en-US" sz="1100" dirty="0"/>
          </a:p>
        </p:txBody>
      </p:sp>
      <p:pic>
        <p:nvPicPr>
          <p:cNvPr id="8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2" name="Text 79"/>
          <p:cNvSpPr txBox="1"/>
          <p:nvPr/>
        </p:nvSpPr>
        <p:spPr>
          <a:xfrm>
            <a:off x="10936709" y="6387940"/>
            <a:ext cx="51272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 / 125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06 · QUANTO CUSTA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nada mudar,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a Vértice vai perder?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1917156"/>
          </a:xfrm>
          <a:prstGeom prst="roundRect">
            <a:avLst>
              <a:gd name="adj" fmla="val 5962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58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(...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bronze.rascunho_tarefas ...),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custo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(... replace(valor,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','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...),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farol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(...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QUALIFY ROW_NUMBER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... = 1)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projeto_id, spi, cpi, farol,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orcamento / cpi   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eac,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orcamento / cpi - orcamento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estouro,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GREATEST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 orcamento / cpi - orcamento))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()          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estouro_total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LEAST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(spi, cpi);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 encadeada, aritmética de KPI, janela (SUM OVER). EV = orçamento × % pronto; CPI = EV ÷ custo; EAC = orçamento ÷ CPI.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 previsto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04326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3960713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críticos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atenção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3251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242587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melancias: verdes para o gerente, abaixo de 0,9 pelo número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499047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02857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exemplo-06-quanto-custa-o-atraso.sql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Responde a pergunta 2 do dono.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36907" y="6387940"/>
            <a:ext cx="51251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 / 125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06 · PERGUNTA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custa: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e o farol mente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previsto: EAC − orçamento, só de quem estoura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77124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99369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4599369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risco: 7 críticos e 10 em atenção, de 41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92267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4512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8214512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melancias: farol verde do gerente com SPI abaixo de 0,9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61981" y="3056060"/>
            <a:ext cx="10667733" cy="1252109"/>
          </a:xfrm>
          <a:prstGeom prst="roundRect">
            <a:avLst>
              <a:gd name="adj" fmla="val 1217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4225" y="3252905"/>
            <a:ext cx="322125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291004"/>
            <a:ext cx="316519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melancias: verdes por fora, vermelhas por dentro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84225" y="3665644"/>
            <a:ext cx="10632174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PRJ-012 · PRJ-028 · PRJ-034 · PRJ-042: o gerente publicou verde na sexta; o número diz atraso. A regra da Vértice é verde só com SPI ≥ 0,95.</a:t>
            </a:r>
            <a:endParaRPr lang="en-US" sz="13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973915" y="6387940"/>
            <a:ext cx="47403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51 / 125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DASHBOARD PASSO A PASSO · 1 DE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dados: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SQLs prontos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 aba Data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282372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21926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313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295139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menu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Dashboards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dashboard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133251" y="1992163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454612" y="1582301"/>
            <a:ext cx="3282471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4676857" y="1779146"/>
            <a:ext cx="243477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65754" y="1817245"/>
            <a:ext cx="6830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676857" y="2191886"/>
            <a:ext cx="2951501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renomeie: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Farol · Noite 1 (bronze)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825981" y="1992163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147342" y="1582301"/>
            <a:ext cx="3282372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9587" y="1779146"/>
            <a:ext cx="24635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485" y="1817245"/>
            <a:ext cx="7130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369587" y="2191886"/>
            <a:ext cx="295139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aba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Create from SQL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cole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76278" y="2960812"/>
            <a:ext cx="206927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094555" y="2960812"/>
            <a:ext cx="479521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 NO GITHUB (COPIE E COLE)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33928" y="2960812"/>
            <a:ext cx="35167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 TRAZER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61981" y="3259254"/>
            <a:ext cx="22182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76278" y="3360852"/>
            <a:ext cx="20692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andamento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980258" y="3259254"/>
            <a:ext cx="483937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94555" y="3360852"/>
            <a:ext cx="479521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aulas/aula-01-analista/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dashboard-dataset-projetos.sql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819631" y="3259254"/>
            <a:ext cx="361008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33928" y="3360852"/>
            <a:ext cx="35167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 linhas: SPI, CPI, situação, farol, estouro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61981" y="3694814"/>
            <a:ext cx="22182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76278" y="3796411"/>
            <a:ext cx="20692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 por mês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980258" y="3694814"/>
            <a:ext cx="483937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094555" y="3796411"/>
            <a:ext cx="479521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aulas/aula-01-analista/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dashboard-dataset-custos.sql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819631" y="3694814"/>
            <a:ext cx="361008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933928" y="3796411"/>
            <a:ext cx="35167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 lançamentos com mês e categoria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1981" y="4231971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14377" y="4270070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primeiro dataset lê a view do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 05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rode o 05 antes. Repare no SQL: CAST, replace e try_to_date em toda coluna. É o preço de ler a bronze.</a:t>
            </a:r>
            <a:endParaRPr lang="en-US" sz="110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10945043" y="6387940"/>
            <a:ext cx="50405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 / 125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DASHBOARD PASSO A PASSO · 2 DE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gráficos: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 a visualization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um prompt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37892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GRÁFICO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392303" y="1582301"/>
            <a:ext cx="824003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DIGITE NO QUADRO DO GRÁFICO (ASSISTENTE)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78006" y="1880744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92303" y="1982341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Contador com a soma de valor_contrato, em reais, título "Carteira em andamento"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61981" y="2291499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393096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risco · críticos · melancias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78006" y="2291499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92303" y="2393096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Contador com a soma de em_risco (depois: critico; depois: melancia)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61981" y="2702254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2803852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por projeto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78006" y="2702254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392303" y="2803852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Barras horizontais com o SPI de cada projeto, do menor para o maior, cor pela situacao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61981" y="3113010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214607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ferramenta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78006" y="3113010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392303" y="3214607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Barras empilhadas com a quantidade de projetos por ferramenta, cor pela situacao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61981" y="3523765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76278" y="3625362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por mês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78006" y="3523765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392303" y="3625362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Barras empilhadas do custo (soma de valor) por mês, cor pela categoria, dataset Custos por mês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61981" y="3934520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76278" y="4036118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78006" y="3934520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392303" y="4036118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 com projeto, cliente, ferramenta, spi, cpi, situacao, farol, estouro_previsto e atraso_projetado_dias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61981" y="4421474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14377" y="4459573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Confira no topo: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R$ 208,6 mi · 17 em risco · 7 críticos · 4 melancias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Depois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Publish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(canto superior direito). Prompts e o jeito "à mão":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passo-a-passo-dashboard-e-genie.md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00" dirty="0"/>
          </a:p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0942860" y="6387940"/>
            <a:ext cx="5063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 / 125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ENTREGA 6 · 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da bronze,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publicado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3221" r="13221" t="0" b="0"/>
          <a:stretch/>
        </p:blipFill>
        <p:spPr>
          <a:xfrm>
            <a:off x="761981" y="1455304"/>
            <a:ext cx="5257669" cy="406389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rcRect l="13221" r="13221" t="0" b="0"/>
          <a:stretch/>
        </p:blipFill>
        <p:spPr>
          <a:xfrm>
            <a:off x="6172046" y="1455304"/>
            <a:ext cx="5257669" cy="406389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582701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"Projeto Farol · Noite 1 (bronze)": funciona, mas cada gráfico repete o CASE, o replace e a conversão de data. Na noite 2 isso some.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36113" y="6387940"/>
            <a:ext cx="51334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 / 125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GENIE PASSO A PASSO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Criar o Genie 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fazer as 4 perguntas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92519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77729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Criar (2 min)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menu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Agents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New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 → bronze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marque projetos, status_semanal, excel_tarefas, clickup_tarefas, msproject_tarefas, colaboradores, apontamentos e custos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309078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renomeie para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· Noite 1 (bronze, sem curadoria)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66088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57833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nenhuma instrução: é de propósito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2565931"/>
          </a:xfrm>
          <a:prstGeom prst="roundRect">
            <a:avLst>
              <a:gd name="adj" fmla="val 5939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1779146"/>
            <a:ext cx="194146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183421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 e cole, uma de cada vez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413340" y="2153787"/>
            <a:ext cx="4985895" cy="1289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Quais projetos estão atrasados, e de quais clientes?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Quanto esse atraso vai me custar?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Tenho gente parada enquanto outro projeto pede gente?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vai dar errado no próximo mês?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413340" y="3557102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Abra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 code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cada resposta e compare com os exemplos 05 e 06.</a:t>
            </a:r>
            <a:endParaRPr lang="en-US" sz="115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0937205" y="6387940"/>
            <a:ext cx="51221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 / 125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ENTREGA 6 · GENIE SEM CURADORIA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Genie na bronze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erra as 4 perguntas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5727" r="15727" t="0" b="0"/>
          <a:stretch/>
        </p:blipFill>
        <p:spPr>
          <a:xfrm>
            <a:off x="761981" y="1455304"/>
            <a:ext cx="5238619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455304"/>
            <a:ext cx="5238619" cy="2634886"/>
          </a:xfrm>
          <a:prstGeom prst="roundRect">
            <a:avLst>
              <a:gd name="adj" fmla="val 578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652149"/>
            <a:ext cx="88481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690248"/>
            <a:ext cx="73529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erra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198869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sabe que hoje é 16/10/2026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35311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270564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soma a linha de TOTAL do Excel e as tarefas-resumo do Project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84066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3835" y="275811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vê 4 CodeForges diferentes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13340" y="312253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03998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responde com confiança: "nenhum atraso custa nada"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398058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65736" y="3436157"/>
            <a:ext cx="482740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de IA é o mesmo da noite 2. O que muda é o que está embaixo dele.</a:t>
            </a:r>
            <a:endParaRPr lang="en-US" sz="11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0936808" y="6387940"/>
            <a:ext cx="51262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56 / 125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180315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FRASE DO PRIMEIRO DIA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126998"/>
            <a:ext cx="11094443" cy="1708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291"/>
              </a:lnSpc>
              <a:buNone/>
            </a:pPr>
            <a:r>
              <a:rPr lang="en-US" sz="3900" b="1" spc="-39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"São </a:t>
            </a:r>
            <a:pPr algn="l" indent="0" marL="0">
              <a:lnSpc>
                <a:spcPct val="98291"/>
              </a:lnSpc>
              <a:buNone/>
            </a:pPr>
            <a:r>
              <a:rPr lang="en-US" sz="3900" b="1" spc="-39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projetos</a:t>
            </a:r>
            <a:pPr algn="l" indent="0" marL="0">
              <a:lnSpc>
                <a:spcPct val="98291"/>
              </a:lnSpc>
              <a:buNone/>
            </a:pPr>
            <a:r>
              <a:rPr lang="en-US" sz="3900" b="1" spc="-39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risco, espalhados em três ferramentas. Quatro deles estão com farol verde."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279991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o que você responde ao dono no fim da noite 1. Na noite 4, a frase vem com o quanto custa, a causa e a decisão.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47226" y="6387940"/>
            <a:ext cx="50178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 / 125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TERÇA, 20/10 · ENGENHEIRO DE DADOS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Integrar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vez, para sempre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prompts no Claude Code viram um projeto de verdade: pipeline, testes, IA nos textos, métrica governada, dashboard e Genie, tudo em código.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 + o bundle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vertice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811591"/>
          </a:xfrm>
          <a:prstGeom prst="roundRect">
            <a:avLst>
              <a:gd name="adj" fmla="val 542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7615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51829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instalar a CLI do Databricks e o Claude Code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 auth login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seu workspace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abrir o Claude Code na pasta da noite 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37506"/>
            <a:ext cx="105357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3123" y="3075605"/>
            <a:ext cx="91081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cada prompt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84225" y="3412147"/>
            <a:ext cx="4794130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1070" y="3583592"/>
            <a:ext cx="4583061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deploy --profile SEU-PERFIL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run vertice_farol --profile SEU-PERFIL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05392" y="1582301"/>
            <a:ext cx="965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461956" y="1582301"/>
            <a:ext cx="40075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NASCE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91095" y="1880744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05392" y="1982341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47659" y="1880744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61956" y="1982341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+ conferência da bronze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91095" y="2308068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05392" y="2409666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47659" y="2308068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61956" y="2409666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silver: as 3 ferramentas viram uma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91095" y="2735393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05392" y="2836990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47659" y="2735393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61956" y="2836990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+ testes de qualidade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91095" y="3162717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05392" y="3264314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347659" y="3162717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61956" y="3264314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no status semanal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191095" y="3590041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05392" y="3691639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347659" y="3590041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461956" y="3691639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métrica governada (mv_projetos)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91095" y="4017366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305392" y="4118963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347659" y="4017366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461956" y="4118963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e Genie como código</a:t>
            </a:r>
            <a:endParaRPr lang="en-US" sz="105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10937701" y="6387940"/>
            <a:ext cx="51169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 / 125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JOB VERTICE_FAROL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ordem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é sugestão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4177005"/>
          </a:xfrm>
          <a:prstGeom prst="roundRect">
            <a:avLst>
              <a:gd name="adj" fmla="val 3344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38849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981" y="587360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14377" y="591170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tarefas na noite 2; a noite 3 pendura as 3 do modelo no mesmo job (em azul). Se a conferência falha, nada roda.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36510" y="6387940"/>
            <a:ext cx="51293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/ 125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JOB NO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tarefas verdes,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minutos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485976"/>
            <a:ext cx="10667733" cy="178249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1981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84225" y="3661080"/>
            <a:ext cx="87538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73123" y="3699179"/>
            <a:ext cx="7254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conferência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984225" y="4073820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s · as 9 tabelas da bronze, contadas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473363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95608" y="3661080"/>
            <a:ext cx="78083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84505" y="3699179"/>
            <a:ext cx="62715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medalhão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695608" y="4073820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min · silver + gold no pipeline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84745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6990" y="3661080"/>
            <a:ext cx="136759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95888" y="3699179"/>
            <a:ext cx="123739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+ testes + métrica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406990" y="4073820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~30 s · só status novo vai para a IA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896128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118372" y="3661080"/>
            <a:ext cx="174630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207270" y="3699179"/>
            <a:ext cx="163125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→ modelo → score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9118372" y="4073820"/>
            <a:ext cx="2172662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~2,5 min · noite 3</a:t>
            </a:r>
            <a:endParaRPr lang="en-US" sz="115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3518" y="6387940"/>
            <a:ext cx="47444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 / 125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PIPELINE VERTICE_MEDALHAO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declara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cada tabela é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o Lakeflow acha a ordem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10667733" cy="4144065"/>
          </a:xfrm>
          <a:prstGeom prst="roundRect">
            <a:avLst>
              <a:gd name="adj" fmla="val 3371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2161327"/>
            <a:ext cx="10375641" cy="385197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44646" y="6387940"/>
            <a:ext cx="50447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 / 125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PIPELINE NO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grafo que o Lakeflow desenha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sozinho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349" y="1455304"/>
            <a:ext cx="10584996" cy="457188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42463" y="6387940"/>
            <a:ext cx="50674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 / 125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SILVER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tabelas limpas: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 resolvida uma vez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54158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2587163" y="1582301"/>
            <a:ext cx="47485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272351" y="1582301"/>
            <a:ext cx="83647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 LIMPEZA FEZ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1710885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1541583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72866" y="1880744"/>
            <a:ext cx="685188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587163" y="1982341"/>
            <a:ext cx="474857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4.917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58054" y="1880744"/>
            <a:ext cx="8271660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72351" y="1982341"/>
            <a:ext cx="8364789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viram uma</a:t>
            </a:r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sem linha de TOTAL, sem tarefa-resumo, data de série e milissegundo convertidas (Excel 1.643 · ClickUp 2.119 · Project 1.155)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1981" y="2481399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582996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472866" y="2481399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587163" y="2582996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58054" y="2481399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72351" y="2582996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em 2 formatos unificada; ferramenta de 8 jeitos vira excel, clickup ou msproject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61981" y="2908723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3010321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status_semanal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472866" y="2908723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587163" y="3010321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3.911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58054" y="2908723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72351" y="3010321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em minúsculas; status vazio sinalizado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61981" y="3336048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437645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472866" y="3336048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587163" y="3437645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158054" y="3336048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72351" y="3437645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vírgula decimal recuperada: os 671 lançamentos voltam (R$ 193,35 mi)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61981" y="3763372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864970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colaboradores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472866" y="3763372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587163" y="3864970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158054" y="3763372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272351" y="3864970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duplicatas do RH removidas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61981" y="4190697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292294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apontamentos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472866" y="4190697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2587163" y="4292294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30.883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158054" y="4190697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272351" y="4292294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semana alinhada à sexta do status; hora extra sinalizada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61981" y="4618021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76278" y="4719619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entregas_fornecedor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472866" y="4618021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587163" y="4719619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640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158054" y="4618021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272351" y="4719619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 de 4 jeitos vira 1; atraso calculado</a:t>
            </a:r>
            <a:endParaRPr lang="en-US" sz="1050" dirty="0"/>
          </a:p>
        </p:txBody>
      </p:sp>
      <p:pic>
        <p:nvPicPr>
          <p:cNvPr id="4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0" name="Text 47"/>
          <p:cNvSpPr txBox="1"/>
          <p:nvPr/>
        </p:nvSpPr>
        <p:spPr>
          <a:xfrm>
            <a:off x="10935816" y="6387940"/>
            <a:ext cx="51365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 / 125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SILVER.TAREFAS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Excel, ClickUp e Project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mesma tabela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46458"/>
          <a:stretch/>
        </p:blipFill>
        <p:spPr>
          <a:xfrm>
            <a:off x="761981" y="1455304"/>
            <a:ext cx="10667733" cy="43178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5836695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Mesmas colunas, mesmo tipo, mesma régua, não importa de onde veio. É aqui que o "juntar à mão" da noite 1 vira código testado.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36808" y="6387940"/>
            <a:ext cx="51262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 / 125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A GOLD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objetos,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pergunta cada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080043"/>
            <a:ext cx="6286343" cy="28144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38819" y="1455304"/>
            <a:ext cx="4190895" cy="2944640"/>
          </a:xfrm>
          <a:prstGeom prst="roundRect">
            <a:avLst>
              <a:gd name="adj" fmla="val 51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61063" y="1652149"/>
            <a:ext cx="133614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549961" y="1690248"/>
            <a:ext cx="12046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cria cada um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461063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51559" y="1988691"/>
            <a:ext cx="3698148" cy="1028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projeto_situacao_atual, fato_projeto_semana, utilizacao_pessoa_semana (pipeline), status_estruturado (IA), mv_projetos (métrica)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61063" y="317581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51559" y="3093266"/>
            <a:ext cx="3698148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score_estouro_30d (o modelo)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461063" y="345768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651559" y="3375139"/>
            <a:ext cx="3698148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contratos (IA nos PDFs)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61063" y="3707811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13460" y="3745910"/>
            <a:ext cx="373777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tabela tem COMMENT: é o que o Genie lê para entender o que cada coluna quer dizer.</a:t>
            </a:r>
            <a:endParaRPr lang="en-US" sz="11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36411" y="6387940"/>
            <a:ext cx="51303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 / 125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1 DE 5 · GOLD.PROJETO_SITUACAO_ATUAL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fotografia de hoje: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perguntas 1 e 2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845622"/>
          </a:xfrm>
          <a:prstGeom prst="roundRect">
            <a:avLst>
              <a:gd name="adj" fmla="val 53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72636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61051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projeto (60)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cadastro: cliente, segmento, ferramenta, gerente, contrato, prazo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PV, EV, AC calculados sobre as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 das 3 ferramentas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CPI, EAC,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 previsto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margem, atraso projetado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24953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16698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situação: ok, atenção, crítico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4225" y="353140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448857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do gerente × farol calculado, e a coluna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1095" y="1582301"/>
            <a:ext cx="5238619" cy="2845622"/>
          </a:xfrm>
          <a:prstGeom prst="roundRect">
            <a:avLst>
              <a:gd name="adj" fmla="val 5355"/>
            </a:avLst>
          </a:prstGeom>
          <a:solidFill>
            <a:srgbClr val="0059DB"/>
          </a:solidFill>
          <a:ln/>
        </p:spPr>
      </p:sp>
      <p:sp>
        <p:nvSpPr>
          <p:cNvPr id="18" name="Shape 16"/>
          <p:cNvSpPr/>
          <p:nvPr/>
        </p:nvSpPr>
        <p:spPr>
          <a:xfrm>
            <a:off x="6413340" y="1779146"/>
            <a:ext cx="43496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02237" y="1817245"/>
            <a:ext cx="26745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413340" y="2115688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· 10 · 4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413340" y="2522078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críticos · em atenção · melancias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13340" y="2871616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413340" y="3278006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previsto, o mesmo da noite 1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413340" y="3627545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 · 0,97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6413340" y="4033935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e CPI da carteira · margem projetada 20,4%</a:t>
            </a:r>
            <a:endParaRPr lang="en-US" sz="11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46829" y="6387940"/>
            <a:ext cx="50220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 / 125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2 DE 5 · GOLD.FATO_PROJETO_SEMANA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evolução: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× semana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87203"/>
          </a:xfrm>
          <a:prstGeom prst="roundRect">
            <a:avLst>
              <a:gd name="adj" fmla="val 766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8724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72239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4.235 linhas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PV, EV e AC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acumulados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até cada sexta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 e EAC semana a semana; farol do gerente vigente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disponíveis, apontadas e ociosas da equipe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438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296130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EV histórico vem do status semanal: as ferramentas só guardam o % de hoje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1987203"/>
          </a:xfrm>
          <a:prstGeom prst="roundRect">
            <a:avLst>
              <a:gd name="adj" fmla="val 7669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1779146"/>
            <a:ext cx="104445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90132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 serve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linha do SPI e do CPI da carteira no dashboard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"qual era o SPI do PRJ-016 em setembro?" no Genie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base do modelo da noite 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cada linha é um "momento" do projeto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3721900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3759999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Cuidado que vira teste: PV, EV e AC já são acumulados. Somar semanas do mesmo projeto conta duas vezes.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36907" y="6387940"/>
            <a:ext cx="51251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 / 125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3 DE 5 · GOLD.UTILIZACAO_PESSOA_SEMANA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3: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parada × gente pedida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8266" r="18266" t="0" b="0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681816"/>
          </a:xfrm>
          <a:prstGeom prst="roundRect">
            <a:avLst>
              <a:gd name="adj" fmla="val 568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175414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16394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Pessoa × projeto × semana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utilização = apontado ÷ disponível; custo da hora parada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 SPI do projeto na mesma semana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755633"/>
            <a:ext cx="80037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02237" y="2793732"/>
            <a:ext cx="64748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resposta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13340" y="317472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09217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COL0018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SREs seniores, a ~5,5% no PRJ-007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4565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37404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PRJ-011 está sem SRE há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semanas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57 dias de impacto no status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39441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386159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decisão óbvia vira simulação na noite 4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37304" y="6387940"/>
            <a:ext cx="51210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69 / 125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4 DE 5 · GOLD.STATUS_ESTRUTURADO · A FUNÇÃO DE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texto livre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coluna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867646"/>
          </a:xfrm>
          <a:prstGeom prst="roundRect">
            <a:avLst>
              <a:gd name="adj" fmla="val 1317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10691609" cy="531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ai_classify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(texto_status,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'["change_freeze","falta_sre","dependencia_fornecedor","rotatividade",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"mudanca_escopo","bug_retrabalho","aprovacao_cliente","sem_bloqueio"]'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ai_extract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(texto_status,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'{"bloqueio": ..., "quem_destrava": ..., "dias_impacto": {"type": "number"}}'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61981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4225" y="2811888"/>
            <a:ext cx="120398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73123" y="2849987"/>
            <a:ext cx="10672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Regra · custo zero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2.954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984225" y="355482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"sem bloqueios" e status vazio: não precisa de IA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77124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0059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599369" y="2811888"/>
            <a:ext cx="126401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88266" y="2849987"/>
            <a:ext cx="112966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· últimos 90 dias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99369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4599369" y="3554820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com bloqueio, em ~2 minutos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92267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14512" y="2811888"/>
            <a:ext cx="164550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03410" y="2849987"/>
            <a:ext cx="152641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Palavra-chave · histórico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14512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794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214512" y="355482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a IA custaria caro e não muda decisão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61981" y="4285647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377" y="4323746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Causas nos últimos 90 dias: escopo 42 · bug 37 · aprovação do cliente 35 · fornecedor 28 ·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de SRE 12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rotatividade 9. O MERGE só processa status novo: IA cobra por chamada.</a:t>
            </a:r>
            <a:endParaRPr lang="en-US" sz="11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46928" y="6387940"/>
            <a:ext cx="50209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 / 125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4 DE 5 · A IA NO 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travou,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a projeto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300" y="1455304"/>
            <a:ext cx="8877096" cy="4444889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83936" y="6387940"/>
            <a:ext cx="46361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 / 125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5 DE 5 · GOLD.MV_PROJETOS · A MÉTRICA GOVERNADA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SPI definido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 só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616829"/>
          </a:xfrm>
          <a:prstGeom prst="roundRect">
            <a:avLst>
              <a:gd name="adj" fmla="val 4368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045330" cy="22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VIEW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gold.mv_projetos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METRICS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 YAML 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$$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gold.projeto_situacao_atual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filter: status = 'em_andamento'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measures: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spi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SUM(ev) / SUM(pv)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estouro_previsto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SUM(estouro_previsto)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projetos_em_risco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COUNT(1) FILTER (WHERE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situacao IN ('atenção','crítico'))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191095" y="1582301"/>
            <a:ext cx="5238619" cy="3139004"/>
          </a:xfrm>
          <a:prstGeom prst="roundRect">
            <a:avLst>
              <a:gd name="adj" fmla="val 48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13340" y="1779146"/>
            <a:ext cx="111439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02237" y="1817245"/>
            <a:ext cx="9740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importa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dashboard, Genie e app pedem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MEASURE(spi)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recebem a mesma fórmula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ninguém reescreve SPI num CASE escondido dentro de um gráfico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13340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03835" y="309078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metric view só, de propósito: é a dos números da diretoria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13340" y="3629133"/>
            <a:ext cx="4794130" cy="895328"/>
          </a:xfrm>
          <a:prstGeom prst="roundRect">
            <a:avLst>
              <a:gd name="adj" fmla="val 12766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10185" y="3800578"/>
            <a:ext cx="4583061" cy="558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MEASURE(spi), MEASURE(estouro_previsto)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gold.mv_projetos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-- 0,92 · R$ 6.465.127</a:t>
            </a:r>
            <a:endParaRPr lang="en-US" sz="10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955064" y="6387940"/>
            <a:ext cx="49363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 / 125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5 DE 5 · A METRIC VIEW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medidas, 9 dimensões,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dono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451" y="1455304"/>
            <a:ext cx="6102783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064198" y="1455304"/>
            <a:ext cx="4365516" cy="2322355"/>
          </a:xfrm>
          <a:prstGeom prst="roundRect">
            <a:avLst>
              <a:gd name="adj" fmla="val 65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86443" y="1652149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5341" y="169024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286443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476938" y="1988691"/>
            <a:ext cx="3879753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medida com a explicação em português (SPI, CPI, EAC, estouro, margem, em risco, críticos, melancias)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286443" y="276446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476938" y="2681915"/>
            <a:ext cx="387975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fonte: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projeto_situacao_atual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filtrada para em andamento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86443" y="325201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76938" y="3169464"/>
            <a:ext cx="387975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usa: o dashboard Portfólio e o Genie Diretoria (em "Related assets")</a:t>
            </a:r>
            <a:endParaRPr lang="en-US" sz="12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952881" y="6387940"/>
            <a:ext cx="49590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73 / 125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TESTES DE QUALIDADE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Melhor o dado de ontem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o dado errado de hoje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45274"/>
          </a:xfrm>
          <a:prstGeom prst="roundRect">
            <a:avLst>
              <a:gd name="adj" fmla="val 649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93114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8234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testes, depois do medalhão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60 projetos têm cronograma na silver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projeto veio da ferramenta do cadastro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da silver = linha de TOTAL de cada planilha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438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296130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pessoa; CodeForge virou 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4225" y="332572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24318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limpeza não mudou o custo total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84225" y="360760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174721" y="352505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do status bate com o das ferramentas (&lt; 1%)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1095" y="1582301"/>
            <a:ext cx="5238619" cy="2345274"/>
          </a:xfrm>
          <a:prstGeom prst="roundRect">
            <a:avLst>
              <a:gd name="adj" fmla="val 6498"/>
            </a:avLst>
          </a:prstGeom>
          <a:solidFill>
            <a:srgbClr val="0059D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13340" y="1779146"/>
            <a:ext cx="9831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02237" y="1817245"/>
            <a:ext cx="8375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quebra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413340" y="2115688"/>
            <a:ext cx="4985895" cy="524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WHEN passou THEN 'ok'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ELSE raise_error('Teste ' || n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|| ' falhou') END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13340" y="2742040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raise_error interrompe o job antes de o dashboard mostrar meio dado com cara de dado inteiro. Verificação da noite: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de 20 ok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5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46233" y="6387940"/>
            <a:ext cx="50282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74 / 125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DASHBOARD COMO CÓDIGO · PORTFÓLIO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"Projeto Farol · Portfólio",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sobre a gold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5657" r="15657" t="0" b="0"/>
          <a:stretch/>
        </p:blipFill>
        <p:spPr>
          <a:xfrm>
            <a:off x="761981" y="1455304"/>
            <a:ext cx="5257669" cy="406389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rcRect l="14376" r="14376" t="0" b="0"/>
          <a:stretch/>
        </p:blipFill>
        <p:spPr>
          <a:xfrm>
            <a:off x="6172046" y="1455304"/>
            <a:ext cx="5257669" cy="406389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582701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páginas: Portfólio, Pessoas e Fornecedores. É um JSON no Git, gerado por script e publicado pelo bundle: tem diff, revisão e rollback.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47226" y="6387940"/>
            <a:ext cx="50178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 / 125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DASHBOARD · FORNECEDORES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promete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não cumpre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027483"/>
            <a:ext cx="5238619" cy="27925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305392" y="1455304"/>
            <a:ext cx="281117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FORNECEDOR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9237035" y="1455304"/>
            <a:ext cx="216151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÷ PROMETIDO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191095" y="1753747"/>
            <a:ext cx="2931642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05392" y="1855344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 (4 grafias)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9122738" y="1753747"/>
            <a:ext cx="230697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237035" y="1855344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1,41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91095" y="2189306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05392" y="2290904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QualiTest Brasil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9122738" y="2189306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237035" y="2290904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91095" y="2624866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05392" y="2726463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DataPrime Analytics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122738" y="2624866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237035" y="2726463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191095" y="3060425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305392" y="3162023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SecureOps Segurança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122738" y="3060425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237035" y="3162023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191095" y="3495984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5392" y="3597582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Pixel Design Studio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9122738" y="3495984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237035" y="3597582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0946829" y="6387940"/>
            <a:ext cx="50220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76 / 125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GENIE CURADO · "FAROL · DIRETORIA"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mesmo modelo de IA,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acerta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4493" r="14493" t="0" b="0"/>
          <a:stretch/>
        </p:blipFill>
        <p:spPr>
          <a:xfrm>
            <a:off x="761981" y="1455304"/>
            <a:ext cx="5257669" cy="3936902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rcRect l="14493" r="14493" t="0" b="0"/>
          <a:stretch/>
        </p:blipFill>
        <p:spPr>
          <a:xfrm>
            <a:off x="6172046" y="1455304"/>
            <a:ext cx="5257669" cy="393690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455704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com COMMENT em toda tabela, a metric view, instruções de negócio ("hoje é 16/10/2026", as regras de corte) e 9 SQLs de exemplo. Também é código no bundle.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57246" y="6387940"/>
            <a:ext cx="49136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77 / 125</a:t>
            </a:r>
            <a:endParaRPr lang="en-US" sz="10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QUE MUDOU DA NOITE 1 PARA CÁ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mesmos números,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sem ninguém juntar à mão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2680625" y="2015281"/>
            <a:ext cx="49494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BRONZE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668326" y="2015281"/>
            <a:ext cx="37929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GOLD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2313723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2415321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Integração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6328" y="2313723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80625" y="2415321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view com CASE, replace e conversão de data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554029" y="2313723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68326" y="2415321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silver.tarefas, testada, num pipeline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61981" y="2765753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6278" y="2867350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KPI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566328" y="2765753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680625" y="2867350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fórmula repetida em cada query e gráfico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54029" y="2765753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68326" y="2867350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mv_projetos: uma fórmula para todos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61981" y="3217782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319380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atrasou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566328" y="3217782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680625" y="3319380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ler 3.911 textos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554029" y="3217782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68326" y="3319380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causa como coluna (IA)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3669811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771409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566328" y="3669811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680625" y="3771409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erra as 4 perguntas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554029" y="3669811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668326" y="3771409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acerta, com instrução e exemplo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61981" y="4121841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76278" y="4223438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Atualizar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566328" y="4121841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680625" y="4223438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rodar tudo de novo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554029" y="4121841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668326" y="4223438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 toda segunda às 6h</a:t>
            </a:r>
            <a:endParaRPr lang="en-US" sz="1200" dirty="0"/>
          </a:p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0947325" y="6387940"/>
            <a:ext cx="50168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 / 125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QUARTA, 21/10 · CIENTISTA DE DADOS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 o atraso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 de ele acontecer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4: o que vai dar errado no próximo mês? Um modelo, treinado com o passado de cada projeto, que avisa 40 dias antes.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prompts,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tarefas a mais no mesmo job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282372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24824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1132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1 · features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295139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ml.features_projeto_semana: uma linha por projeto e semana, só olhando para trás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133251" y="2090685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454612" y="1582301"/>
            <a:ext cx="3282471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4676857" y="1779146"/>
            <a:ext cx="12315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65754" y="1817245"/>
            <a:ext cx="109592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2 · modelo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676857" y="2191886"/>
            <a:ext cx="2951501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treino, comparação com as regras de hoje, MLflow e registro no Unity Catalog (@prod)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825981" y="2090685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147342" y="1582301"/>
            <a:ext cx="3282372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9587" y="1779146"/>
            <a:ext cx="11097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485" y="1817245"/>
            <a:ext cx="96921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3 · score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369587" y="2191886"/>
            <a:ext cx="295139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gold.score_estouro_30d: probabilidade, ranking, faixa e motivos em português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61981" y="3170654"/>
            <a:ext cx="5238619" cy="1734400"/>
          </a:xfrm>
          <a:prstGeom prst="roundRect">
            <a:avLst>
              <a:gd name="adj" fmla="val 87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4225" y="3367499"/>
            <a:ext cx="165671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73123" y="3405598"/>
            <a:ext cx="15380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laboratório: schema ml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4225" y="3780239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features, métricas e o modelo moram fora da gold. Na gold fica só a resposta: o score.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1095" y="3170654"/>
            <a:ext cx="5238619" cy="1734400"/>
          </a:xfrm>
          <a:prstGeom prst="roundRect">
            <a:avLst>
              <a:gd name="adj" fmla="val 87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13340" y="3367499"/>
            <a:ext cx="5251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02237" y="3405598"/>
            <a:ext cx="36125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13340" y="3742140"/>
            <a:ext cx="4794130" cy="692728"/>
          </a:xfrm>
          <a:prstGeom prst="roundRect">
            <a:avLst>
              <a:gd name="adj" fmla="val 16500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10185" y="3913586"/>
            <a:ext cx="4583061" cy="356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deploy --profile SEU-PERFIL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run vertice_farol --profile SEU-PERFIL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413340" y="4511066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tarefas, 4 a 5 minutos.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0937006" y="6387940"/>
            <a:ext cx="51241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 / 125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AS FEATURES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descreve um projeto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vai estourar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77299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61900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está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 e o pior dos dois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físico × % do prazo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64424" y="1582301"/>
            <a:ext cx="3462747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6669" y="1779146"/>
            <a:ext cx="97708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75567" y="1817245"/>
            <a:ext cx="83125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onde vai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86669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77164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variação em 4 e 8 semanas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86669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77164" y="2397561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semanas com CPI caindo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86669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77164" y="2679435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e CPI do último mês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66868" y="1582301"/>
            <a:ext cx="3462747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89112" y="1779146"/>
            <a:ext cx="97539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78010" y="1817245"/>
            <a:ext cx="82950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e custo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189112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79608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ociosidade da equipe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89112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79608" y="2397561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do custo em consultoria e cloud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189112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379608" y="2679435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saídas do squad em 12 semanas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61981" y="3221651"/>
            <a:ext cx="10667733" cy="1003573"/>
          </a:xfrm>
          <a:prstGeom prst="roundRect">
            <a:avLst>
              <a:gd name="adj" fmla="val 15185"/>
            </a:avLst>
          </a:prstGeom>
          <a:solidFill>
            <a:srgbClr val="0059DB"/>
          </a:solidFill>
          <a:ln/>
        </p:spPr>
      </p:sp>
      <p:sp>
        <p:nvSpPr>
          <p:cNvPr id="30" name="Shape 28"/>
          <p:cNvSpPr/>
          <p:nvPr/>
        </p:nvSpPr>
        <p:spPr>
          <a:xfrm>
            <a:off x="984225" y="3418497"/>
            <a:ext cx="316628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73123" y="3456596"/>
            <a:ext cx="31080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texto do gerente, já classificado pela IA da noite 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84225" y="3831236"/>
            <a:ext cx="10632174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quantos dos últimos 4 status citaram freeze, falta de SRE, fornecedor, rotatividade, escopo, retrabalho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61981" y="4364921"/>
            <a:ext cx="3437348" cy="997223"/>
          </a:xfrm>
          <a:prstGeom prst="roundRect">
            <a:avLst>
              <a:gd name="adj" fmla="val 152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84225" y="4561766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4.235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984225" y="496815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 (projeto × semana)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377124" y="4364921"/>
            <a:ext cx="3437348" cy="997223"/>
          </a:xfrm>
          <a:prstGeom prst="roundRect">
            <a:avLst>
              <a:gd name="adj" fmla="val 152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99369" y="4561766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1.643</a:t>
            </a:r>
            <a:endParaRPr lang="en-US" sz="2600" dirty="0"/>
          </a:p>
        </p:txBody>
      </p:sp>
      <p:sp>
        <p:nvSpPr>
          <p:cNvPr id="38" name="Text 36"/>
          <p:cNvSpPr txBox="1"/>
          <p:nvPr/>
        </p:nvSpPr>
        <p:spPr>
          <a:xfrm>
            <a:off x="4599369" y="496815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 de treino, com rótulo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992267" y="4364921"/>
            <a:ext cx="3437348" cy="997223"/>
          </a:xfrm>
          <a:prstGeom prst="roundRect">
            <a:avLst>
              <a:gd name="adj" fmla="val 152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14512" y="4561766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16,7%</a:t>
            </a:r>
            <a:endParaRPr lang="en-US" sz="2600" dirty="0"/>
          </a:p>
        </p:txBody>
      </p:sp>
      <p:sp>
        <p:nvSpPr>
          <p:cNvPr id="41" name="Text 39"/>
          <p:cNvSpPr txBox="1"/>
          <p:nvPr/>
        </p:nvSpPr>
        <p:spPr>
          <a:xfrm>
            <a:off x="8214512" y="496815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taxa base: estoura em 30 dias</a:t>
            </a:r>
            <a:endParaRPr lang="en-US" sz="1150" dirty="0"/>
          </a:p>
        </p:txBody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0974014" y="6387940"/>
            <a:ext cx="4739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81 / 125</a:t>
            </a:r>
            <a:endParaRPr lang="en-US" sz="1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O MODELO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 mais que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de hoje?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495081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PREVÊ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865269" y="1582301"/>
            <a:ext cx="5035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578039" y="1582301"/>
            <a:ext cx="49268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LEITURA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498899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495081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atual (SPI ou CPI &lt; 0,9)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750972" y="1880744"/>
            <a:ext cx="712770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65269" y="1982341"/>
            <a:ext cx="5035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0,50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63742" y="1880744"/>
            <a:ext cx="4965973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78039" y="1982341"/>
            <a:ext cx="49268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 vê o que já aconteceu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1981" y="2332773"/>
            <a:ext cx="498899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34370"/>
            <a:ext cx="495081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da folga (quem está mais perto de 0,9)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50972" y="2332773"/>
            <a:ext cx="712770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65269" y="2434370"/>
            <a:ext cx="5035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0,87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63742" y="2332773"/>
            <a:ext cx="4965973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78039" y="2434370"/>
            <a:ext cx="49268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baseline honesto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2784802"/>
            <a:ext cx="4988991" cy="40123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86400"/>
            <a:ext cx="495081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(HistGradientBoosting)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750972" y="2784802"/>
            <a:ext cx="712770" cy="40123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65269" y="2886400"/>
            <a:ext cx="5035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3ECF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63742" y="2784802"/>
            <a:ext cx="4965973" cy="40123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78039" y="2886400"/>
            <a:ext cx="49268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ganha da folga, sem vazamento (assert &lt; 0,98)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61981" y="3376528"/>
            <a:ext cx="3437348" cy="1702353"/>
          </a:xfrm>
          <a:prstGeom prst="roundRect">
            <a:avLst>
              <a:gd name="adj" fmla="val 8952"/>
            </a:avLst>
          </a:prstGeom>
          <a:solidFill>
            <a:srgbClr val="0059D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4225" y="3573373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de 10</a:t>
            </a:r>
            <a:endParaRPr lang="en-US" sz="3300" dirty="0"/>
          </a:p>
        </p:txBody>
      </p:sp>
      <p:sp>
        <p:nvSpPr>
          <p:cNvPr id="27" name="Text 25"/>
          <p:cNvSpPr txBox="1"/>
          <p:nvPr/>
        </p:nvSpPr>
        <p:spPr>
          <a:xfrm>
            <a:off x="984225" y="4068661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estouros do teste apareceram no top 5 da semana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377124" y="3376528"/>
            <a:ext cx="3437348" cy="1702353"/>
          </a:xfrm>
          <a:prstGeom prst="roundRect">
            <a:avLst>
              <a:gd name="adj" fmla="val 8952"/>
            </a:avLst>
          </a:prstGeom>
          <a:solidFill>
            <a:srgbClr val="0059D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99369" y="3573373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 dias</a:t>
            </a:r>
            <a:endParaRPr lang="en-US" sz="3300" dirty="0"/>
          </a:p>
        </p:txBody>
      </p:sp>
      <p:sp>
        <p:nvSpPr>
          <p:cNvPr id="30" name="Text 28"/>
          <p:cNvSpPr txBox="1"/>
          <p:nvPr/>
        </p:nvSpPr>
        <p:spPr>
          <a:xfrm>
            <a:off x="4599369" y="4068661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antecedência, em média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992267" y="3376528"/>
            <a:ext cx="3437348" cy="1702353"/>
          </a:xfrm>
          <a:prstGeom prst="roundRect">
            <a:avLst>
              <a:gd name="adj" fmla="val 895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14512" y="3573373"/>
            <a:ext cx="3112573" cy="838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corte no tempo</a:t>
            </a:r>
            <a:endParaRPr lang="en-US" sz="3300" dirty="0"/>
          </a:p>
        </p:txBody>
      </p:sp>
      <p:sp>
        <p:nvSpPr>
          <p:cNvPr id="33" name="Text 31"/>
          <p:cNvSpPr txBox="1"/>
          <p:nvPr/>
        </p:nvSpPr>
        <p:spPr>
          <a:xfrm>
            <a:off x="8214512" y="448775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treina até mar/2026, testa a partir de abr/2026: o futuro nunca entra no treino</a:t>
            </a:r>
            <a:endParaRPr lang="en-US" sz="1150" dirty="0"/>
          </a:p>
        </p:txBody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0945142" y="6387940"/>
            <a:ext cx="50395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82 / 125</a:t>
            </a:r>
            <a:endParaRPr lang="en-US" sz="1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MLFLOW E UNITY CATALOG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treino registrado,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melhor em @prod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5888" r="15888" t="0" b="0"/>
          <a:stretch/>
        </p:blipFill>
        <p:spPr>
          <a:xfrm>
            <a:off x="761981" y="1455304"/>
            <a:ext cx="5257669" cy="406389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046" y="1976035"/>
            <a:ext cx="5257669" cy="3022437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582701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</a:t>
            </a:r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lakehouse_vertice.ml.modelo_estouro_30d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tem versão, alias @prod e linhagem até a bronze. O score em lote roda no job, e o resultado vai para a gold.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43058" y="6387940"/>
            <a:ext cx="50612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83 / 125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GOLD.SCORE_ESTOURO_30D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lista que o dono abre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segunda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7065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365117" y="1582301"/>
            <a:ext cx="83043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392203" y="1582301"/>
            <a:ext cx="5699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168868" y="1582301"/>
            <a:ext cx="6175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FAIXA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991272" y="1582301"/>
            <a:ext cx="761711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MOTIVOS (EM PORTUGUÊS)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61981" y="1880744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76278" y="1982341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250820" y="1880744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65117" y="1982341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77906" y="1880744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392203" y="1982341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1,00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54571" y="1880744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168868" y="1982341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76975" y="1880744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91272" y="1982341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abaixo do corte: SPI 0,63; ritmo do último mês em 56% do planejado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1981" y="2299833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401431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50820" y="2299833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365117" y="2401431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277906" y="2299833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392203" y="2401431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1,00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54571" y="2299833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68868" y="2401431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876975" y="2299833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991272" y="2401431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abaixo do corte: SPI 0,77; falta de SRE em 4 dos últimos 4 status; 38% das horas paradas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1981" y="2718923"/>
            <a:ext cx="4888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6278" y="2820520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250820" y="2718923"/>
            <a:ext cx="1027087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365117" y="2820520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PRJ-013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277906" y="2718923"/>
            <a:ext cx="776665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392203" y="2820520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0,89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54571" y="2718923"/>
            <a:ext cx="822404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168868" y="2820520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6975" y="2718923"/>
            <a:ext cx="75527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991272" y="2820520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pelo status semanal o índice já é 0,90: o cronograma da ferramenta diz 0,94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61981" y="3138012"/>
            <a:ext cx="4888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6278" y="3239610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250820" y="3138012"/>
            <a:ext cx="1027087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365117" y="3239610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277906" y="3138012"/>
            <a:ext cx="776665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392203" y="3239610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0,46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054571" y="3138012"/>
            <a:ext cx="822404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168868" y="3239610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médio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876975" y="3138012"/>
            <a:ext cx="75527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991272" y="3239610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0,01 do corte de 0,9 (índice 0,91)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61981" y="3557102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76278" y="3658699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250820" y="3557102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365117" y="3658699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277906" y="3557102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2392203" y="3658699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0,35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054571" y="3557102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168868" y="3658699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médio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3876975" y="3557102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3991272" y="3658699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0,00 do corte; consultoria atrasando em 2 dos últimos 4 status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61981" y="3976191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76278" y="4077789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1250820" y="3976191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365117" y="4077789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PRJ-053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2277906" y="3976191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2392203" y="4077789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0,32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054571" y="3976191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168868" y="4077789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médio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876975" y="3976191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991272" y="4077789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ritmo do último mês em 74%; squad perdendo gente: 2 saídas em 12 semanas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61981" y="4484179"/>
            <a:ext cx="3437348" cy="1194365"/>
          </a:xfrm>
          <a:prstGeom prst="roundRect">
            <a:avLst>
              <a:gd name="adj" fmla="val 1276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84225" y="4681024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· 4 · 19</a:t>
            </a:r>
            <a:endParaRPr lang="en-US" sz="2600" dirty="0"/>
          </a:p>
        </p:txBody>
      </p:sp>
      <p:sp>
        <p:nvSpPr>
          <p:cNvPr id="71" name="Text 69"/>
          <p:cNvSpPr txBox="1"/>
          <p:nvPr/>
        </p:nvSpPr>
        <p:spPr>
          <a:xfrm>
            <a:off x="984225" y="5087413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 · médio · baixo, dos 41 em andamento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4377124" y="4484179"/>
            <a:ext cx="3437348" cy="1194365"/>
          </a:xfrm>
          <a:prstGeom prst="roundRect">
            <a:avLst>
              <a:gd name="adj" fmla="val 1276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599369" y="4681024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2600" dirty="0"/>
          </a:p>
        </p:txBody>
      </p:sp>
      <p:sp>
        <p:nvSpPr>
          <p:cNvPr id="74" name="Text 72"/>
          <p:cNvSpPr txBox="1"/>
          <p:nvPr/>
        </p:nvSpPr>
        <p:spPr>
          <a:xfrm>
            <a:off x="4599369" y="5087413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críticos ou em atenção: probabilidade 1,0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7992267" y="4484179"/>
            <a:ext cx="3437348" cy="1194365"/>
          </a:xfrm>
          <a:prstGeom prst="roundRect">
            <a:avLst>
              <a:gd name="adj" fmla="val 12760"/>
            </a:avLst>
          </a:prstGeom>
          <a:solidFill>
            <a:srgbClr val="0059DB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214512" y="4681024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2600" dirty="0"/>
          </a:p>
        </p:txBody>
      </p:sp>
      <p:sp>
        <p:nvSpPr>
          <p:cNvPr id="77" name="Text 75"/>
          <p:cNvSpPr txBox="1"/>
          <p:nvPr/>
        </p:nvSpPr>
        <p:spPr>
          <a:xfrm>
            <a:off x="8214512" y="5087413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"ok" para a regra, mas com risco alto ou médio</a:t>
            </a:r>
            <a:endParaRPr lang="en-US" sz="1150" dirty="0"/>
          </a:p>
        </p:txBody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9" name="Text 76"/>
          <p:cNvSpPr txBox="1"/>
          <p:nvPr/>
        </p:nvSpPr>
        <p:spPr>
          <a:xfrm>
            <a:off x="10936312" y="6387940"/>
            <a:ext cx="51313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84 / 125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O SCORE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gold.score_estouro_30d,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projeto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057" y="1455304"/>
            <a:ext cx="6657581" cy="457188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37304" y="6387940"/>
            <a:ext cx="51210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85 / 125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O "UAU"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PRJ-024: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ok hoje, 46% de estourar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37348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20845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07188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número de hoje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3ECF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0,91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61097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diz ok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77124" y="1582301"/>
            <a:ext cx="3437348" cy="1816948"/>
          </a:xfrm>
          <a:prstGeom prst="roundRect">
            <a:avLst>
              <a:gd name="adj" fmla="val 8387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4599369" y="1779146"/>
            <a:ext cx="740153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8266" y="1817245"/>
            <a:ext cx="5848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99369" y="2115688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46%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4599369" y="261097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cruzar 0,9 nos próximos 30 dias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92267" y="1582301"/>
            <a:ext cx="3437348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14512" y="1779146"/>
            <a:ext cx="92479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03410" y="1817245"/>
            <a:ext cx="7768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calendário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14512" y="2115688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01/11</a:t>
            </a:r>
            <a:endParaRPr lang="en-US" sz="3300" dirty="0"/>
          </a:p>
        </p:txBody>
      </p:sp>
      <p:sp>
        <p:nvSpPr>
          <p:cNvPr id="18" name="Text 16"/>
          <p:cNvSpPr txBox="1"/>
          <p:nvPr/>
        </p:nvSpPr>
        <p:spPr>
          <a:xfrm>
            <a:off x="8214512" y="2610975"/>
            <a:ext cx="3112573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começa o change freeze da Black Friday: marketplace sem deploy até 10/01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61981" y="3589744"/>
            <a:ext cx="10667733" cy="1252109"/>
          </a:xfrm>
          <a:prstGeom prst="roundRect">
            <a:avLst>
              <a:gd name="adj" fmla="val 1217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4225" y="3786589"/>
            <a:ext cx="19683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73123" y="3824688"/>
            <a:ext cx="186217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a lição de qualidade: PRJ-013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84225" y="4199329"/>
            <a:ext cx="10632174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status de sexta diz 43%; a planilha diz 45%. O modelo usa o boletim e vê índice 0,90; a ferramenta diz 0,94. Quando as fontes não batem, o modelo avisa antes de o número "melhorar" no papel.</a:t>
            </a:r>
            <a:endParaRPr lang="en-US" sz="13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36907" y="6387940"/>
            <a:ext cx="51251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86 / 125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169165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QUINTA, 22/10 · ENGENHEIRO DE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493007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dado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decisão do dono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237825"/>
            <a:ext cx="1109444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IA lê os contratos em PDF, a Torre vira um app, e a decisão fica gravada com nome e hora.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prompts 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script que sobe tudo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03841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064890" y="1582301"/>
            <a:ext cx="85805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NASCE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218861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20384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agente de contratos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50593" y="1880744"/>
            <a:ext cx="84791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64890" y="1982341"/>
            <a:ext cx="85805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ai_parse_document + ai_extract nos 8 PDFs → 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gold.contratos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Genie "Farol · Diretoria + Contratos"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1981" y="2316303"/>
            <a:ext cx="218861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417900"/>
            <a:ext cx="20384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o app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50593" y="2316303"/>
            <a:ext cx="84791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064890" y="2417900"/>
            <a:ext cx="85805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farol-torre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(AppKit): Projetos em risco, Simulador, Perguntar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1981" y="2751862"/>
            <a:ext cx="218861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2853460"/>
            <a:ext cx="20384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aprovação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50593" y="2751862"/>
            <a:ext cx="84791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64890" y="2853460"/>
            <a:ext cx="85805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aba Decisões, gravando no 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Lakebase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(Postgres) com o usuário e o horário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61981" y="3301719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58826" y="3473165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 zero, na ordem que funciona: Lakebase → contratos → Genie → app</a:t>
            </a:r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aulas/aula-04-engenheiro-ia/torre-app/scripts/subir-tudo.sh SEU-PERFIL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1981" y="4139898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377" y="4177997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app é um usuário do Unity Catalog: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conceder-acesso.sh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dá USE e SELECT na gold e na silver antes do build. O primeiro acesso pede "Authorize", feito por uma pessoa.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37403" y="6387940"/>
            <a:ext cx="51200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88 / 125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O AGENTE QUE LÊ CONTRATO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PDFs,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tabela na gold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4577045"/>
          </a:xfrm>
          <a:prstGeom prst="roundRect">
            <a:avLst>
              <a:gd name="adj" fmla="val 3052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428495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37800" y="6387940"/>
            <a:ext cx="51159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 / 125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 LIÇÃO DO AI_EXTRACT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schema, texto.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schema, dado.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174920"/>
          </a:xfrm>
          <a:prstGeom prst="roundRect">
            <a:avLst>
              <a:gd name="adj" fmla="val 700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93938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79204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schema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15688"/>
            <a:ext cx="4794130" cy="1005656"/>
          </a:xfrm>
          <a:prstGeom prst="roundRect">
            <a:avLst>
              <a:gd name="adj" fmla="val 11365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81070" y="2287133"/>
            <a:ext cx="4583061" cy="669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{"multa_atraso": "0,2% do valor da entrega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atrasada por dia corrido, limitada a 5%",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"renovacao_automatica": "renovado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automaticamente por mais 12 meses"}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3197542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dá para somar nem comparar.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1095" y="1582301"/>
            <a:ext cx="5238619" cy="2174920"/>
          </a:xfrm>
          <a:prstGeom prst="roundRect">
            <a:avLst>
              <a:gd name="adj" fmla="val 7007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413340" y="1779146"/>
            <a:ext cx="170443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02237" y="1817245"/>
            <a:ext cx="158770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JSON schema tipado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13340" y="2115688"/>
            <a:ext cx="4794130" cy="1171347"/>
          </a:xfrm>
          <a:prstGeom prst="roundRect">
            <a:avLst>
              <a:gd name="adj" fmla="val 9758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10185" y="2287133"/>
            <a:ext cx="4583061" cy="83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multa_atraso_pct_dia  0.5     (number)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teto_multa_pct        10.0    (number)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renovacao_automatica  true    (boolean)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aviso_previo_dias     90      (integer)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data_fim_vigencia     2026-12-31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413340" y="3363233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coluna: filtra, soma, cruza com as entregas.</a:t>
            </a:r>
            <a:endParaRPr lang="en-US" sz="11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0937403" y="6387940"/>
            <a:ext cx="51200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 / 125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GOLD.CONTRATOS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PDF virou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 e coluna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000994"/>
            <a:ext cx="5257669" cy="24645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5062014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contrato por linha: fornecedor e objeto, lidos do PDF.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046" y="1995964"/>
            <a:ext cx="5257669" cy="247459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5062014"/>
            <a:ext cx="5467975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colunas tipadas: data, booleano, inteiro e decimal. null = contrato sem multa por atraso.</a:t>
            </a:r>
            <a:endParaRPr lang="en-US" sz="10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4411" y="6387940"/>
            <a:ext cx="47351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91 / 125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GOLD.CONTRATOS · O QUE O CONTRATO DIZ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Dinheiro na mesa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prazo vencendo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629132"/>
          </a:xfrm>
          <a:prstGeom prst="roundRect">
            <a:avLst>
              <a:gd name="adj" fmla="val 5796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89642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78736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Multa cobrável da CodeForge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4985895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R$ 1,12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610975"/>
            <a:ext cx="498589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120 entregas atrasadas na vigência atual × 0,5% ao dia, com teto de 10% por entrega (cláusula 6). Dá para descontar das próximas faturas.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1095" y="1582301"/>
            <a:ext cx="5238619" cy="2629132"/>
          </a:xfrm>
          <a:prstGeom prst="roundRect">
            <a:avLst>
              <a:gd name="adj" fmla="val 579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3340" y="1779146"/>
            <a:ext cx="88967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02237" y="1817245"/>
            <a:ext cx="7403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Aviso prévio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13340" y="2115688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27637" y="2217285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NuvemSul Cloud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484777" y="2115688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99074" y="2217285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venceu há 14 dias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13340" y="2534777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27637" y="2636375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DataPrime Analytics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484777" y="2534777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9074" y="2636375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venceu há 15 dias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13340" y="2953867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27637" y="3055464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Observa360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4777" y="2953867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99074" y="3055464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vence em 15 dias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13340" y="3372956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27637" y="3474554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QualiTest Brasil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84777" y="3372956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599074" y="3474554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 dias · não renova sozinho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13340" y="3817445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NuvemSul e DataPrime renovaram sozinhos: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R$ 21,4 mi/ano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5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0945539" y="6387940"/>
            <a:ext cx="50354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92 / 125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1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risco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00" r="400" t="0" b="0"/>
          <a:stretch/>
        </p:blipFill>
        <p:spPr>
          <a:xfrm>
            <a:off x="761981" y="1455304"/>
            <a:ext cx="6447470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9946" y="1455304"/>
            <a:ext cx="4029768" cy="3302711"/>
          </a:xfrm>
          <a:prstGeom prst="roundRect">
            <a:avLst>
              <a:gd name="adj" fmla="val 46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22191" y="1652149"/>
            <a:ext cx="96854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11088" y="1690248"/>
            <a:ext cx="8223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mostra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22191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2686" y="1988691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de 41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risco (7 críticos, 4 melancias)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22191" y="235311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2686" y="2270564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R$ 6,5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 previsto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22191" y="263498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12686" y="2552438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R$ 1,2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multa a cobrar de fornecedor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22191" y="291685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812686" y="2834311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alto risco em 30 dias (modelo da noite 3)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22191" y="340440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12686" y="3321860"/>
            <a:ext cx="3530575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projeto com SPI, CPI, farol, estouro, atraso, a causa que a IA leu e a probabilidade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22191" y="4065883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4587" y="4103982"/>
            <a:ext cx="357019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Lê a gold pelo SQL warehouse: os mesmos números do dashboard e do Genie.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43356" y="6387940"/>
            <a:ext cx="50581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 / 125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2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Simulador: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se eu mover essa pessoa?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00" r="400" t="0" b="0"/>
          <a:stretch/>
        </p:blipFill>
        <p:spPr>
          <a:xfrm>
            <a:off x="761981" y="1455304"/>
            <a:ext cx="6447470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9946" y="1455304"/>
            <a:ext cx="4029768" cy="3302711"/>
          </a:xfrm>
          <a:prstGeom prst="roundRect">
            <a:avLst>
              <a:gd name="adj" fmla="val 46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22191" y="1652149"/>
            <a:ext cx="124863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11088" y="1690248"/>
            <a:ext cx="11136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 → PRJ-011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22191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2686" y="1988691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SRE sênior a 6% no PRJ-007, que ainda está no discovery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22191" y="25587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2686" y="2476240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151 h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paradas viram produção no mês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22191" y="284066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12686" y="2758113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dias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cronograma recuperados no PRJ-011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22191" y="33282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812686" y="3245662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R$ 30.123 de ociosidade a menos − R$ 7.992 de mobilização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22191" y="381575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12686" y="3733211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saldo de R$ 22.131/mês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22191" y="4065883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4587" y="4103982"/>
            <a:ext cx="357019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dias recuperados vêm do que a IA leu no status: 57 dias de impacto por falta de SRE.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36709" y="6387940"/>
            <a:ext cx="51272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94 / 125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3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Decisões: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gravadas no Lakebase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968" y="1455304"/>
            <a:ext cx="4132645" cy="266693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455304"/>
            <a:ext cx="5238619" cy="2604229"/>
          </a:xfrm>
          <a:prstGeom prst="roundRect">
            <a:avLst>
              <a:gd name="adj" fmla="val 585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652149"/>
            <a:ext cx="107550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690248"/>
            <a:ext cx="93361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funciona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198869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simulador, o dono escreve a justificativa e aprova ou recusa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5587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476240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decisão vai para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torre.decisoes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num Postgres do Lakebase, com o usuário do login e o horário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30463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3835" y="29637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aba lista o histórico: quem decidiu o quê, quando e por quê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13340" y="353388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451337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analítico na gold (warehouse); transação no Lakebase (Postgres)</a:t>
            </a:r>
            <a:endParaRPr lang="en-US" sz="12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015" y="4274634"/>
            <a:ext cx="2981665" cy="1587460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937701" y="6387940"/>
            <a:ext cx="51169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95 / 125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4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Perguntar: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Genie dentro da Torre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00" r="400" t="0" b="0"/>
          <a:stretch/>
        </p:blipFill>
        <p:spPr>
          <a:xfrm>
            <a:off x="761981" y="1455304"/>
            <a:ext cx="6447470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9946" y="1455304"/>
            <a:ext cx="4029768" cy="2192878"/>
          </a:xfrm>
          <a:prstGeom prst="roundRect">
            <a:avLst>
              <a:gd name="adj" fmla="val 695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22191" y="1652149"/>
            <a:ext cx="185365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11088" y="1690248"/>
            <a:ext cx="174289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"Farol · Diretoria + Contratos"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22191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2686" y="1988691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projetos, causa do atraso, gente parada, risco em 30 dias e o contrato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22191" y="25587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2686" y="2476240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"Quanto dá para cobrar de multa da CodeForge?" →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R$ 1.122.967,66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120 entregas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22191" y="30463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12686" y="2963788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 a SQL que rodou: dá para conferir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22191" y="33282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812686" y="3245662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benchmark: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de 10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certas</a:t>
            </a:r>
            <a:endParaRPr lang="en-US" sz="12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37304" y="6387940"/>
            <a:ext cx="51210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96 / 125</a:t>
            </a:r>
            <a:endParaRPr lang="en-US" sz="10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O PITCH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a Torre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 no ano 1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R$ 3,0 mi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valor no ano 1: multa cobrada, atraso evitado, gente realocada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77124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99369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R$ 0,4 mi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4599369" y="2274434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custo para construir e manter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92267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4512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noites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8214512" y="2274434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Excel espalhado à decisão gravada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61981" y="3056060"/>
            <a:ext cx="10667733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4225" y="3252905"/>
            <a:ext cx="142633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291004"/>
            <a:ext cx="12984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o dono ganhou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84225" y="367199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74721" y="3589446"/>
            <a:ext cx="10434059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segunda: quem atrasa, quanto custa, quem está parado, o que vem aí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84225" y="395386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174721" y="3871320"/>
            <a:ext cx="10434059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farol que segue o número, não a percepção do gerente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84225" y="423574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74721" y="4153193"/>
            <a:ext cx="10434059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contrato na conversa: multa cobrada e renovação decidida, não automática</a:t>
            </a:r>
            <a:endParaRPr lang="en-US" sz="12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47722" y="6387940"/>
            <a:ext cx="50127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97 / 125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TODOS OS ENTREGÁVEIS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existe no workspace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fim da quinta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2270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2284752" y="1582301"/>
            <a:ext cx="939189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ENTREGÁVEIS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1408474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122707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analista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170455" y="1880744"/>
            <a:ext cx="925925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84752" y="1982341"/>
            <a:ext cx="9391891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e volume · 9 tabelas na bronze · 6 exemplos SQL · dashboard "Projeto Farol · Noite 1 (bronze)" · Genie "Farol · Noite 1 (bronze, sem curadoria)"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61981" y="2481399"/>
            <a:ext cx="1408474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582996"/>
            <a:ext cx="122707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engenheiro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170455" y="2481399"/>
            <a:ext cx="925925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84752" y="2582996"/>
            <a:ext cx="9391891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vertice · job vertice_farol · pipeline vertice_medalhao · silver (7) · gold (5) · IA nos status · mv_projetos · 10 testes · dashboard "Projeto Farol · Portfólio" · Genie "Farol · Diretoria"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1981" y="3082054"/>
            <a:ext cx="140847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3183652"/>
            <a:ext cx="122707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cientista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170455" y="3082054"/>
            <a:ext cx="925925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284752" y="3183652"/>
            <a:ext cx="9391891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ml.features_projeto_semana · experimento MLflow · modelo ml.modelo_estouro_30d @prod · gold.score_estouro_30d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1981" y="3509379"/>
            <a:ext cx="1408474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610976"/>
            <a:ext cx="122707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engenheiro de IA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170455" y="3509379"/>
            <a:ext cx="925925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284752" y="3610976"/>
            <a:ext cx="9391891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 farol_contratos · gold.contratos · Genie "Farol · Diretoria + Contratos" · app farol-torre (4 abas) · Lakebase farol-torre · pitch</a:t>
            </a:r>
            <a:endParaRPr lang="en-US" sz="10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37800" y="6387940"/>
            <a:ext cx="51159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98 / 125</a:t>
            </a:r>
            <a:endParaRPr lang="en-US" sz="10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NÚMEROS DE REFERÊNCIA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o seu número bateu,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chegou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54152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37827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18/18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522078"/>
            <a:ext cx="221228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verificação · R$ 6,47 mi · 7 críticos · 4 melancias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60663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2908" y="1779146"/>
            <a:ext cx="56573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71806" y="1817245"/>
            <a:ext cx="403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682908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20/20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682908" y="2522078"/>
            <a:ext cx="221228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verificação · 4.917 tarefas · 163 status com IA · CodeForge ×1,41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59346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81590" y="1779146"/>
            <a:ext cx="56860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70488" y="1817245"/>
            <a:ext cx="40644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381590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381590" y="2522078"/>
            <a:ext cx="221228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 · 9 de 10 avisados · 41 dias antes · PRJ-024 em 46%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58029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80273" y="1779146"/>
            <a:ext cx="5757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69171" y="1817245"/>
            <a:ext cx="4138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080273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10/10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080273" y="2522078"/>
            <a:ext cx="221228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· R$ 1,12 mi de multa · 19 dias e R$ 22,1 mil/mês no simulador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61981" y="3500846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3538945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noite tem um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99-verificacao.sql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esperado × obtido. "CONFIRA" quer dizer que o problema está na carga ou na query, não no dado: a seed é fixa.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38197" y="6387940"/>
            <a:ext cx="51117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 / 125</a:t>
            </a:r>
            <a:endParaRPr lang="en-US" sz="10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1988195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APÊNDICE · TOUR PELO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12037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recursos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Databricks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94953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tela que usamos para montar o Projeto Farol, no Free Edition, com o que ela faz e em que noite entrou.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MAPA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workspace,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blocos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36343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23306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código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Workspace · Git folder · bundle · notebooks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4424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9" name="Shape 7"/>
          <p:cNvSpPr/>
          <p:nvPr/>
        </p:nvSpPr>
        <p:spPr>
          <a:xfrm>
            <a:off x="4586669" y="1779146"/>
            <a:ext cx="109882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75567" y="1817245"/>
            <a:ext cx="9578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processa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586669" y="2191886"/>
            <a:ext cx="3138988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 · SQL Warehouse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66868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9112" y="1779146"/>
            <a:ext cx="126748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8010" y="1817245"/>
            <a:ext cx="113328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dado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189112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Unity Catalog · schemas · tabelas · volumes · lineage · metric views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119558"/>
            <a:ext cx="132523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157657"/>
            <a:ext cx="119333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move o dado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84225" y="3532298"/>
            <a:ext cx="3138988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Ingestion · Lakeflow pipeline · Jobs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64424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86669" y="3119558"/>
            <a:ext cx="110546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75567" y="3157657"/>
            <a:ext cx="9647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pergunta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86669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Editor · Query History · AI/BI Dashboard · Genie · funções de IA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66868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89112" y="3119558"/>
            <a:ext cx="95743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78010" y="3157657"/>
            <a:ext cx="81082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decide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189112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MLflow · modelo no Unity Catalog · Lakebase · Apps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61981" y="428852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377" y="4326623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isto existe no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Free Edition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sem cartão de crédito. O que não existe está no último slide.</a:t>
            </a:r>
            <a:endParaRPr lang="en-US" sz="110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0929168" y="6387940"/>
            <a:ext cx="52056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 / 125</a:t>
            </a:r>
            <a:endParaRPr lang="en-US" sz="10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CÓDIGO ·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Workspace e bundle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"disco" do Databricks: pastas, notebooks, arquivos SQL, dashboards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 deploy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copia o repositório para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.bundle/vertice/dev/files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código vem do Git, nunca é editado aqui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em diante: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src/silver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metricas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00296" y="6387940"/>
            <a:ext cx="5505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102 / 125</a:t>
            </a:r>
            <a:endParaRPr lang="en-US" sz="10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CÓDIGO ·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Notebook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texto, código e resultado na mesma página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08006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1997521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Python, SQL, Scala ou R, célula a célula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36194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279395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tarefa de job sem mudar uma linha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2624766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2662865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037506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3: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02-modelo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03-score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que treinam e pontuam o modelo dentro do job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898213" y="6387940"/>
            <a:ext cx="55276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103 / 125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PROCESSA ·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Serverless: ninguém liga cluster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3802" r="1380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Databricks liga a máquina quando a tarefa começa e desliga no fim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Interactive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notebook aberto por uma pessoa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Automated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tarefa de job e pipeline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 o processamento das 4 noites. No Free Edition não há cluster clássico: é só serverless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891466" y="6387940"/>
            <a:ext cx="55977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104 / 125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PROCESSA ·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Warehouse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motor que responde SQL: editor, dashboard, Genie, app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Free Edition dá um: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 Starter Warehouse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2X-Small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dorme sozinho quando ninguém pergunta nada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24179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27989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654532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mesmo warehouse serve as 4 noites e o app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farol-torre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892458" y="6387940"/>
            <a:ext cx="55874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105 / 125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DADO ·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Unity Catalog: catálogo e schemas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endereço de todo dado: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catálogo.schema.tabela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permissão, dono, comentário e histórico num lugar só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modelo, função e volume também moram aqui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24179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27989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654532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lakehouse_vertice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a arquitetura medalhão: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(como chegou),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(limpo e unificado),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(pronto para o dono)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892061" y="6387940"/>
            <a:ext cx="55915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106 / 125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DADO ·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Schema e tabelas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6063" r="16063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 Delta: arquivo no storage com transação, versão e schema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aba mostra dono, amostra, histórico, permissão e lineage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54244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792343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3166983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1: 9 tabelas na bronze, uma por fonte, mais o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rascunho_tarefas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(a view que junta as 3 ferramentas à mão)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02479" y="6387940"/>
            <a:ext cx="5483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107 / 125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DADO ·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Volume: a pasta de arquivos crus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616" r="4616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pasta governada pelo Unity Catalog para qualquer arquivo: xlsx, json, xml, pdf, csv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read_files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lê direto daqui, no formato certo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54244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792343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3166983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bronze.raw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as 20 planilhas, os 25 JSON do ClickUp, os 15 XML do Project, os PDFs de contrato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892557" y="6387940"/>
            <a:ext cx="5586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108 / 125</a:t>
            </a:r>
            <a:endParaRPr lang="en-US" sz="1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MOVE O DADO ·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Ingestion: os conectores prontos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3802" r="1380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conectores gerenciados: Salesforce, SQL Server, SharePoint, Google Drive, ServiceNow…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4914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408872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Databricks puxa o dado incremental, sem código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959919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998018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3372659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usamos: os arquivos chegam por volume. Na vida real, é aqui que entra o ClickUp de verdade ou o SharePoint do PMO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892954" y="6387940"/>
            <a:ext cx="55823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109 / 125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MOVE O DADO ·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Lakeflow pipeline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820118"/>
            <a:ext cx="6455308" cy="278818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escreve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quê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(SQL de cada tabela), o Databricks resolve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quando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a ordem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desenha o grafo sozinho, a partir dos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676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485070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expectativas de qualidade em cada tabela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283044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286854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243181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2: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vertice_medalhao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as 3 ferramentas desaguando em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silver.tarefas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29168" y="6387940"/>
            <a:ext cx="52056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110 / 125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MOVE O DADO ·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Jobs &amp; Pipelines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lista de tudo que roda sozinho, com agenda e as últimas execuções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vermelho e verde lado a lado: o histórico conta a história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54244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792343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3166983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job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vertice_farol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(agendado, pausado no ensaio) e o pipeline. Os ✕ são os ensaios com erro, corrigidos no código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66176" y="6387940"/>
            <a:ext cx="48208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111 / 125</a:t>
            </a:r>
            <a:endParaRPr lang="en-US" sz="10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MOVE O DADO ·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job, tarefa a tarefa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187534"/>
            <a:ext cx="10667733" cy="178249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1981" y="3140393"/>
            <a:ext cx="5257669" cy="1629131"/>
          </a:xfrm>
          <a:prstGeom prst="roundRect">
            <a:avLst>
              <a:gd name="adj" fmla="val 9354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984225" y="3337238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73123" y="3375337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984225" y="375632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174721" y="3673780"/>
            <a:ext cx="4807592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 com dependência: pipeline, SQL, notebook, dashboard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84225" y="424387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174721" y="4161329"/>
            <a:ext cx="4807592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não depende roda em paralelo; se o teste falha, nada depois roda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72046" y="3140393"/>
            <a:ext cx="5257669" cy="1629131"/>
          </a:xfrm>
          <a:prstGeom prst="roundRect">
            <a:avLst>
              <a:gd name="adj" fmla="val 9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94290" y="3337238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83188" y="3375337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394290" y="3749978"/>
            <a:ext cx="5005707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tarefas: conferência da bronze → medalhão → testes e IA no status (em paralelo) → métrica → features → modelo → score</a:t>
            </a:r>
            <a:endParaRPr lang="en-US" sz="11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37304" y="6387940"/>
            <a:ext cx="51210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112 / 125</a:t>
            </a:r>
            <a:endParaRPr lang="en-US" sz="10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DADO ·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Lineage: de onde veio, para onde vai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4698" r="14698" t="0" b="0"/>
          <a:stretch/>
        </p:blipFill>
        <p:spPr>
          <a:xfrm>
            <a:off x="761981" y="1182261"/>
            <a:ext cx="5257669" cy="35559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4788971"/>
            <a:ext cx="5467975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lista: quem lê 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projeto_situacao_atual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(Genie, dashboard, metric view, job) e de onde ela vem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rcRect l="9246" r="9246" t="0" b="0"/>
          <a:stretch/>
        </p:blipFill>
        <p:spPr>
          <a:xfrm>
            <a:off x="6172046" y="1182261"/>
            <a:ext cx="5257669" cy="35559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grafo: silver → gold → metric view e as features do ml, coluna a coluna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61981" y="528425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377" y="532235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Ninguém desenhou isto. O Unity Catalog anota sozinho cada leitura e cada escrita.</a:t>
            </a:r>
            <a:endParaRPr lang="en-US" sz="11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35121" y="6387940"/>
            <a:ext cx="51437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113 / 125</a:t>
            </a:r>
            <a:endParaRPr lang="en-US" sz="10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DADO ·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Metric view: a fórmula num lugar só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710" y="1182261"/>
            <a:ext cx="5917850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guarda 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fórmula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KPI, não o número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08006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1997521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MEASURE(cpi)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é sempre ΣEV ÷ ΣAC, em qualquer grão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676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485070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comentário de cada medida ensina o Genie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2: uma metric view só, a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mv_projetos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com 11 medidas: SPI 0,92 · CPI 0,97 · 7 críticos · 4 melancias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28374" y="6387940"/>
            <a:ext cx="52139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114 / 125</a:t>
            </a:r>
            <a:endParaRPr lang="en-US" sz="10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PERGUNTA ·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Editor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321909"/>
            <a:ext cx="6455308" cy="178460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escreve, roda, vê a tabela, baixa, vira gráfico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08006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1997521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assistente gera e explica SQL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36194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279395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escolhe o compute no canto: warehouse ou Lakebase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283044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286854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243181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inteira: os 6 exemplos. Aqui, o topo de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gold.score_estouro_30d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os motivos de cada projeto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29466" y="6387940"/>
            <a:ext cx="52025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115 / 125</a:t>
            </a:r>
            <a:endParaRPr lang="en-US" sz="10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PERGUNTA ·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Query History: o que cada um perguntou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3802" r="1380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consulta que passou pelo warehouse: quem, quando, quanto tempo, de onde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abre o plano e o perfil de cada uma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48568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586667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2961308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 o SQL que o Genie escreveu por trás de cada resposta. É assim que se audita a IA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29069" y="6387940"/>
            <a:ext cx="52067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116 / 125</a:t>
            </a:r>
            <a:endParaRPr lang="en-US" sz="10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PERGUNTA ·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AI/BI Dashboard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7834" r="7834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painel publicado sobre tabelas do Unity Catalog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filtros, páginas, agenda por e-mail e "Ask Genie" embaixo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versionado em JSON, no repositório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sobre a bronze, noite 2 sobre a gold: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Farol · Portfólio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com 3 páginas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39487" y="6387940"/>
            <a:ext cx="50983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117 / 125</a:t>
            </a:r>
            <a:endParaRPr lang="en-US" sz="10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PERGUNTA ·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Funções de IA dentro do SQL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232" r="1023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ai_classify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ai_extract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ai_query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ai_parse_document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IA como função SQL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 sobre a tabela inteira, sem API key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48568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586667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2961308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2: a causa de cada bloqueio, lida no texto livre do status semanal. O PRJ-011 grita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de SRE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há 12 semanas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29565" y="6387940"/>
            <a:ext cx="52015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118 / 125</a:t>
            </a:r>
            <a:endParaRPr lang="en-US" sz="10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PERGUNTA ·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Agent: pergunta em português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1015" r="11015" t="0" b="0"/>
          <a:stretch/>
        </p:blipFill>
        <p:spPr>
          <a:xfrm>
            <a:off x="761981" y="1182261"/>
            <a:ext cx="5257669" cy="35559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tela do dono: as 4 perguntas já sugeridas, modo Agent ligado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rcRect l="10689" r="10689" t="0" b="0"/>
          <a:stretch/>
        </p:blipFill>
        <p:spPr>
          <a:xfrm>
            <a:off x="6172046" y="1182261"/>
            <a:ext cx="5257669" cy="35559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curadoria: instruções, SQL de exemplo e benchmark (20/20 na noite 2)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61981" y="509376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377" y="513186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curadoria, na bronze, ele erra (noite 1). Com metric view e instruções, acerta (noite 2).</a:t>
            </a:r>
            <a:endParaRPr lang="en-US" sz="11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29962" y="6387940"/>
            <a:ext cx="51974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119 / 125</a:t>
            </a:r>
            <a:endParaRPr lang="en-US" sz="10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DECIDE ·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MLflow: o caderno do cientista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8118" r="8118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treino vira uma execução: parâmetros, métricas, gráficos, o modelo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dá para comparar treinos lado a lado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48568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586667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2961308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3: AUC 0,92 contra 0,50 da regra atual. 9 de 10 estouros avisados com 41 dias de antecedência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00296" y="6387940"/>
            <a:ext cx="5505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120 / 125</a:t>
            </a:r>
            <a:endParaRPr lang="en-US" sz="10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DECIDE ·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no Unity Catalog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358753"/>
            <a:ext cx="6455308" cy="37109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é objeto de catálogo, como uma tabela: dono, permissão, versões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alias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@prod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diz qual versão o job usa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676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485070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trocar de versão é mover o alias, não reescrever código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ml.modelo_estouro_30d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@prod, no laboratório do cientista. O score sai em lote, gravado na gold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37304" y="6387940"/>
            <a:ext cx="51210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121 / 125</a:t>
            </a:r>
            <a:endParaRPr lang="en-US" sz="10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DECIDE ·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Lakebase: um Postgres dentro do Databricks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640" r="10640" t="0" b="0"/>
          <a:stretch/>
        </p:blipFill>
        <p:spPr>
          <a:xfrm>
            <a:off x="761981" y="1182261"/>
            <a:ext cx="5257669" cy="35559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projeto 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farol-torre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Postgres 17, 1 CU, branch production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rcRect l="10640" r="10640" t="0" b="0"/>
          <a:stretch/>
        </p:blipFill>
        <p:spPr>
          <a:xfrm>
            <a:off x="6172046" y="1182261"/>
            <a:ext cx="5257669" cy="35559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tabela 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torre.decisoes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onde o app grava cada aprovação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61981" y="509376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377" y="513186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lakehouse é ótimo para ler muito. O Lakebase é para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gravar uma linha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milissegundos: a decisão do dono.</a:t>
            </a:r>
            <a:endParaRPr lang="en-US" sz="11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08432" y="6387940"/>
            <a:ext cx="54213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122 / 125</a:t>
            </a:r>
            <a:endParaRPr lang="en-US" sz="10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DECIDE ·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 Apps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495404"/>
            <a:ext cx="6455308" cy="34376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site de verdade (React + Node) hospedado no workspace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lê do warehouse, grava no Lakebase, conversa com o Genie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1º acesso, cada pessoa clica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Authorize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app age em nome dela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24179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27989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654532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4: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farol-torre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com projetos em risco, o simulador COL0017 → PRJ-011 e o botão Aprovar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06348" y="6387940"/>
            <a:ext cx="54430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123 / 125</a:t>
            </a:r>
            <a:endParaRPr lang="en-US" sz="10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O FREE EDITION NÃO TEM (MEDIDO EM 18/10/2026)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 que fizemos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lugar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57669" cy="1705329"/>
          </a:xfrm>
          <a:prstGeom prst="roundRect">
            <a:avLst>
              <a:gd name="adj" fmla="val 893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7407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51613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tem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cluster clássico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endpoint de modelo próprio (só Foundation Models)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Knowledge Assistant e Supervisor Agent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046" y="1582301"/>
            <a:ext cx="5257669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394290" y="1779146"/>
            <a:ext cx="103175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3188" y="1817245"/>
            <a:ext cx="88811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Fizemos assim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39429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4785" y="2115688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em serverless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9429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4785" y="2397561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score do modelo em lote, gravado na gold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9429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4785" y="2679435"/>
            <a:ext cx="4807592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contratos viram a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gold.contratos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Genie "Diretoria + Contratos"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452726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377" y="3490825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empresa, os mesmos arquivos rodam iguais: o bundle só troca o profile.</a:t>
            </a:r>
            <a:endParaRPr lang="en-US" sz="11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899602" y="6387940"/>
            <a:ext cx="55131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124 / 125</a:t>
            </a:r>
            <a:endParaRPr lang="en-US" sz="10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395775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FAROL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719617"/>
            <a:ext cx="11094443" cy="7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Bora </a:t>
            </a:r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construir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3687273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github.com/lvgalvao/ImersaoControlTower · uma pasta por noite, com README, roteiro e verificação.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125</Slides>
  <Notes>125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125</vt:i4>
      </vt:variant>
    </vt:vector>
  </HeadingPairs>
  <TitlesOfParts>
    <vt:vector size="1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Projeto Farol · Imersão Databricks + Claude Code</dc:title>
  <dc:subject>PptxGenJS Presentation</dc:subject>
  <dc:creator>PptxGenJS</dc:creator>
  <cp:lastModifiedBy>PptxGenJS</cp:lastModifiedBy>
  <cp:revision>1</cp:revision>
  <dcterms:created xsi:type="dcterms:W3CDTF">2026-10-19T17:02:53Z</dcterms:created>
  <dcterms:modified xsi:type="dcterms:W3CDTF">2026-10-19T17:02:53Z</dcterms:modified>
</cp:coreProperties>
</file>
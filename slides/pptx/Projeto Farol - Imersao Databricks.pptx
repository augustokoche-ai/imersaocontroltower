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image" Target="../media/image-60-2.jpe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image" Target="../media/image-63-2.jpeg"/><Relationship Id="rId3" Type="http://schemas.openxmlformats.org/officeDocument/2006/relationships/image" Target="../media/image-63-3.jpe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image" Target="../media/image-64-2.jpeg"/><Relationship Id="rId3" Type="http://schemas.openxmlformats.org/officeDocument/2006/relationships/image" Target="../media/image-64-3.jpeg"/><Relationship Id="rId4" Type="http://schemas.openxmlformats.org/officeDocument/2006/relationships/image" Target="../media/image-6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image" Target="../media/image-66-2.jpe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image" Target="../media/image-69-2.jpe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image" Target="../media/image-71-2.jpe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image" Target="../media/image-73-2.jpeg"/><Relationship Id="rId3" Type="http://schemas.openxmlformats.org/officeDocument/2006/relationships/image" Target="../media/image-7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image" Target="../media/image-74-2.jpeg"/><Relationship Id="rId3" Type="http://schemas.openxmlformats.org/officeDocument/2006/relationships/image" Target="../media/image-7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image" Target="../media/image-76-2.jpe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image" Target="../media/image-78-2.jpeg"/><Relationship Id="rId3" Type="http://schemas.openxmlformats.org/officeDocument/2006/relationships/image" Target="../media/image-7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image" Target="../media/image-79-2.jpeg"/><Relationship Id="rId3" Type="http://schemas.openxmlformats.org/officeDocument/2006/relationships/image" Target="../media/image-79-3.jpeg"/><Relationship Id="rId4" Type="http://schemas.openxmlformats.org/officeDocument/2006/relationships/image" Target="../media/image-7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image" Target="../media/image-80-2.jpeg"/><Relationship Id="rId3" Type="http://schemas.openxmlformats.org/officeDocument/2006/relationships/image" Target="../media/image-8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image" Target="../media/image-83-2.jpe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image" Target="../media/image-84-2.jpe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image" Target="../media/image-86-2.jpeg"/><Relationship Id="rId3" Type="http://schemas.openxmlformats.org/officeDocument/2006/relationships/image" Target="../media/image-8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image" Target="../media/image-88-2.jpeg"/><Relationship Id="rId3" Type="http://schemas.openxmlformats.org/officeDocument/2006/relationships/image" Target="../media/image-8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image" Target="../media/image-90-2.jpeg"/><Relationship Id="rId3" Type="http://schemas.openxmlformats.org/officeDocument/2006/relationships/image" Target="../media/image-90-3.jpeg"/><Relationship Id="rId4" Type="http://schemas.openxmlformats.org/officeDocument/2006/relationships/image" Target="../media/image-9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jpeg"/><Relationship Id="rId3" Type="http://schemas.openxmlformats.org/officeDocument/2006/relationships/image" Target="../media/image-9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image" Target="../media/image-92-2.jpeg"/><Relationship Id="rId3" Type="http://schemas.openxmlformats.org/officeDocument/2006/relationships/image" Target="../media/image-9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image" Target="../media/image-93-2.jpeg"/><Relationship Id="rId3" Type="http://schemas.openxmlformats.org/officeDocument/2006/relationships/image" Target="../media/image-93-3.jpeg"/><Relationship Id="rId4" Type="http://schemas.openxmlformats.org/officeDocument/2006/relationships/image" Target="../media/image-9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image" Target="../media/image-97-2.jpeg"/><Relationship Id="rId3" Type="http://schemas.openxmlformats.org/officeDocument/2006/relationships/image" Target="../media/image-9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image" Target="../media/image-100-2.jpeg"/><Relationship Id="rId3" Type="http://schemas.openxmlformats.org/officeDocument/2006/relationships/image" Target="../media/image-10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image" Target="../media/image-101-2.jpeg"/><Relationship Id="rId3" Type="http://schemas.openxmlformats.org/officeDocument/2006/relationships/image" Target="../media/image-10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image" Target="../media/image-103-2.jpeg"/><Relationship Id="rId3" Type="http://schemas.openxmlformats.org/officeDocument/2006/relationships/image" Target="../media/image-10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image" Target="../media/image-107-2.png"/><Relationship Id="rId3" Type="http://schemas.openxmlformats.org/officeDocument/2006/relationships/image" Target="../media/image-10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image" Target="../media/image-109-2.jpeg"/><Relationship Id="rId3" Type="http://schemas.openxmlformats.org/officeDocument/2006/relationships/image" Target="../media/image-109-3.jpeg"/><Relationship Id="rId4" Type="http://schemas.openxmlformats.org/officeDocument/2006/relationships/image" Target="../media/image-10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image" Target="../media/image-1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image" Target="../media/image-111-2.jpeg"/><Relationship Id="rId3" Type="http://schemas.openxmlformats.org/officeDocument/2006/relationships/image" Target="../media/image-1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image" Target="../media/image-112-2.jpeg"/><Relationship Id="rId3" Type="http://schemas.openxmlformats.org/officeDocument/2006/relationships/image" Target="../media/image-1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image" Target="../media/image-113-2.jpeg"/><Relationship Id="rId3" Type="http://schemas.openxmlformats.org/officeDocument/2006/relationships/image" Target="../media/image-1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image" Target="../media/image-114-2.jpeg"/><Relationship Id="rId3" Type="http://schemas.openxmlformats.org/officeDocument/2006/relationships/image" Target="../media/image-114-3.jpeg"/><Relationship Id="rId4" Type="http://schemas.openxmlformats.org/officeDocument/2006/relationships/image" Target="../media/image-1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image" Target="../media/image-115-2.jpeg"/><Relationship Id="rId3" Type="http://schemas.openxmlformats.org/officeDocument/2006/relationships/image" Target="../media/image-115-3.jpeg"/><Relationship Id="rId4" Type="http://schemas.openxmlformats.org/officeDocument/2006/relationships/image" Target="../media/image-1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image" Target="../media/image-116-2.jpeg"/><Relationship Id="rId3" Type="http://schemas.openxmlformats.org/officeDocument/2006/relationships/image" Target="../media/image-1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image" Target="../media/image-1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image" Target="../media/image-1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é 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único profissional de dados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 Vértice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3363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95608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95608" y="227443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de clientes (41 em andamento)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990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 mi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406990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carteira contratada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96128" y="1582301"/>
            <a:ext cx="2533587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18372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118372" y="227443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ferramentas: 20 no Excel, 25 no ClickUp, 15 no MS Project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08145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278304"/>
            <a:ext cx="90693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316403"/>
            <a:ext cx="7583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é hoje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84225" y="36973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74721" y="3614846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controla o projeto numa ferramenta diferente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4225" y="39792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174721" y="389671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PMO junta tudo à mão, toda sexta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4225" y="42611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174721" y="417859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do status semanal está quase todo verde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84745" y="3081459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278304"/>
            <a:ext cx="1408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316403"/>
            <a:ext cx="1279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custo de não saber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06990" y="36973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97485" y="3614846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aparece quando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reclama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6990" y="39792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97485" y="389671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escopo cresce e ninguém cobra aditivo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6990" y="42611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97485" y="417859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num projeto, faltando em outro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1981" y="473350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14377" y="477160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 fictícia, dado simulado com seed fixa: todo mundo chega exatamente nos mesmos números. "Hoje" no dataset é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16/10/2026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1062912" y="6387940"/>
            <a:ext cx="3814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121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PEDIDO DO DONO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perguntas, em português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13414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atraso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estão atrasados, e de quais clientes?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394290" y="1779146"/>
            <a:ext cx="125945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dinheiro · noite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esse atraso vai me custar?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981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277709"/>
            <a:ext cx="114317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315808"/>
            <a:ext cx="10039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gente · noite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690448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gente parada enquanto outro projeto pede gente?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046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94290" y="3277709"/>
            <a:ext cx="11686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315808"/>
            <a:ext cx="10305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futuro · noite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690448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 dar errado no próximo mês?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1981" y="45921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302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noite 4 junta tudo numa tela que o dono usa, com o contrato do fornecedor na conversa.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60729" y="6387940"/>
            <a:ext cx="383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121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PRIMEIRA 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todo mundo já quer resposta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620400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925" y="1858519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282868" y="179184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"Quais projetos estão atrasados?"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1981" y="240143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25" y="263955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DIRETORIA FINANCEIRA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82868" y="257287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esse atraso vai nos custar?"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61981" y="318246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96925" y="342058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E ALOCAÇÃO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82868" y="335390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"Tem gente parada enquanto outro projeto pede gente?"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61981" y="396349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925" y="420161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COMERCIAL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82868" y="413493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"Para qual cliente eu ligo antes que ele me ligue?"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61981" y="474452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925" y="498264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282868" y="4915968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"Essa multa do fornecedor a gente consegue cobrar?"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61981" y="5525552"/>
            <a:ext cx="10667733" cy="679433"/>
          </a:xfrm>
          <a:prstGeom prst="roundRect">
            <a:avLst>
              <a:gd name="adj" fmla="val 16822"/>
            </a:avLst>
          </a:prstGeom>
          <a:solidFill>
            <a:srgbClr val="0F1E3D"/>
          </a:solidFill>
          <a:ln w="12700">
            <a:solidFill>
              <a:srgbClr val="467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3275" y="577002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89218" y="5703348"/>
            <a:ext cx="8215171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"Preciso disso para ontem."</a:t>
            </a:r>
            <a:endParaRPr lang="en-US" sz="17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53982" y="6387940"/>
            <a:ext cx="39076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121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Dois clientes, dois objetivos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4161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2327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do projeto · o dono da Vértice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Saber, todo dia, quais projetos estão atrasados, quanto isso custa e o que fazer, em vez de descobrir quando o cliente reclama.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de 100% dos projetos, das 3 ferramentas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"Por que o projeto X atrasou?" em menos de 1 minuto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decisão de realocação registrada e rastreável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174442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1629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da imersão · você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13340" y="2191886"/>
            <a:ext cx="4985895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Sair com um projeto de ponta a ponta no GitHub e o discurso pronto para vender ao dono.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13340" y="29094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82687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chapéus numa semana: analista, engenheiro, cientista, engenheiro de IA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3969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314419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na sua conta Databricks Free Edition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6788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59629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pitch de 3 minutos com ROI em reais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55074" y="6387940"/>
            <a:ext cx="3896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121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DOR · MEDIDO NO DADO DA VÉRTICE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dono descobre o atraso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o cliente reclama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49915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34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 com SPI ou CPI abaixo de 0,9. Sete críticos, espalhados nas três ferramentas.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4424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6669" y="1779146"/>
            <a:ext cx="52068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5567" y="1817245"/>
            <a:ext cx="356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86669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86669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 se nada mudar. 8 projetos com escopo crescendo sem aditivo desde o 6º mês.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66868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9112" y="1779146"/>
            <a:ext cx="4668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8010" y="1817245"/>
            <a:ext cx="3005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89112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189112" y="2610975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faróis verdes no status desta sexta. Pelo número, só 24 projetos estão ok.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35790"/>
            <a:ext cx="52654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773889"/>
            <a:ext cx="362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 9%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567619"/>
            <a:ext cx="3138988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uso de dois SREs seniores num projeto que ainda está no desenho, enquanto o checkout do varejo pede SRE toda semana.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4424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86669" y="3735790"/>
            <a:ext cx="83946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75567" y="3773889"/>
            <a:ext cx="6881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86669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4586669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CodeForge entrega 41% depois do prometido, e compras tem o nome dela escrito de 4 jeitos.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66868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9112" y="3735790"/>
            <a:ext cx="8268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78010" y="3773889"/>
            <a:ext cx="6750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Calendário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189112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189112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freeze da Black Friday. No ano passado, ele travou os 3 projetos de e-commerce por 10 semanas.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1054677" y="6387940"/>
            <a:ext cx="39003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/ 121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fluxo só, da fonte à decisão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40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1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ClickUp, Project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semanal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RH, timesheet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financeiro, compras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em PDF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97532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418893" y="1582301"/>
            <a:ext cx="2697095" cy="2820222"/>
          </a:xfrm>
          <a:prstGeom prst="roundRect">
            <a:avLst>
              <a:gd name="adj" fmla="val 56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41138" y="1779146"/>
            <a:ext cx="168419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30036" y="1817245"/>
            <a:ext cx="15666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 · Unity Catalog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41138" y="2115688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55435" y="2191886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41138" y="2541127"/>
            <a:ext cx="2252606" cy="571486"/>
          </a:xfrm>
          <a:prstGeom prst="roundRect">
            <a:avLst>
              <a:gd name="adj" fmla="val 15556"/>
            </a:avLst>
          </a:prstGeom>
          <a:solidFill>
            <a:srgbClr val="25252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55435" y="2617325"/>
            <a:ext cx="210497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as 3 ferramentas num modelo só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41138" y="3176111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55435" y="3252309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KPIs governados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41138" y="3614250"/>
            <a:ext cx="2342710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· ai_classify e ai_extract nos status · Metric View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204886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26248" y="1582301"/>
            <a:ext cx="2246554" cy="2820222"/>
          </a:xfrm>
          <a:prstGeom prst="roundRect">
            <a:avLst>
              <a:gd name="adj" fmla="val 6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8492" y="1779146"/>
            <a:ext cx="6769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37390" y="1817245"/>
            <a:ext cx="5191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Previsão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4849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38987" y="2115688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de estouro em 30 dias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4849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38987" y="2603236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por projeto, com motivo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861700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18306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0530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9420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Decisão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40530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59580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40530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59580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em português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40530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595801" y="2679435"/>
            <a:ext cx="1676136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de aprovação + Lakebase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0530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595801" y="3166983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61981" y="458031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14377" y="461841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KPIs são definidos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reusados no dashboard, no Genie, no app e no agente.</a:t>
            </a:r>
            <a:endParaRPr lang="en-US" sz="11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1065094" y="6387940"/>
            <a:ext cx="3792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121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SE BENEFICIA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pessoa da Vértice usa uma porta diferente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1892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09944" y="1582301"/>
            <a:ext cx="39371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PRECISA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224234" y="1582301"/>
            <a:ext cx="425483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USA A TORRE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 e diretoria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95647" y="1880744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9944" y="1982341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atrasam e quanto custa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09937" y="1880744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4234" y="1982341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de portfólio + pergunta ao Genie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Gerente de projeto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95647" y="2316303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9944" y="241790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do projeto, causa do desvio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09937" y="2316303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24234" y="241790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causa extraída do status semanal, sem farol de enfeite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95647" y="275186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9944" y="285346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visão só, simular realocação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09937" y="275186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24234" y="285346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app: simula, aprova e registra a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 e controller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95647" y="318742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9944" y="328901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margem por contrato, estouro previsto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09937" y="318742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4234" y="328901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e margem projetada governados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95647" y="3622981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09944" y="372457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 subcontratada que atrasa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109937" y="3622981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224234" y="372457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 de fornecedor e a multa que dá para cobrar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333666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Profissional de dados (você)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095647" y="4058541"/>
            <a:ext cx="4014290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09944" y="4160138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e operar tudo isso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09937" y="4058541"/>
            <a:ext cx="43197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224234" y="4160138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bundle, pipeline, modelo, app, com Claude Code</a:t>
            </a:r>
            <a:endParaRPr lang="en-US" sz="11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55173" y="6387940"/>
            <a:ext cx="3895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121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EMPRESAS SE BENEFICIAM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empresa que vive de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02579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921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houses e integradoras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dezenas de projetos de clientes, cada squad com sua ferramenta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6669" y="1779146"/>
            <a:ext cx="91874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7705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projetos, banco de horas, margem por contrato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9112" y="1779146"/>
            <a:ext cx="157882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457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 de grandes empresas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corporativo com projetos internos e fornecedores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96309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8567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Agências e produtoras digitais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 com prazo de cliente e equipe compartilhada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6360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15166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Engenharia e construção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SPI e CPI, com obra no lugar de sprint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101151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670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Qualquer PMO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planilha de sexta é a única verdade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55570" y="6387940"/>
            <a:ext cx="3891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121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CHEGAMOS LÁ · 4 NOITES, 4 CHAPÉUS, 1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termina com algo rodando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630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711282" y="1582301"/>
            <a:ext cx="16626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CHAPÉU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538548" y="1582301"/>
            <a:ext cx="354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176908" y="1582301"/>
            <a:ext cx="43040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ENTREGÁVEL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19/10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96985" y="1880744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11282" y="1982341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4251" y="1880744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548" y="1982341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Databricks faz? Quem está atrasado?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62611" y="1880744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6908" y="1982341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das 3 ferramentas, SPI/CPI em SQL, 1º dashboard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1981" y="2530809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632406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20/10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96985" y="2530809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11282" y="2632406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Dados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4251" y="2530809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8548" y="2632406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integrar tudo e rodar sozinho?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2611" y="2530809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76908" y="2632406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pipeline, IA nos textos, KPIs governados, Genie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180874"/>
            <a:ext cx="835004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2471"/>
            <a:ext cx="63066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21/10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596985" y="3180874"/>
            <a:ext cx="182726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711282" y="3282471"/>
            <a:ext cx="166261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Cientista de Dados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24251" y="3180874"/>
            <a:ext cx="363836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38548" y="3282471"/>
            <a:ext cx="354615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vão estourar em 30 dias?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062611" y="3180874"/>
            <a:ext cx="436710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6908" y="3282471"/>
            <a:ext cx="430404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no Unity Catalog, score por projeto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1981" y="3632903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34500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22/10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96985" y="3632903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711282" y="3734500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IA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424251" y="3632903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38548" y="3734500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dono, que não escreve SQL?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062611" y="3632903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76908" y="3734500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contratos, app + Lakebase, pitch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61981" y="4409965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377" y="444806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Repositório: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tudo no Databricks Free Edition</a:t>
            </a:r>
            <a:endParaRPr lang="en-US" sz="11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1010327" y="6387940"/>
            <a:ext cx="4361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121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CAMINHO DAS 4 NOITES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só,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camada por noite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47236" y="6387940"/>
            <a:ext cx="3977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121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O DADO MORA NO FIM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pouca tabela, de propósito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10247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880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955057"/>
            <a:ext cx="2202379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tabelas, o dado como veio, sujeira inclusa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arquivos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3838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6083" y="2212126"/>
            <a:ext cx="96200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4981" y="2250225"/>
            <a:ext cx="81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6083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6083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limpas: as 3 ferramentas viraram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(+ 2 dos contratos, noite 4)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5696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7940" y="2212126"/>
            <a:ext cx="118047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6838" y="2250225"/>
            <a:ext cx="10427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noites 2 a 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7940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7940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por pergunta do dono, prontas para dashboard, Genie 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7553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9798" y="2212126"/>
            <a:ext cx="80543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8696" y="2250225"/>
            <a:ext cx="652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· noite 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9798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9798" y="2955057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e métricas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o modelo registrado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6278" y="4130969"/>
            <a:ext cx="41091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OBJETO DA GOLD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55962" y="4130969"/>
            <a:ext cx="54822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811692" y="4130969"/>
            <a:ext cx="5723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1981" y="442941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4531009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41665" y="442941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055962" y="4531009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97395" y="442941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11692" y="4531009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atrasa, de qual cliente, quanto custa (SPI, CPI, estouro, melancia)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86497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6278" y="4966568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fato_projeto_semana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41665" y="486497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55962" y="4966568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7395" y="486497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11692" y="4966568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 semana a semana (base do modelo)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5300530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540212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utilizacao_pessoa_semana · status_estruturado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41665" y="5300530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55962" y="540212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97395" y="5300530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11692" y="540212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 · por que travou (IA)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61981" y="5736089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76278" y="583768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 · score_estouro_30d · contratos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41665" y="5736089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55962" y="583768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3 · 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97395" y="5736089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811692" y="583768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· o que vem aí · o que o contrato diz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1018463" y="6387940"/>
            <a:ext cx="4277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121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ANTES DA PRIMEIRA QUERY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mínimo para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acompanhar tudo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Primeiro o Databricks: o que é, por que o mercado usa e como entrar. Depois os conceitos de dado e de gestão de projetos que aparecem nas 4 noites.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QUE 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plataforma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 e 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num lugar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98154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359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Guardar, limpar, analisar e colocar IA em cima dos dados da empresa, sem montar dez ferramentas diferentes.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na nuvem: AWS, Azure ou Google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Python, dashboards, IA e apps no mesmo lugar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analista, engenheiro, cientista, engenheiro de IA e o negócio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9248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77698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onde veio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fundada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pelos criadores 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Apache 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na Universidade da Califórnia em Berkeley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criou e abriu projetos que viraram padrão de mercado: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 Lake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popularizou a ideia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próximo slide</a:t>
            </a:r>
            <a:endParaRPr lang="en-US" sz="12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009533" y="6387940"/>
            <a:ext cx="4369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121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MERCADO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vale a pena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aprender isso agora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US$ 190 bi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avaliação, na rodada de US$ 5 bi de ago/2026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63838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86083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US$ 7 bi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86083" y="2274434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receita anualizada, crescendo mais de 80% ao ano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5696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40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mil+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40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empresas clientes no mundo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7553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9798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60%+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089798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 Fortune 500 usa Databricks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240503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437348"/>
            <a:ext cx="19939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475447"/>
            <a:ext cx="188880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isso quer dizer para você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850087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uma das empresas de dados que mais cresce no mundo, e a vaga de dados que pede "Databricks" já não é exceção. O que você faz nestas 4 noites é o que essas empresas fazem todo dia.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1981" y="463230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7040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Fontes: Databricks (comunicado de 2026: US$ 7 bi de run-rate) e CNBC (13/08/2026: rodada a US$ 190 bi); página de clientes da Databricks (20 mil+, 60%+ da Fortune 500).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0625" y="6387940"/>
            <a:ext cx="435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121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LAKEHOUSE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 + data lake =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1338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organizadas, SQL rápido, dashboards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caro e rígido; não guarda planilha, PDF, JSON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7329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577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lake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qualquer arquivo, barato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um "pântano": ninguém sabe o que tem, nem confia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66868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189112" y="1779146"/>
            <a:ext cx="80186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8010" y="1817245"/>
            <a:ext cx="649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79608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 ficam no lake, mas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 verdade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cima (Delta)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8911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governança num catálogo só (Unity Catalog)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309078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BI, ML e IA sobre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dado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1981" y="367110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77" y="370920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Projeto Farol: as planilhas, os JSON e os XML entram como arquivo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viram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mesmo catálogo. É o lakehouse na prática.</a:t>
            </a:r>
            <a:endParaRPr lang="en-US" sz="11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1010228" y="6387940"/>
            <a:ext cx="4362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121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MAPA DO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tour completo, tela a tela, está no apêndice.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1020646" y="6387940"/>
            <a:ext cx="42543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121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FREE EDITION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Sua conta,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graça e sem cartão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948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6175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criar (5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 up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Google, Microsoft ou e-mail (o login é por código, sem senha)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workspace abre pronto: não tem cluster para criar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guarde o endereço do seu workspace (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dbc-….cloud.databricks.com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): cada conta tem o seu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3340" y="1779146"/>
            <a:ext cx="8043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6516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vem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Databricks liga e desliga a máquina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SQL Warehouse (2X-Small), notebooks, jobs, pipelines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dashboards, Genie, funções de IA, Lakebase e até 3 apps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13340" y="3024806"/>
            <a:ext cx="67834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2237" y="3062905"/>
            <a:ext cx="5205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13340" y="34438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03835" y="33613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entrou e viu tudo vazio? Confira se é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 certa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login leva ao workspace da última conta usada</a:t>
            </a:r>
            <a:endParaRPr lang="en-US" sz="12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10724" y="6387940"/>
            <a:ext cx="4357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121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O QUE O FREE EDITION NÃO 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que fizemos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lugar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407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6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tem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 clássico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endpoint de modelo próprio (só Foundation Models)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Knowledge Assistant e Supervisor Agent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046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394290" y="1779146"/>
            <a:ext cx="10317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188" y="1817245"/>
            <a:ext cx="8881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Fizemos assim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9429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4785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serverless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9429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4785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do modelo em lote, gravado na gold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9429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4785" y="2679435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viram 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gold.contratos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Genie "Diretoria + Contratos"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377" y="34908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empresa, os mesmos arquivos rodam iguais: o bundle só troca o profile.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1121" y="6387940"/>
            <a:ext cx="4353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121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COMO SE USA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menu da esquerda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mapa da semana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0872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MENU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73423" y="1582301"/>
            <a:ext cx="60132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083945" y="1582301"/>
            <a:ext cx="12807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59126" y="1880744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73423" y="1982341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catálogos, schemas, tabelas e volumes; subir arquivo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969648" y="1880744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83945" y="1982341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em diante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9126" y="2316303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073423" y="241790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escrever e rodar SQL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969648" y="2316303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83945" y="241790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59126" y="275186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73423" y="285346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montar e publicar painéis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969648" y="275186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3945" y="285346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 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959126" y="318742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73423" y="328901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 em português para os dados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969648" y="318742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83945" y="328901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 2 e 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59126" y="362298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073423" y="372457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roda sozinho, com agenda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969648" y="362298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083945" y="372457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e 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Experiments · Models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959126" y="405854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073423" y="416013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e o modelo registrado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969648" y="405854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083945" y="416013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494100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59569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→ Apps · Lakebase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959126" y="4494100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073423" y="459569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da Torre e o banco que grava as decisões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969648" y="4494100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083945" y="459569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81455" y="6387940"/>
            <a:ext cx="4661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121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palavras que você vai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ouvir o tempo todo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5154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523567" y="1582301"/>
            <a:ext cx="81035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9269" y="1880744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3567" y="1982341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e colunas que o SQL consegue ler; no Databricks, uma tabela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308068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09666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9269" y="2308068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3567" y="2409666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língua para perguntar ao dado: SELECT o quê, FROM onde, WHERE com qual filtro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2735393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36990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·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09269" y="2735393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23567" y="2836990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gaveta e a pasta: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162717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64314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09269" y="3162717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3567" y="3264314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pasta de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arquivos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(planilha, JSON, XML, PDF) dentro do catálogo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1981" y="3590041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91639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warehouse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09269" y="3590041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23567" y="3691639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máquina que roda tudo, ligada e desligada pelo Databricks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1981" y="4017366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118963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· job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09269" y="4017366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3567" y="4118963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sequência que roda sozinha e na ordem certa, toda segunda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1981" y="4444690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546288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 · métrica governada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409269" y="4444690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23567" y="4546288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do negócio, com a fórmula definida uma vez só</a:t>
            </a:r>
            <a:endParaRPr lang="en-US" sz="10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1018463" y="6387940"/>
            <a:ext cx="4277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121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 · O MEDALHÃO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camadas: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bronze, silver e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8523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arquivo virou tabela, sem mexer em nada. A sujeira fica, de propósito: dá para voltar na origem e comparar.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84225" y="2910311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3123" y="2948410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13325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454612" y="1582301"/>
            <a:ext cx="3282471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76857" y="1779146"/>
            <a:ext cx="2837982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91154" y="1855344"/>
            <a:ext cx="271376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limpo e junto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76857" y="2217285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 números corrigidos, duplicatas fora, as 3 ferramentas num modelo só. Testado.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76857" y="2910311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65754" y="2948410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82598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47342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369587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83884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pronto para decidir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9587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por pergunta do dono, com o KPI calculado. É o que dashboard, Genie e app leem.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369587" y="2910311"/>
            <a:ext cx="83550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58485" y="2948410"/>
            <a:ext cx="6840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noites 2 a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1981" y="362149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65959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Separar em camadas é o que permite consertar um erro sem perder a origem, e trocar uma fonte sem quebrar o dashboard.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121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GESTÃO DE PROJETOS · COMO SE MEDE UM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dizia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Hoje é o fim do 3º mês.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582301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de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linha vermelha é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dia da entrega.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2096638"/>
            <a:ext cx="1716997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9073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635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041974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67593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58579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1981" y="2706223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foi combinado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90735" y="2474454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43131" y="2474454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pronto em 3 meses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67593" y="2474454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2F2F3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61981" y="3036415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realidade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981" y="3284059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está pronto hoje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0735" y="3052289"/>
            <a:ext cx="4960020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43131" y="3052289"/>
            <a:ext cx="499992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pronto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0755" y="3052289"/>
            <a:ext cx="1653340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50755" y="3052289"/>
            <a:ext cx="171947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25%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267593" y="3052289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280293" y="3064989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 mês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1981" y="3614250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1981" y="3861894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já foi gasto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90735" y="3630125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131" y="3630125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 gastos · o orçamento inteiro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67593" y="3630125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9280293" y="3642825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69171" y="2127197"/>
            <a:ext cx="19050" cy="20954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45369" y="1943051"/>
            <a:ext cx="401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00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1981" y="426828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638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perguntas, três números: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(100%),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(75%),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custou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(R$ 300 mil). Tudo o que vem agora é dividir um pelo outro.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121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SCHEDULE PERFORMANCE INDEX · ÍNDICE DE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SPI: quanto do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estar pronto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 estar pronto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 · pelo plano, no fim do 3º mês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756922"/>
            <a:ext cx="7137222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756922"/>
            <a:ext cx="726421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439530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 pronto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68717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valor agregado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455404"/>
            <a:ext cx="5352916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455404"/>
            <a:ext cx="540854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7645" y="2455404"/>
            <a:ext cx="1784305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981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32850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36660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715848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75% ÷ 100%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230185"/>
            <a:ext cx="499249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"andou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do que devia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". Em tempo: 3 meses ÷ 0,75 =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meses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Um mês de atraso, se o ritmo não mudar.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328507"/>
            <a:ext cx="11452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366606"/>
            <a:ext cx="100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régua da Torre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6990" y="3753947"/>
            <a:ext cx="1920132" cy="25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6990" y="3753947"/>
            <a:ext cx="199693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 &lt; 0,80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7122" y="3753947"/>
            <a:ext cx="960017" cy="25399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7122" y="3753947"/>
            <a:ext cx="998417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287139" y="3753947"/>
            <a:ext cx="1920331" cy="253994"/>
          </a:xfrm>
          <a:prstGeom prst="rect">
            <a:avLst/>
          </a:prstGeom>
          <a:solidFill>
            <a:srgbClr val="5AD4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7139" y="3753947"/>
            <a:ext cx="199714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≥ 0,90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6990" y="4084139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Nosso exemplo (0,75) é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Na Vértice,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PRJ-016: 0,63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+298 dias projetados.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80761" y="6387940"/>
            <a:ext cx="4669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121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· COST PERFORMANCE INDEX · ÍNDICE DE CUSTO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CPI: o que foi entregue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quanto,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75% de R$ 300 mil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R$ 225 mil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83468" y="1661674"/>
            <a:ext cx="2146246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 · custo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4729" y="2264909"/>
            <a:ext cx="8584985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7125" y="2264909"/>
            <a:ext cx="8769893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138012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176111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525352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= 225 ÷ 300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039690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gasto comprou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R$ 0,75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entrega. Os outros 25 centavos viraram retrabalho, hora extra, escopo que ninguém cobrou.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138012"/>
            <a:ext cx="105744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176111"/>
            <a:ext cx="9148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6990" y="3550752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 os dois deram 0,75 por coincidência. Dá para estar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prazo e estourando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(hora extra para entregar) 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atrasado e barato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(time parado). Por isso a Torre olha os dois.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6990" y="4269871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PRJ-009, CPI 0,77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 8 projetos com o CPI caindo desde o 6º mês.</a:t>
            </a:r>
            <a:endParaRPr lang="en-US" sz="11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1753" y="6387940"/>
            <a:ext cx="4658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121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· ESTIMATE AT COMPLETION · ESTIMATIVA NO TÉRMINO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EAC: 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vai custar no fim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· o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 custar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= orçamento ÷ CPI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264909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264909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83468" y="2264909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3468" y="2264909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R$ 100 mil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1981" y="285226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1981" y="309991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duração ÷ SPI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44729" y="2868144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97125" y="286814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83468" y="2868144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3468" y="2868144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+ 1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225" y="374124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3123" y="377934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128587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300 ÷ 0,75 = R$ 400 mil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84225" y="4642925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previsto: R$ 100 mil.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primeiro número que o dono quer ouvir, e sai de três colunas: orçamento, % concluído e custo real.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84745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41247"/>
            <a:ext cx="77993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79346"/>
            <a:ext cx="626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06990" y="4077789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29" name="Text 27"/>
          <p:cNvSpPr txBox="1"/>
          <p:nvPr/>
        </p:nvSpPr>
        <p:spPr>
          <a:xfrm>
            <a:off x="6406990" y="4573076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somando só quem estoura. O maior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PRJ-021, R$ 1,78 mi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Resposta da pergunta 2 do dono.</a:t>
            </a:r>
            <a:endParaRPr lang="en-US" sz="11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81356" y="6387940"/>
            <a:ext cx="4662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121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× NÚMERO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255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015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92499" cy="66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 o gerente põe uma cor no status: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verde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amarelo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No olhômetro. É a mensagem do pedreiro: </a:t>
            </a:r>
            <a:pPr algn="l" indent="0" marL="0">
              <a:lnSpc>
                <a:spcPct val="115385"/>
              </a:lnSpc>
              <a:buNone/>
            </a:pPr>
            <a:r>
              <a:rPr lang="en-US" sz="1300" i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"tá tudo certo, chefe"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300010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49538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41 projetos em andamento, pelo gerente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6990" y="1779146"/>
            <a:ext cx="7552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5888" y="1817245"/>
            <a:ext cx="6005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6990" y="2191886"/>
            <a:ext cx="4992499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não tem opinião. Ele divide o que está pronto pelo que devia estar.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6990" y="277726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ok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6406990" y="327254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SPI e CPI. Os outros 17 estão em atenção ou críticos.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4067173"/>
            <a:ext cx="10667733" cy="932633"/>
          </a:xfrm>
          <a:prstGeom prst="roundRect">
            <a:avLst>
              <a:gd name="adj" fmla="val 16340"/>
            </a:avLst>
          </a:prstGeom>
          <a:solidFill>
            <a:srgbClr val="1E1E24"/>
          </a:solidFill>
          <a:ln w="6350">
            <a:solidFill>
              <a:srgbClr val="46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4225" y="4340216"/>
            <a:ext cx="10632174" cy="46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verde por fora, vermelho por dentro. </a:t>
            </a:r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projetos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Vértice (PRJ-012, 028, 034, 042) estão verdes para o gerente e abaixo de 0,9 pelo número. Ninguém mentiu. Só ninguém fez a conta.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991774" y="6387940"/>
            <a:ext cx="4554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121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GLOSSÁRIO · AS SIGLAS FICAM EM INGLÊS, ATÉ NO PMO BRASILEIRO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siglas, em uma linha cada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788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862587" y="1582301"/>
            <a:ext cx="2585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INGLÊS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6946" y="1582301"/>
            <a:ext cx="2846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PORTUGUÊS (PMBOK)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542718" y="1582301"/>
            <a:ext cx="3923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48290" y="188074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62587" y="1982341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62649" y="188074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6946" y="1982341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Planejado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28421" y="188074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2718" y="1982341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 hoje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324538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26135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48290" y="2324538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62587" y="2426135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Earned Value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62649" y="2324538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6946" y="2426135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Agregado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28421" y="2324538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42718" y="2426135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 de verdade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2768332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69930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48290" y="2768332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62587" y="2869930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649" y="2768332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6946" y="2869930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28421" y="2768332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2718" y="2869930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foi gasto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212127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313724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748290" y="3212127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62587" y="3313724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 Performance Index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649" y="3212127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6946" y="3313724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Prazo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28421" y="3212127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2718" y="3313724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PV · abaixo de 1 é atraso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3655921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57519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748290" y="3655921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862587" y="3757519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 Performance Index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62649" y="3655921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76946" y="3757519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Custo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428421" y="3655921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542718" y="3757519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AC · abaixo de 1 é estouro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099715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201313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748290" y="4099715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62587" y="4201313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Budget at Completion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462649" y="4099715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576946" y="4201313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 no Término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28421" y="4099715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542718" y="4201313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orçamento original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1981" y="4543510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4645107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748290" y="4543510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62587" y="4645107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 at 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462649" y="4543510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576946" y="4645107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Estimativa no Término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428421" y="4543510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542718" y="4645107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÷ CPI · quanto vai custar no fim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61981" y="498730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76278" y="5088902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1748290" y="498730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862587" y="5088902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 · Variance at Completion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62649" y="498730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576946" y="5088902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no Término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428421" y="498730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542718" y="5088902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− BAC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761981" y="5431099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76278" y="5532696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1748290" y="5431099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862587" y="5532696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462649" y="5431099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576946" y="5532696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base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7428421" y="5431099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542718" y="5532696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original, contra o qual tudo é medido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61981" y="598919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14377" y="602728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Régua da Torre: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ou CPI &lt; 0,9 = atenção · &lt; 0,8 =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Definida uma vez, usada em toda query, dashboard, Genie e app.</a:t>
            </a:r>
            <a:endParaRPr lang="en-US" sz="110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3" name="Text 80"/>
          <p:cNvSpPr txBox="1"/>
          <p:nvPr/>
        </p:nvSpPr>
        <p:spPr>
          <a:xfrm>
            <a:off x="10981852" y="6387940"/>
            <a:ext cx="4657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/ 121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SEGUNDA, 19/10 · ANALISTA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tudo,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converter nada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navegador. Planilha, JSON e XML viram tabela com o mesmo comando, e o SQL responde as perguntas 1 e 2.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VOCÊ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entregas,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no navegador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49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48934" y="1582301"/>
            <a:ext cx="4193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09876" y="1582301"/>
            <a:ext cx="60377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VOCÊ SABE QUE CHEGOU LÁ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34637" y="1880744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8934" y="1982341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Ambiente no Databricks Free Edition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5579" y="1880744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09876" y="1982341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bronze, silver, gold e o volume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34637" y="2332773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48934" y="243437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JSON e XML lidos com o mesmo comando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5579" y="2332773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09876" y="243437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bronze, contagens iguais às da verificação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134637" y="278480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48934" y="288640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encontrada antes de virar decisão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5579" y="278480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09876" y="288640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exemplo 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23683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338429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34637" y="323683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8934" y="3338429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95579" y="323683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09876" y="3338429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dos 41 projetos em andamento (exemplo 05)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1981" y="3688861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9045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34637" y="3688861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48934" y="379045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em dinheiro, e o farol desmentido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5579" y="3688861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09876" y="379045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(exemplo 06)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61981" y="4140890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4248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34637" y="4140890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48934" y="424248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publicado e o Genie errando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95579" y="4140890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09876" y="424248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dashboard da bronze e as 4 perguntas no Genie sem curadoria</a:t>
            </a:r>
            <a:endParaRPr lang="en-US" sz="12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121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SERVERLESS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Serverless: ninguém liga cluster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liga a máquina quando a tarefa começa e desliga no fim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notebook aberto por uma pessoa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tarefa de job e pipeline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 o processamento das 4 noites. No Free Edition não há cluster clássico: é só serverless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16280" y="6387940"/>
            <a:ext cx="4299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121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UNITY CATALOG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Catalog: catálogo e schemas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9532" r="95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endereço de todo dado: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catálogo.schema.tabela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permissão, dono, comentário e histórico num lugar só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modelo, função e volume também moram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 arquitetura medalhão: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(como chegou),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(limpo e unificado),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(pronto para o dono), 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 noite 3 (o laboratório do modelo)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121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passos,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pela interface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462647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conta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098884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cartão, tudo serverless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31352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34887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3857132" y="1779146"/>
            <a:ext cx="122968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46029" y="1817245"/>
            <a:ext cx="10939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a casa do dado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857132" y="2191886"/>
            <a:ext cx="1955457" cy="98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schemas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bronze.raw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48521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69883" y="1582301"/>
            <a:ext cx="23248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92127" y="1779146"/>
            <a:ext cx="100615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81025" y="1817245"/>
            <a:ext cx="8614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os arquivos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592127" y="2191886"/>
            <a:ext cx="195556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baixe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dados-vertice.zip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Drive e suba cada pasta no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8361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04978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7222" y="1779146"/>
            <a:ext cx="91140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6120" y="1817245"/>
            <a:ext cx="7629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SQL Editor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327222" y="2191886"/>
            <a:ext cx="1955457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01-ingestao-bronze.sql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GitHub, cole e rode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1981" y="3564940"/>
            <a:ext cx="10667733" cy="1152893"/>
          </a:xfrm>
          <a:prstGeom prst="roundRect">
            <a:avLst>
              <a:gd name="adj" fmla="val 991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826" y="3736385"/>
            <a:ext cx="10691609" cy="81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mesmo comando para CSV, Excel, JSON e XML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TABLE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read_files(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'/Volumes/lakehouse_vertice/bronze/raw/excel/'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format =&gt;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headerRows =&gt; 1, inferColumnTypes =&gt; false);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484483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377" y="488292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mostra esperado × obtido. Hoje: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985325" y="6387940"/>
            <a:ext cx="4621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121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VOLUME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Volume: a pasta de arquivos crus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616" r="4616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governada pelo Unity Catalog para qualquer arquivo: xlsx, json, xml, pdf, csv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lê direto daqui, no formato certo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as 20 planilhas, os 25 JSON do ClickUp, os 15 XML do Project, os PDFs de contrato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121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INGESTÃO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Ingestion: os conectores prontos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conectores gerenciados: Salesforce, SQL Server, SharePoint, Google Drive, ServiceNow…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4914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408872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puxa o dado incremental, sem código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959919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998018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372659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usamos: os arquivos chegam por volume. Na vida real, é aqui que entra o ClickUp de verdade ou o SharePoint do PMO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9570" y="6387940"/>
            <a:ext cx="468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121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VOLUME RAW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jeito que cada sistema exporta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68898"/>
          </a:xfrm>
          <a:prstGeom prst="roundRect">
            <a:avLst>
              <a:gd name="adj" fmla="val 4629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13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pmo/         projetos · status_semanal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excel/       20 planilhas .xlsx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clickup/     25 exports .json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msproject/   15 arquivos .xml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rh/          colaboradores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timesheet/   apontamentos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financeiro/  custos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compras/     entregas_fornecedor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documentos/  8 contratos em PDF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(lidos na noite 4)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7908" r="7908" t="0" b="0"/>
          <a:stretch/>
        </p:blipFill>
        <p:spPr>
          <a:xfrm>
            <a:off x="6191095" y="1582301"/>
            <a:ext cx="5238619" cy="3555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1095" y="5189011"/>
            <a:ext cx="544816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20 planilhas no volume: arquivo de verdade, um por projeto, cada gerente com o seu nome de arquivo.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121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TABELAS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 e tabelas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6063" r="16063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Delta: arquivo no storage com transação, versão e schema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aba mostra dono, amostra, histórico, permissão e lineage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1: 9 tabelas na bronze, uma por fonte, mais o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rascunho_tarefas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 view que junta as 3 ferramentas à mão)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121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do dono por trás de cada uma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2015281"/>
            <a:ext cx="3077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64097" y="2015281"/>
            <a:ext cx="116433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12248" y="2015281"/>
            <a:ext cx="14007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87703" y="2015281"/>
            <a:ext cx="45008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 PARA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313723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415321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status_semanal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9800" y="2313723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97" y="2415321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· 3.911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97950" y="2313723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12248" y="2415321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(CSV)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3406" y="2313723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87703" y="2415321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farol de toda sexta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749283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85088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excel_tarefas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49800" y="2749283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4097" y="285088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97950" y="2749283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12248" y="285088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3406" y="2749283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87703" y="285088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318484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644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clickup_tarefas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49800" y="318484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64097" y="328644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97950" y="318484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12248" y="328644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JSON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73406" y="318484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7703" y="328644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62040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2199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msproject_tarefas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49800" y="362040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64097" y="372199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7950" y="362040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12248" y="372199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XML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73406" y="362040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87703" y="372199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405596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15755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49800" y="405596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64097" y="415755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97950" y="405596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2248" y="415755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3406" y="405596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87703" y="415755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2: quanto custa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49152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593118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 · apontamentos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49800" y="449152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064097" y="4593118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· 30.883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297950" y="449152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12248" y="4593118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· timesheet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73406" y="449152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987703" y="4593118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gente parada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927080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5028677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949800" y="4927080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64097" y="5028677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97950" y="4927080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12248" y="5028677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73406" y="4927080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87703" y="5028677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que atrasa (e a multa da noite 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61981" y="5451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14377" y="548963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entra como texto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no CSV e no Excel: se o Databricks adivinhasse o tipo, a sujeira sumiria antes de a gente ver.</a:t>
            </a:r>
            <a:endParaRPr lang="en-US" sz="1100" dirty="0"/>
          </a:p>
        </p:txBody>
      </p:sp>
      <p:pic>
        <p:nvPicPr>
          <p:cNvPr id="6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7" name="Text 64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121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1 DE 9 · BRONZE.PROJETOS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do PMO: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qual ferramenta cada projeto vive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54866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projeto (41 em andamento, 19 concluídos)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311876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303621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segmento, tipo, valor do contrato, orçamento, início, fim previsto, gerente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6063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52376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codigo_ferramenta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chave para achar o cronograma no Excel, no ClickUp ou no Project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40938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40113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(R$ 208,6 mi em andamento)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221212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225022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4866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data_inicio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2 formatos: 2025-03-14 e 14/03/2025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1308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3054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 escrita de 8 jeitos: Excel, excel, Planilha, ClickUp, click up, Project…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40063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31809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projetos sem código da ferramenta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4578930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826" y="4750376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projeto_id | cliente              | ferramenta | codigo_ferramenta                          | valor_contrato | data_inicio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PRJ-001    | Fintech Pagar Fácil  | MS Project | PRJ-001_migracao_do_mainframe_para_clo.xml | 7957000.00     | 14/03/2025</a:t>
            </a:r>
            <a:endParaRPr lang="en-US" sz="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0066" y="6387940"/>
            <a:ext cx="4676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121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2 DE 9 · BRONZE.STATUS_SEMANAL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sexta, o gerente escreve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aconteceu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 × sexta-feira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(verde, amarelo, vermelho), % concluído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livre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entregas e bloqueios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único histórico de avanço que existe: as ferramentas só guardam o % de hoje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é do gerente, e gerente é otimista: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 hoje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escrito Verde, VERDE, verde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vazio, "N/A", "ver ata da reunião", texto em CAIXA ALTA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PRJ-011 · 2026-10-16 · amarelo · "Bloqueios: Sem SRE alocado: pipeline de deploy quebrado e ninguém para corrigir. Impacto estimado: 1 semana."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1981" y="446542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50352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2, a IA lê esse texto e devolve a causa como coluna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gold.status_estruturado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72625" y="6387940"/>
            <a:ext cx="47537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121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3 DE 9 · BRONZE.EXCEL_TAREFAS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do seu jeito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3964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963689"/>
          </a:xfrm>
          <a:prstGeom prst="roundRect">
            <a:avLst>
              <a:gd name="adj" fmla="val 514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linha de planilha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read_files aponta para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lê as 20 de uma vez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colunas renomeadas ("% Concluído" → pct_concluido), valor intocado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243181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02237" y="3281280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como texto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número de série (45700 = 13/02/2025)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como "45%" ou 0.45, e 11 tarefas acima de 100%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13340" y="42260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03835" y="41434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TOTAL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fim que soma tudo de novo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009533" y="6387940"/>
            <a:ext cx="4369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/ 121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4 DE 9 · BRONZE.CLICKUP_TAREFAS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exports da API,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dentro de lista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arquivo é uma lista (um projeto),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explode()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abre uma linha por tarefa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a gente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inferir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 tipo: é o que mantém a estrutura aninhada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166983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3205082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5860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50352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milissegundos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desde 1970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86794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78539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escrito de 12 jeitos (to do, Em andamento, DONE…)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e a baseline escondidos numa lista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custom_fields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80761" y="6387940"/>
            <a:ext cx="4669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121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5 DE 9 · BRONZE.MSPROJECT_TAREFAS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cronogramas do Project,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&lt;Task&gt; por linha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rowTag =&gt; 'Task'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&lt;Task&gt; vira uma linha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baseline, início e fim reais e % concluído, tudo aninhado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961308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999407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3803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2978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no formato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PT40H0M0S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tarefas-resumo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(fases e o projeto inteiro) que somam as de baixo: contar tudo dobra as horas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fase está na tarefa de cima, não na própria tarefa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121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6 DE 9 · BRONZE.COLABORADORES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520 pessoas: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papel, custo e quem saiu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RH (deviam ser 520)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 (dev, qa, sre, tech_lead…), senioridade,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custo/hora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admissão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desligamento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mostra os squads com rotatividade (PRJ-016 e PRJ-030)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pessoas duplicadas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mesmo id, nome e papel em CAIXA ALTA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DISTINCT não resolve, porque as linhas são diferentes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nome            | papel     | senioridade | custo_hora | data_admissao | data_desligamento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COL0001        | Débora Pacheco  | tech_lead | pleno       | 155.47     | 2024-04-29    |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1831" y="6387940"/>
            <a:ext cx="47619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121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7 DE 9 · BRONZE.APONTAMENTOS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timesheet: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 × apontadas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 × projeto × semana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quem diz onde cada pessoa está: dá para saber o squad de cada projeto sem outra planilha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= disponível − apontado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SREs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apontam de 2% a 9% no PRJ-007, que ainda está no discovery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enquanto isso, o PRJ-011 reclama de falta de SRE há 12 semanas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apontar mais que o disponível é hora extra: legítimo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projeto_id | semana_inicio | horas_disponiveis | horas_apontadas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COL0017        | PRJ-007    | 2026-10-12    | 40.0              | 2.4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2823" y="6387940"/>
            <a:ext cx="4751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121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8 DE 9 · BRONZE.CUSTOS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real gasto,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lançamento por lançamento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pessoal, consultoria, cloud, licenças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o CPI, diz se cada real gasto entregou um real de trabalho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 valores com vírgula decimal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(1245,78)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try_cast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ingênuo transforma em nulo e some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R$ 5,41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(dá R$ 187,94 mi)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estornos negativos, que são legítimos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lancamento_id | projeto_id | data       | categoria | descricao                                 | valor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L0000001      | PRJ-001    | 2025-01-10 | pessoal   | Folha alocada PRJ-001 semana 2025-01-06   | 1245.78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2526" y="6387940"/>
            <a:ext cx="4754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121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9 DE 9 · BRONZE.ENTREGAS_FORNECEDOR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consultoria prometeu,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quando entregou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 = consultoria subcontratada pela Vértice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aqui a Vértice é a contratante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 entregas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5 fornecedores: pedido, prometido, entregue, valor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 real ÷ prometido mostra quem cumpre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4 vira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que a Vértice cobra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cruzando com o contrato em 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com prazo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0% no prazo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vem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normalizar, vira 4 fornecedores medianos e some do ranking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 hoje, todas dela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82844" y="6387940"/>
            <a:ext cx="464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121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 PRONTA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9 tabelas no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Explorer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88"/>
          <a:stretch/>
        </p:blipFill>
        <p:spPr>
          <a:xfrm>
            <a:off x="761981" y="1455304"/>
            <a:ext cx="10667733" cy="44448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963692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10 itens porque o exemplo 05 cria a view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Logo depois da ingestão você vê 9.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3022" y="6387940"/>
            <a:ext cx="4749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121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SQL WAREHOUSE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Warehouse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motor que responde SQL: editor, dashboard, Genie, app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Free Edition dá um: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Starter Warehouse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2X-Small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dorme sozinho quando ninguém pergunta nada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warehouse serve as 4 noites e o app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3319" y="6387940"/>
            <a:ext cx="4746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/ 121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SQL EDITOR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321909"/>
            <a:ext cx="6455308" cy="17846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escreve, roda, vê a tabela, baixa, vira gráfico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assistente gera e explica SQL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o compute no canto: warehouse ou Lakebase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inteira: os 6 exemplos. Aqui, o topo de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gold.score_estouro_30d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motivos de cada projeto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3617" y="6387940"/>
            <a:ext cx="474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121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OS 6 EXEMPLOS 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primeiro SELECT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resposta do dono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06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84366" y="1582301"/>
            <a:ext cx="28513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54604" y="1582301"/>
            <a:ext cx="515924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ELE MOSTRA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primeiro SELECT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0069" y="1880744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4366" y="1982341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306" y="1880744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4604" y="1982341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projetos, 41 em andamento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ORDER BY e DISTINCT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70069" y="2316303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4366" y="241790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BY, DISTINCT, CAST, SUM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0306" y="2316303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4604" y="241790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R$ 305,2 mi; a ferramenta escrita de 8 jeitos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WHERE e a sujeira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0069" y="275186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4366" y="285346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FILTER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0306" y="275186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4604" y="285346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sujeira, antes de virarem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GROUP BY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70069" y="318742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384366" y="328901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date_trunc, try_cast, replace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40306" y="318742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54604" y="328901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mês; o try_cast que perde 671 lançamentos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UNION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70069" y="362298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84366" y="372457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40306" y="362298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4604" y="372457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SPI de cada projeto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· quanto custa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70069" y="405854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384366" y="4160138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KPI, janela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40306" y="405854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4604" y="4160138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estouro; 7 críticos; 4 melancias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58299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4377" y="462109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exemplo existe em dois notebooks: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branco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(você digita) e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resolvido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(para conferir).</a:t>
            </a:r>
            <a:endParaRPr lang="en-US" sz="11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1010625" y="6387940"/>
            <a:ext cx="435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 / 121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01 · SELECT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catálogo,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onde cada projeto vive?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bronze.projetos)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bronze.excel_tarefas)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linhas_no_excel,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bronze.clickup_tarefas)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tarefas_no_clickup,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tarefas_no_project;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COUNT(*). Antes de calcular qualquer KPI, olhe o dado. Sempre.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semanais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11946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03691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mesma informação com três caras: data em texto, em número de série e em milissegundos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78480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82290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exemplo-01-primeiro-select.sql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GitHub. Copie, cole no SQL Editor e rode bloco a bloco.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1753" y="6387940"/>
            <a:ext cx="4658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 / 121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02 · ORDER BY, DISTINCT E CAST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vale a carteira,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quais os maiores contratos?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armadilha: ordenar texto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valor_contrato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PRJ-052 em 1º?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 CAST, ordena como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PRJ-017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 tudo é texto: sem CAST, ORDER BY ordena como palavra, e '8380000' passa na frente de '15275000'.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maior contrato de verdade: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PRJ-017, R$ 15,3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 texto dizia PRJ-052)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R$ 208,6 mi em andamento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Excel, excel, Planilha, ClickUp, Clickup…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exemplo-02-order-by-e-distinct.sql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primeira sujeira do dia é o retrato do problema da Vértice: cada um registra do seu jeito.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9570" y="6387940"/>
            <a:ext cx="468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 / 121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03 · WHERE E A SUJEIRA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confiar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nesse número?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'%/%'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'%-%'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arquivo, tarefa, horas_previstas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conta duas vezes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'%,%'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vírgula decimal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COUNT(*) FILTER. Dado sujo não dá erro: dá um número errado, em silêncio.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2192878"/>
          </a:xfrm>
          <a:prstGeom prst="roundRect">
            <a:avLst>
              <a:gd name="adj" fmla="val 6950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×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de TOTAL no Excel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tarefas-resumo no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custos com vírgula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pessoas duplicadas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vazios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95342" y="48126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85838" y="4730136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jeitos · status do ClickUp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1981" y="527235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531045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exemplo-03-where-e-a-sujeira.sql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12 achados. É o exemplo mais importante do dia, e tudo que ele acha é o que a silver conserta amanhã.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2823" y="6387940"/>
            <a:ext cx="4751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/ 121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04 · GROUP BY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gasta por mês?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quebra: '12345,67' não é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não quebra... e joga 671 linhas fora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try_cast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o certo: vírgula vira ponto antes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date_trunc(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DATE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BY, date_trunc, try_cast, replace. A primeira query falha de propósito; a segunda "funciona" e mente.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try_cast: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R$ 187,94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(671 lançamentos sumiram)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certo: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custo real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é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R$ 117,8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quase dois terços; consultoria R$ 29,4 mi; cloud R$ 23,0 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exemplo-04-group-by-custo-no-tempo.sql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diferença de R$ 5,41 mi é o tamanho de um erro silencioso.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3915" y="6387940"/>
            <a:ext cx="4740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 / 121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UNION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tarefa,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data texto OU série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milissegundos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...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PT40H0M0S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SPI = horas agregadas ÷ horas planejadas até 16/10/2026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JOIN. Cada ferramenta é traduzida para as mesmas 7 colunas e empilhada: um rascunho à mão da silver de amanhã.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/ 1.643 tarefas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2.119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1.155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numa tabela só, pela primeira vez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 cada um: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0,63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exemplo-05-union-quais-projetos-atrasados.sql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Rode inteiro: ele cria a view que o exemplo 06, o dashboard e a verificação usam.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/ 121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PERGUNTA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7 críticos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634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561568" y="1582301"/>
            <a:ext cx="29753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51063" y="1582301"/>
            <a:ext cx="5754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432987" y="1582301"/>
            <a:ext cx="5439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184649" y="1582301"/>
            <a:ext cx="11759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· Integração com laboratórios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47271" y="1880744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61568" y="1982341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Operadora Bem Cuidar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36766" y="1880744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51063" y="1982341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318690" y="1880744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32987" y="1982341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70352" y="1880744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84649" y="1982341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R$ 257 mil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316303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1790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PRJ-030 · APIs de Open Finance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7271" y="2316303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61568" y="241790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36766" y="2316303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51063" y="241790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8690" y="2316303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32987" y="241790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70352" y="2316303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184649" y="241790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R$ 363 mil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1981" y="275186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5346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PRJ-039 · Antifraude em tempo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7271" y="275186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61568" y="285346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Meridiano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36766" y="275186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51063" y="285346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8690" y="275186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32987" y="285346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0352" y="275186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84649" y="285346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R$ 130 mil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318742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8901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· Prontuário eletrônico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47271" y="318742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61568" y="328901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 Diagnóstica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36766" y="318742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51063" y="328901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18690" y="318742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432987" y="328901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0352" y="318742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184649" y="328901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R$ 518 mil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61981" y="362298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72457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 · Checkout e meios de pagamento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7271" y="362298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561568" y="372457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Supermercados Bom Preço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36766" y="362298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651063" y="372457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318690" y="362298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432987" y="372457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070352" y="362298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84649" y="372457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R$ 310 mil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1981" y="405854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16013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PRJ-027 · Migração do mainframe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447271" y="405854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561568" y="416013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Corretora Valor Real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536766" y="405854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651063" y="416013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18690" y="405854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432987" y="416013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0,79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070352" y="405854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184649" y="416013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R$ 497 mil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61981" y="4494100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76278" y="459569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PRJ-054 · Migração do mainframe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47271" y="4494100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561568" y="459569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36766" y="4494100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651063" y="459569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318690" y="4494100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432987" y="459569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0,93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070352" y="4494100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184649" y="459569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R$ 410 mil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61981" y="500585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14377" y="504395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trabalho entregue ÷ trabalho que devia estar pronto.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Abaixo de 0,8 é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abaixo de 0,9, atenção (mais 10 projetos).</a:t>
            </a:r>
            <a:endParaRPr lang="en-US" sz="1100" dirty="0"/>
          </a:p>
        </p:txBody>
      </p:sp>
      <p:pic>
        <p:nvPicPr>
          <p:cNvPr id="8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2" name="Text 79"/>
          <p:cNvSpPr txBox="1"/>
          <p:nvPr/>
        </p:nvSpPr>
        <p:spPr>
          <a:xfrm>
            <a:off x="10983936" y="6387940"/>
            <a:ext cx="4636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 / 121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QUANTO CUSTA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vai perder?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QUALIFY ROW_NUMBER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... = 1)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spi, cpi, farol,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eac,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- orcamento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orcamento / cpi - orcamento))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()  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estouro_total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LEAST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(spi, cpi);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aritmética de KPI, janela (SUM OVER). EV = orçamento × % pronto; CPI = EV ÷ custo; EAC = orçamento ÷ CPI.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críticos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atenção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melancias: verdes para o gerente, abaixo de 0,9 pelo número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exemplo-06-quanto-custa-o-atraso.sql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Responde a pergunta 2 do dono.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 / 121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PERGUNTA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custa: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farol mente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previsto: EAC − orçamento, só de quem estoura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risco: 7 críticos e 10 em atenção, de 41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melancias: farol verde do gerente com SPI abaixo de 0,9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322125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316519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melancias: verdes por fora, vermelhas por dentro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665644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 · PRJ-028 · PRJ-034 · PRJ-042: o gerente publicou verde na sexta; o número diz atraso. A regra da Vértice é verde só com SPI ≥ 0,95.</a:t>
            </a:r>
            <a:endParaRPr lang="en-US" sz="13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4411" y="6387940"/>
            <a:ext cx="4735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 / 121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AI/BI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AI/BI Dashboard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7834" r="7834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painel publicado sobre tabelas do Unity Catalog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filtros, páginas, agenda por e-mail e "Ask Genie" embaixo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versionado em JSON, no repositório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sobre a bronze, noite 2 sobre a gold: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Portfólio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3 páginas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3220" y="6387940"/>
            <a:ext cx="47475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/ 121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1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SQLs prontos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aba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1926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3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dashboard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24347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683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renomeie: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Noite 1 (bronze)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24635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713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Create from 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cole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6278" y="2960812"/>
            <a:ext cx="20692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094555" y="2960812"/>
            <a:ext cx="47952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NO GITHUB (COPIE E COLE)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33928" y="2960812"/>
            <a:ext cx="3516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 TRAZER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1981" y="325925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278" y="3360852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0258" y="325925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94555" y="3360852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dashboard-dataset-projetos.sql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9631" y="325925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33928" y="3360852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linhas: SPI, CPI, situação, farol, estouro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1981" y="369481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3796411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por mês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980258" y="369481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94555" y="3796411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dashboard-dataset-custos.sql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9631" y="369481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3928" y="3796411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 com mês e categoria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23197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427007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primeiro dataset lê a view do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rode o 05 antes. Repare no SQL: CAST, replace e try_to_date em toda coluna. É o preço de ler a bronze.</a:t>
            </a:r>
            <a:endParaRPr lang="en-US" sz="11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010228" y="6387940"/>
            <a:ext cx="4362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 / 121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2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gráficos: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visualization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um prompt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89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92303" y="1582301"/>
            <a:ext cx="82400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DIGITE NO QUADRO DO GRÁFICO (ASSISTENTE)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8006" y="188074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303" y="1982341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valor_contrato, em reais, título "Carteira em andamento"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1981" y="2291499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393096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risco · críticos · melancias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8006" y="2291499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92303" y="2393096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em_risco (depois: critico; depois: melancia)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1981" y="270225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0385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por projeto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78006" y="270225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92303" y="280385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horizontais com o SPI de cada projeto, do menor para o maior, cor pela situacao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1981" y="311301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14607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ferramenta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8006" y="311301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92303" y="3214607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com a quantidade de projetos por ferramenta, cor pela situacao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1981" y="3523765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2536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8006" y="3523765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92303" y="362536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do custo (soma de valor) por mês, cor pela categoria, dataset Custos por mês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1981" y="393452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36118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78006" y="393452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92303" y="4036118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com projeto, cliente, ferramenta, spi, cpi, situacao, farol, estouro_previsto e atraso_projetado_dias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1981" y="442147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377" y="445957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 no topo: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R$ 208,6 mi · 17 em risco · 7 críticos · 4 melancias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Depois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(canto superior direito). Prompts e o jeito "à mão":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passo-a-passo-dashboard-e-genie.md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981356" y="6387940"/>
            <a:ext cx="4662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 / 121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da bronze,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publicado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221" r="13221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3221" r="13221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Noite 1 (bronze)": funciona, mas cada gráfico repete o CASE, o replace e a conversão de data. Na noite 2 isso some.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 / 121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GENIE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Agent: pergunta em português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1015" r="11015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tela do dono: as 4 perguntas já sugeridas, modo Agent ligado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89" r="10689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curadoria: instruções, SQL de exemplo e benchmark (20/20 na noite 2)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curadoria, na bronze, ele erra (noite 1). Com metric view e instruções, acerta (noite 2).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526" y="6387940"/>
            <a:ext cx="4754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/ 121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GENIE PASSO A PASSO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o Genie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fazer as 4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2519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7729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(2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New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marque projetos, status_semanal, excel_tarefas, clickup_tarefas, msproject_tarefas, colaboradores, apontamentos e custos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renomeie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· Noite 1 (bronze, sem curadoria)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66088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57833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instrução: é de propósito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565931"/>
          </a:xfrm>
          <a:prstGeom prst="roundRect">
            <a:avLst>
              <a:gd name="adj" fmla="val 593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9414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8342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e cole, uma de cada vez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153787"/>
            <a:ext cx="4985895" cy="128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Quais projetos estão atrasados, e de quais clientes?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Quanto esse atraso vai me custar?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Tenho gente parada enquanto outro projeto pede gente?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vai dar errado no próximo mês?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557102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code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cada resposta e compare com os exemplos 05 e 06.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/ 121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GENIE SEM CURADORIA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na bronze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727" r="15727" t="0" b="0"/>
          <a:stretch/>
        </p:blipFill>
        <p:spPr>
          <a:xfrm>
            <a:off x="761981" y="1455304"/>
            <a:ext cx="5238619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34886"/>
          </a:xfrm>
          <a:prstGeom prst="roundRect">
            <a:avLst>
              <a:gd name="adj" fmla="val 5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8848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7352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erra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 que hoje é 16/10/2026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270564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 a linha de TOTAL do Excel e as tarefas-resumo do Project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75811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vê 4 CodeForges diferentes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12253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3998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com confiança: "nenhum atraso custa nada"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39805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65736" y="3436157"/>
            <a:ext cx="482740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de IA é o mesmo da noite 2. O que muda é o que está embaixo dele.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3121" y="6387940"/>
            <a:ext cx="47485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 / 121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80315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FRASE DO PRIMEIRO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126998"/>
            <a:ext cx="11094443" cy="170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"São 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projetos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risco, espalhados em três ferramentas. Quatro deles estão com farol verde."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79991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que você responde ao dono no fim da noite 1. Na noite 4, a frase vem com o quanto custa, a causa e a decisão.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83539" y="6387940"/>
            <a:ext cx="4640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 / 121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prompts no Claude Code viram um projeto de verdade: pipeline, testes, IA nos textos, métrica governada, dashboard e Genie, tudo em código.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e bundle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"disco" do Databricks: pastas, notebooks, arquivos SQL, dashboards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deploy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copia o repositório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.bundle/vertice/dev/files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código vem do Git, nunca é editado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em diante: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/ 121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965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61956" y="1582301"/>
            <a:ext cx="4007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1095" y="1880744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5392" y="1982341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47659" y="1880744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956" y="1982341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095" y="2308068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5392" y="2409666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47659" y="2308068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61956" y="2409666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095" y="2735393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5392" y="2836990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47659" y="2735393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61956" y="2836990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 de qualidade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1095" y="3162717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5392" y="3264314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47659" y="3162717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61956" y="3264314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1095" y="3590041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05392" y="3691639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47659" y="3590041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1956" y="3691639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1095" y="4017366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5392" y="4118963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47659" y="4017366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61956" y="4118963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e Genie como código</a:t>
            </a:r>
            <a:endParaRPr lang="en-US" sz="105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83638" y="6387940"/>
            <a:ext cx="46391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 / 121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JOBS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de tudo que roda sozinho, com agenda e as últimas execuções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 e verde lado a lado: o histórico conta a história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(agendado, pausado no ensaio) e o pipeline. Os ✕ são os ensaios com erro, corrigidos no código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020646" y="6387940"/>
            <a:ext cx="42543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 / 121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91774" y="6387940"/>
            <a:ext cx="4554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 / 121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 verdes,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minutos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85976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4225" y="3661080"/>
            <a:ext cx="87538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699179"/>
            <a:ext cx="7254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84225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s · as 9 tabelas da bronze, contadas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73363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95608" y="3661080"/>
            <a:ext cx="7808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84505" y="3699179"/>
            <a:ext cx="6271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medalhão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 · silver + gold no pipeline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4745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6990" y="3661080"/>
            <a:ext cx="13675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5888" y="3699179"/>
            <a:ext cx="12373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+ testes + métrica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6990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~30 s · só status novo vai para a 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896128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18372" y="3661080"/>
            <a:ext cx="17463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207270" y="3699179"/>
            <a:ext cx="163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→ modelo → score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118372" y="4073820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~2,5 min · noite 3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 / 121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LAKEFLOW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pipeline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20118"/>
            <a:ext cx="6455308" cy="27881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escreve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quê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(SQL de cada tabela), o Databricks resolve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 ordem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desenha o grafo sozinho, a partir dos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expectativas de qualidade em cada tabela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vertice_medalhao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as 3 ferramentas desaguando em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silver.tarefas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82844" y="6387940"/>
            <a:ext cx="464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/ 121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83936" y="6387940"/>
            <a:ext cx="4636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121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83539" y="6387940"/>
            <a:ext cx="4640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 / 121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93956" y="6387940"/>
            <a:ext cx="4531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 / 121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84035" y="6387940"/>
            <a:ext cx="4635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 / 121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LINEAGE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Lineage: de onde veio, para onde vai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698" r="14698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lista: quem lê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projeto_situacao_atual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(Genie, dashboard, metric view, job) e de onde ela vem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9246" r="9246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grafo: silver → gold → metric view e as features do ml, coluna a coluna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28425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32235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desenhou isto. O Unity Catalog anota sozinho cada leitura e cada escrita.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84432" y="6387940"/>
            <a:ext cx="4630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 / 121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3716" y="6387940"/>
            <a:ext cx="4742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 / 121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1 DE 5 · GOLD.PROJETO_SITUACAO_ATUAL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10724" y="6387940"/>
            <a:ext cx="4357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 / 121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2 DE 5 · GOLD.FATO_PROJETO_SEMANA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1852" y="6387940"/>
            <a:ext cx="4657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 / 121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3 DE 5 · GOLD.UTILIZACAO_PESSOA_SEMANA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 / 121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FUNÇÕES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Funções de IA dentro do SQL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232" r="102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ai_query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ai_parse_document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IA como função SQL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sobre a tabela inteira, sem API key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a causa de cada bloqueio, lida no texto livre do status semanal. O PRJ-011 grita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há 12 semanas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3022" y="6387940"/>
            <a:ext cx="4749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 / 121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GOLD.STATUS_ESTRUTURADO · A FUNÇÃO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85 / 121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A IA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3617" y="6387940"/>
            <a:ext cx="474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 / 121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GOLD.MV_PROJETOS · A MÉTRICA GOVERNADA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84035" y="6387940"/>
            <a:ext cx="4635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 / 121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METRIC 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Metric view: a fórmula num lugar só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0" y="1182261"/>
            <a:ext cx="5917850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KPI, não o número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MEASURE(cpi)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sempre ΣEV ÷ ΣAC, em qualquer grão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comentário de cada medida ensina o Genie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uma metric view só, a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mv_projetos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11 medidas: SPI 0,92 · CPI 0,97 · 7 críticos · 4 melancias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4113" y="6387940"/>
            <a:ext cx="473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 / 121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4510" y="6387940"/>
            <a:ext cx="4734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 / 121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COMO CÓDIGO · PORTFÓLIO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Portfólio",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sobre a gold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657" r="15657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376" r="14376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páginas: Portfólio, Pessoas e Fornecedores. É um JSON no Git, gerado por script e publicado pelo bundle: tem diff, revisão e rollback.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4113" y="6387940"/>
            <a:ext cx="473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/ 121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· FORNECEDORES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promete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não cumpre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27483"/>
            <a:ext cx="5238619" cy="279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5392" y="1455304"/>
            <a:ext cx="28111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237035" y="1455304"/>
            <a:ext cx="21615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÷ PROMETIDO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91095" y="1753747"/>
            <a:ext cx="2931642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5392" y="185534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(4 grafias)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122738" y="1753747"/>
            <a:ext cx="23069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37035" y="185534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1095" y="218930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5392" y="229090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122738" y="218930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7035" y="229090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1095" y="262486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5392" y="272646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22738" y="262486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37035" y="272646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91095" y="3060425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5392" y="316202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SecureOps Segurança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122738" y="3060425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237035" y="316202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1095" y="3495984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5392" y="3597582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Pixel Design Studio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122738" y="3495984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237035" y="3597582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1011121" y="6387940"/>
            <a:ext cx="4353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 / 121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QUERY HISTORY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Query History: o que cada um perguntou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consulta que passou pelo warehouse: quem, quando, quanto tempo, de onde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 o plano e o perfil de cada uma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 SQL que o Genie escreveu por trás de cada resposta. É assim que se audita a 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82249" y="6387940"/>
            <a:ext cx="46536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 / 121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GENIE CURADO · "FAROL · DIRETORIA"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modelo de IA,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acerta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493" r="14493" t="0" b="0"/>
          <a:stretch/>
        </p:blipFill>
        <p:spPr>
          <a:xfrm>
            <a:off x="761981" y="1455304"/>
            <a:ext cx="5257669" cy="393690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493" r="14493" t="0" b="0"/>
          <a:stretch/>
        </p:blipFill>
        <p:spPr>
          <a:xfrm>
            <a:off x="6172046" y="1455304"/>
            <a:ext cx="5257669" cy="39369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455704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com COMMENT em toda tabela, a metric view, instruções de negócio ("hoje é 16/10/2026", as regras de corte) e 9 SQLs de exemplo. Também é código no bundle.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80066" y="6387940"/>
            <a:ext cx="4676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 / 121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acerta, com instrução e exemplo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973319" y="6387940"/>
            <a:ext cx="4746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94 / 121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tarefas a mais no mesmo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4824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132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features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ml.features_projeto_semana: uma linha por projeto e semana, só olhando para trás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12315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10959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comparação com as regras de hoje, MLflow e registro no Unity Catalog (@prod)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11097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969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score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gold.score_estouro_30d: probabilidade, ranking, faixa e motivos em português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4225" y="3367499"/>
            <a:ext cx="1656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3123" y="3405598"/>
            <a:ext cx="1538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laboratório: schema ml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4225" y="3780239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features, métricas e o modelo moram fora da gold. Na gold fica só a resposta: o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1095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13340" y="3367499"/>
            <a:ext cx="5251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237" y="3405598"/>
            <a:ext cx="36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13340" y="3742140"/>
            <a:ext cx="4794130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0185" y="3913586"/>
            <a:ext cx="4583061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451106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tarefas, 4 a 5 minutos.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 / 121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NOTEBOOK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Notebook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texto, código e resultado na mesma página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Python, SQL, Scala ou R, célula a célula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tarefa de job sem mudar uma linha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624766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662865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037506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02-modelo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03-score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que treinam e pontuam o modelo dentro do job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84432" y="6387940"/>
            <a:ext cx="4630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97 / 121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AS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descreve um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vai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7729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19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o pior dos dois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físico × % do prazo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97708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8312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em 4 e 8 semanas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semanas com CPI caindo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86669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7164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do último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66868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9112" y="1779146"/>
            <a:ext cx="9753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8010" y="1817245"/>
            <a:ext cx="8295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e custo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da equipe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do custo em consultoria 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8911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79608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saídas do squad em 12 semanas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1981" y="3221651"/>
            <a:ext cx="10667733" cy="1003573"/>
          </a:xfrm>
          <a:prstGeom prst="roundRect">
            <a:avLst>
              <a:gd name="adj" fmla="val 15185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984225" y="3418497"/>
            <a:ext cx="316628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73123" y="3456596"/>
            <a:ext cx="3108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do gerente, já classificado pela IA da noite 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84225" y="3831236"/>
            <a:ext cx="10632174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quantos dos últimos 4 status citaram freeze, falta de SRE, fornecedor, rotatividade, escopo, retrabalho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1981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225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84225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(projeto × semana)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7124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99369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1.643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4599369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de treino, com rótulo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992267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14512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16,7%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8214512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base: estoura em 30 dias</a:t>
            </a:r>
            <a:endParaRPr lang="en-US" sz="115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74510" y="6387940"/>
            <a:ext cx="4734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 / 121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MODELO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mais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hoje?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9508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PREVÊ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65269" y="1582301"/>
            <a:ext cx="5035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78039" y="1582301"/>
            <a:ext cx="4926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LEITURA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atual (SPI ou CPI &lt; 0,9)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50972" y="1880744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269" y="1982341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63742" y="1880744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8039" y="1982341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vê o que já aconteceu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da folga (quem está mais perto de 0,9)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50972" y="2332773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65269" y="243437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3742" y="2332773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78039" y="243437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baseline honesto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4988991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(HistGradientBoosting)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50972" y="2784802"/>
            <a:ext cx="712770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65269" y="288640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63742" y="2784802"/>
            <a:ext cx="4965973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8039" y="288640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 da folga, sem vazamento (assert &lt; 0,98)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4225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10</a:t>
            </a:r>
            <a:endParaRPr lang="en-US" sz="3300" dirty="0"/>
          </a:p>
        </p:txBody>
      </p:sp>
      <p:sp>
        <p:nvSpPr>
          <p:cNvPr id="27" name="Text 25"/>
          <p:cNvSpPr txBox="1"/>
          <p:nvPr/>
        </p:nvSpPr>
        <p:spPr>
          <a:xfrm>
            <a:off x="984225" y="4068661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estouros do teste apareceram no top 5 da semana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7124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99369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dias</a:t>
            </a:r>
            <a:endParaRPr lang="en-US" sz="3300" dirty="0"/>
          </a:p>
        </p:txBody>
      </p:sp>
      <p:sp>
        <p:nvSpPr>
          <p:cNvPr id="30" name="Text 28"/>
          <p:cNvSpPr txBox="1"/>
          <p:nvPr/>
        </p:nvSpPr>
        <p:spPr>
          <a:xfrm>
            <a:off x="4599369" y="4068661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antecedência, em média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92267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4512" y="3573373"/>
            <a:ext cx="311257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corte no tempo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214512" y="448775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 até mar/2026, testa a partir de abr/2026: o futuro nunca entra no treino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74907" y="6387940"/>
            <a:ext cx="4730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 / 121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MLFLOW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MLflow: o caderno do cientista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8118" r="8118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vira uma execução: parâmetros, métricas, gráficos, o modelo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comparar treinos lado a lado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AUC 0,92 contra 0,50 da regra atual. 9 de 10 estouros avisados com 41 dias de antecedência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8871" y="6387940"/>
            <a:ext cx="5208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/ 121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MODELOS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no Unity Catalog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358753"/>
            <a:ext cx="6455308" cy="37109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é objeto de catálogo, como uma tabela: dono, permissão, versões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alias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@prod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diz qual versão o job usa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trocar de versão é mover o alias, não reescrever código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ml.modelo_estouro_30d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@prod, no laboratório do cientista. O score sai em lote, gravado na gold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65878" y="6387940"/>
            <a:ext cx="4823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 / 121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GOLD.SCORE_ESTOURO_30D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que o dono abre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segunda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706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365117" y="1582301"/>
            <a:ext cx="83043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392203" y="1582301"/>
            <a:ext cx="5699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168868" y="1582301"/>
            <a:ext cx="6175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FAIXA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991272" y="1582301"/>
            <a:ext cx="7617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MOTIVOS (EM PORTUGUÊS)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0820" y="1880744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65117" y="198234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77906" y="1880744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92203" y="198234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571" y="1880744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68868" y="198234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76975" y="1880744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91272" y="198234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0,63; ritmo do último mês em 56% do planejado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1981" y="2299833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0143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50820" y="2299833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65117" y="240143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77906" y="2299833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92203" y="240143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54571" y="2299833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68868" y="240143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76975" y="2299833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991272" y="240143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0,77; falta de SRE em 4 dos últimos 4 status; 38% das horas paradas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1981" y="2718923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2052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50820" y="2718923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65117" y="282052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77906" y="2718923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92203" y="282052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54571" y="2718923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68868" y="282052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6975" y="2718923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991272" y="282052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status semanal o índice já é 0,90: o cronograma da ferramenta diz 0,94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1981" y="3138012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3961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250820" y="3138012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365117" y="323961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77906" y="3138012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392203" y="323961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0,46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571" y="3138012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68868" y="323961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76975" y="3138012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991272" y="323961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0,01 do corte de 0,9 (índice 0,91)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61981" y="3557102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65869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250820" y="3557102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365117" y="365869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77906" y="3557102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92203" y="365869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54571" y="3557102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68868" y="365869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876975" y="3557102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91272" y="365869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0,00 do corte; consultoria atrasando em 2 dos últimos 4 status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61981" y="3976191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07778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250820" y="3976191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365117" y="407778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77906" y="3976191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392203" y="407778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54571" y="3976191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68868" y="407778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876975" y="3976191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991272" y="407778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ritmo do último mês em 74%; squad perdendo gente: 2 saídas em 12 semanas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61981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84225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4 · 19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984225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 · médio · baixo, dos 41 em andamento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377124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99369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74" name="Text 72"/>
          <p:cNvSpPr txBox="1"/>
          <p:nvPr/>
        </p:nvSpPr>
        <p:spPr>
          <a:xfrm>
            <a:off x="4599369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críticos ou em atenção: probabilidade 1,0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992267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0059D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214512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8214512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"ok" para a regra, mas com risco alto ou médio</a:t>
            </a:r>
            <a:endParaRPr lang="en-US" sz="1150" dirty="0"/>
          </a:p>
        </p:txBody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10937006" y="6387940"/>
            <a:ext cx="5124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102 / 121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SCORE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57" y="1455304"/>
            <a:ext cx="6657581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103 / 121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"UAU"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hoje, 46% de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2084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718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de hoje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0,91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diz ok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7124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369" y="1779146"/>
            <a:ext cx="74015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8266" y="1817245"/>
            <a:ext cx="584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99369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99369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cruzar 0,9 nos próximos 30 dias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2267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4512" y="1779146"/>
            <a:ext cx="9247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3410" y="1817245"/>
            <a:ext cx="7768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14512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214512" y="2610975"/>
            <a:ext cx="31125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change freeze da Black Friday: marketplace sem deploy até 10/01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89744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86589"/>
            <a:ext cx="19683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824688"/>
            <a:ext cx="18621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 lição de qualidade: PRJ-013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199329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status de sexta diz 43%; a planilha diz 45%. O modelo usa o boletim e vê índice 0,90; a ferramenta diz 0,94. Quando as fontes não batem, o modelo avisa antes de o número "melhorar" no papel.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28176" y="6387940"/>
            <a:ext cx="5216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104 / 121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16916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QUINTA, 22/10 · ENGENHEIRO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49300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dado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decisão do dono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37825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lê os contratos em PDF, a Torre vira um app, e a decisão fica gravada com nome e hora.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script que sobe tudo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0384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064890" y="1582301"/>
            <a:ext cx="8580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agente de contratos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0593" y="1880744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4890" y="1982341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ai_parse_document + ai_extract nos 8 PDFs →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gold.contratos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Genie "Farol · Diretoria + Contratos"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1981" y="2316303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1790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o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50593" y="2316303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4890" y="241790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farol-torre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(AppKit): Projetos em risco, Simulador, Perguntar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1981" y="2751862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5346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aprovação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50593" y="2751862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4890" y="285346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Decisões, gravando no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(Postgres) com o usuário e o horário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1981" y="3301719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826" y="3473165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zero, na ordem que funciona: Lakebase → contratos → Genie → app</a:t>
            </a:r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aulas/aula-04-engenheiro-ia/torre-app/scripts/subir-tudo.sh SEU-PERFIL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981" y="413989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17799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é um usuário do Unity Catalog: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conceder-acesso.sh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dá USE e SELECT na gold e na silver antes do build. O primeiro acesso pede "Authorize", feito por uma pessoa.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28771" y="6387940"/>
            <a:ext cx="5209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106 / 121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AGENTE QUE LÊ CONTRATO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PDFs,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na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39189" y="6387940"/>
            <a:ext cx="5101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107 / 121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 LIÇÃO DO AI_EXTRACT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schema, texto.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schema, dado.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3938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920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15688"/>
            <a:ext cx="4794130" cy="1005656"/>
          </a:xfrm>
          <a:prstGeom prst="roundRect">
            <a:avLst>
              <a:gd name="adj" fmla="val 11365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1070" y="2287133"/>
            <a:ext cx="4583061" cy="669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{"multa_atraso": "0,2% do valor da entrega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atrasada por dia corrido, limitada a 5%",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"renovacao_automatica": "renovado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automaticamente por mais 12 meses"}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97542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dá para somar nem comparar.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1095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13340" y="1779146"/>
            <a:ext cx="170443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2237" y="1817245"/>
            <a:ext cx="15877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JSON schema tipado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3340" y="2115688"/>
            <a:ext cx="4794130" cy="1171347"/>
          </a:xfrm>
          <a:prstGeom prst="roundRect">
            <a:avLst>
              <a:gd name="adj" fmla="val 975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0185" y="2287133"/>
            <a:ext cx="4583061" cy="83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multa_atraso_pct_dia  0.5 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teto_multa_pct        10.0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renovacao_automatica  true    (boolean)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aviso_previo_dias     90      (integer)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data_fim_vigencia     2026-12-31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13340" y="3363233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coluna: filtra, soma, cruza com as entregas.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29267" y="6387940"/>
            <a:ext cx="5204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108 / 121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PDF virou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e coluna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00994"/>
            <a:ext cx="5257669" cy="24645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062014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contrato por linha: fornecedor e objeto, lidos do PDF.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95964"/>
            <a:ext cx="5257669" cy="24745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5062014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colunas tipadas: data, booleano, inteiro e decimal. null = contrato sem multa por atraso.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29664" y="6387940"/>
            <a:ext cx="52005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109 / 121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· O QUE O CONTRATO DIZ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Dinheiro na mesa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prazo vencendo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8964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7873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cobrável da CodeForge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R$ 1,12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entregas atrasadas na vigência atual × 0,5% ao dia, com teto de 10% por entrega (cláusula 6). Dá para descontar das próximas faturas.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8967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7403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prévio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13340" y="2115688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7637" y="221728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Cloud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84777" y="2115688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9074" y="221728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14 dias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13340" y="253477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7637" y="263637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84777" y="253477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9074" y="263637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15 dias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13340" y="295386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27637" y="305546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Observa360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4777" y="295386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9074" y="305546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 em 15 dias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13340" y="3372956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27637" y="347455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84777" y="3372956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9074" y="347455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dias · não renova sozinho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13340" y="381744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e DataPrime renovaram sozinhos: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R$ 21,4 mi/ano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65878" y="6387940"/>
            <a:ext cx="4823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110 / 121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APPS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Apps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95404"/>
            <a:ext cx="6455308" cy="34376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site de verdade (React + Node) hospedado no workspace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do warehouse, grava no Lakebase, conversa com o Genie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1º acesso, cada pessoa clica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Authorize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app age em nome dela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projetos em risco, o simulador COL0017 → PRJ-011 e o botão Aprovar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02787" y="6387940"/>
            <a:ext cx="4440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 / 121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1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9685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8223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mostra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 (7 críticos, 4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270564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6349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55243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multa a cobrar de fornecedor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29168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283431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alto risco em 30 dias (modelo da noite 3)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40440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321860"/>
            <a:ext cx="3530575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com SPI, CPI, farol, estouro, atraso, a causa que a IA leu e a probabilidade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a gold pelo SQL warehouse: os mesmos números do dashboard e do Genie.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112 / 121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2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Simulador: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se eu mover essa pessoa?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2486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1136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→ PRJ-011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SRE sênior a 6% no PRJ-007, que ainda está no discovery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 h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paradas viram produção no mês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758113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dias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cronograma recuperados no PRJ-011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R$ 30.123 de ociosidade a menos − R$ 7.992 de mobilização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8157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73321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saldo de R$ 22.131/mês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recuperados vêm do que a IA leu no status: 57 dias de impacto por falta de SRE.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1831" y="6387940"/>
            <a:ext cx="47619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113 / 121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LAKEBASE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Lakebase: um Postgres dentro do Databricks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640" r="10640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Postgres 17, 1 CU, branch production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40" r="10640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tabela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torre.decisoes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onde o app grava cada aprovação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lakehouse é ótimo para ler muito. O Lakebase é para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gravar uma linha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milissegundos: a decisão do dono.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65084" y="6387940"/>
            <a:ext cx="48321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 / 121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3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gravadas no Lakebase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968" y="1455304"/>
            <a:ext cx="4132645" cy="26669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04229"/>
          </a:xfrm>
          <a:prstGeom prst="roundRect">
            <a:avLst>
              <a:gd name="adj" fmla="val 58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107550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9336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simulador, o dono escreve a justificativa e aprova ou recusa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47624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vai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torre.decisoes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num Postgres do Lakebase, com o usuário do login e o horário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9637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lista o histórico: quem decidiu o quê, quando e por quê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5338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45133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analítico na gold (warehouse); transação no Lakebase (Postgres)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015" y="4274634"/>
            <a:ext cx="2981665" cy="158746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966176" y="6387940"/>
            <a:ext cx="482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115 / 121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4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dentro da Torre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2192878"/>
          </a:xfrm>
          <a:prstGeom prst="roundRect">
            <a:avLst>
              <a:gd name="adj" fmla="val 69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8536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7428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"Farol · Diretoria + Contratos"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projetos, causa do atraso, gente parada, risco em 30 dias e o contrato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dá para cobrar de multa da CodeForge?"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R$ 1.122.967,66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120 entregas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96378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SQL que rodou: dá para conferir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benchmark: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 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certas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65779" y="6387940"/>
            <a:ext cx="4824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/ 121</a:t>
            </a:r>
            <a:endParaRPr lang="en-US" sz="10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PITCH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Torre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no ano 1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R$ 3,0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valor no ano 1: multa cobrada, atraso evitado, gente realocada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R$ 0,4 mi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custo para construir e manter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noites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Excel espalhado à decisão gravada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142633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12984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dono ganhou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84225" y="36719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4721" y="3589446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segunda: quem atrasa, quanto custa, quem está parado, o que vem aí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4225" y="395386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4721" y="3871320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farol que segue o número, não a percepção do gerente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4225" y="423574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74721" y="4153193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contrato na conversa: multa cobrada e renovação decidida, não automática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6197" y="6387940"/>
            <a:ext cx="4716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 / 121</a:t>
            </a:r>
            <a:endParaRPr lang="en-US" sz="1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ENTREGÁVEIS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workspace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 da quinta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2270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284752" y="1582301"/>
            <a:ext cx="93918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analista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0455" y="1880744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4752" y="1982341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e volume · 9 tabelas na bronze · 6 exemplos SQL · dashboard "Projeto Farol · Noite 1 (bronze)" · Genie "Farol · Noite 1 (bronze, sem curadoria)"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48139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58299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engenheiro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70455" y="248139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4752" y="258299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vertice · job vertice_farol · pipeline vertice_medalhao · silver (7) · gold (5) · IA nos status · mv_projetos · 10 testes · dashboard "Projeto Farol · Portfólio" · Genie "Farol · Diretoria"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3082054"/>
            <a:ext cx="140847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3183652"/>
            <a:ext cx="122707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cientista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70455" y="3082054"/>
            <a:ext cx="925925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84752" y="3183652"/>
            <a:ext cx="9391891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 · experimento MLflow · modelo ml.modelo_estouro_30d @prod · gold.score_estouro_30d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50937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61097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engenheiro de 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70455" y="350937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4752" y="361097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farol_contratos · gold.contratos · Genie "Farol · Diretoria + Contratos" · app farol-torre (4 abas) · Lakebase farol-torre · pitch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66275" y="6387940"/>
            <a:ext cx="4819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118 / 121</a:t>
            </a:r>
            <a:endParaRPr lang="en-US" sz="1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DE REFERÊNCIA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o seu número bateu,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chegou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18/18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R$ 6,47 mi · 7 críticos · 4 melancias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0663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908" y="1779146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806" y="1817245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2908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20/20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2908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4.917 tarefas · 163 status com IA · CodeForge ×1,41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9346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1590" y="1779146"/>
            <a:ext cx="5686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0488" y="1817245"/>
            <a:ext cx="4064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1590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1590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· 9 de 10 avisados · 41 dias antes · PRJ-024 em 46%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58029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0273" y="1779146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69171" y="1817245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0273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10/10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0273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· R$ 1,12 mi de multa · 19 dias e R$ 22,1 mil/mês no simulador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500846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538945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tem um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esperado × obtido. "CONFIRA" quer dizer que o problema está na carga ou na query, não no dado: a seed é fixa.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66672" y="6387940"/>
            <a:ext cx="48156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 / 121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MAPA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que não existe está no último slide.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37006" y="6387940"/>
            <a:ext cx="5124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/ 121</a:t>
            </a:r>
            <a:endParaRPr lang="en-US" sz="10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39577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719617"/>
            <a:ext cx="11094443" cy="7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Bora </a:t>
            </a:r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68727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 · uma pasta por noite, com README, roteiro e verificação.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 · Imersão Databricks + Claude Code</dc:title>
  <dc:subject>PptxGenJS Presentation</dc:subject>
  <dc:creator>PptxGenJS</dc:creator>
  <cp:lastModifiedBy>PptxGenJS</cp:lastModifiedBy>
  <cp:revision>1</cp:revision>
  <dcterms:created xsi:type="dcterms:W3CDTF">2026-10-19T17:06:15Z</dcterms:created>
  <dcterms:modified xsi:type="dcterms:W3CDTF">2026-10-19T17:06:15Z</dcterms:modified>
</cp:coreProperties>
</file>
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notesMasterIdLst>
    <p:notesMasterId r:id="rId5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notesMaster" Target="notesMasters/notesMaster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jpe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jpe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image" Target="../media/image-23-2.jpe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image" Target="../media/image-25-2.jpe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image" Target="../media/image-27-2.jpe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image" Target="../media/image-33-2.jpeg"/><Relationship Id="rId3" Type="http://schemas.openxmlformats.org/officeDocument/2006/relationships/image" Target="../media/image-3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image" Target="../media/image-36-2.jpeg"/><Relationship Id="rId3" Type="http://schemas.openxmlformats.org/officeDocument/2006/relationships/image" Target="../media/image-3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image" Target="../media/image-3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image" Target="../media/image-38-2.jpeg"/><Relationship Id="rId3" Type="http://schemas.openxmlformats.org/officeDocument/2006/relationships/image" Target="../media/image-38-3.jpeg"/><Relationship Id="rId4" Type="http://schemas.openxmlformats.org/officeDocument/2006/relationships/image" Target="../media/image-3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image" Target="../media/image-40-2.jpeg"/><Relationship Id="rId3" Type="http://schemas.openxmlformats.org/officeDocument/2006/relationships/image" Target="../media/image-4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image" Target="../media/image-42-2.jpeg"/><Relationship Id="rId3" Type="http://schemas.openxmlformats.org/officeDocument/2006/relationships/image" Target="../media/image-4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image" Target="../media/image-4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image" Target="../media/image-44-2.jpeg"/><Relationship Id="rId3" Type="http://schemas.openxmlformats.org/officeDocument/2006/relationships/image" Target="../media/image-4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image" Target="../media/image-4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image" Target="../media/image-4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image" Target="../media/image-4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image" Target="../media/image-4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image" Target="../media/image-4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image" Target="../media/image-5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image" Target="../media/image-5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2007244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2 · TERÇA, 20/10 · ENGENHEIRO DE DADOS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2331086"/>
            <a:ext cx="11094443" cy="1554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120"/>
              </a:lnSpc>
              <a:buNone/>
            </a:pPr>
            <a:r>
              <a:rPr lang="en-US" sz="6000" b="1" spc="-120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Integrar</a:t>
            </a:r>
            <a:endParaRPr lang="en-US" sz="6000" dirty="0"/>
          </a:p>
          <a:p>
            <a:pPr algn="l" indent="0" marL="0">
              <a:lnSpc>
                <a:spcPts val="6120"/>
              </a:lnSpc>
              <a:buNone/>
            </a:pPr>
            <a:r>
              <a:rPr lang="en-US" sz="6000" b="1" spc="-120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uma vez, para sempre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761981" y="4075904"/>
            <a:ext cx="11094443" cy="647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0"/>
              </a:lnSpc>
              <a:buNone/>
            </a:pPr>
            <a:r>
              <a:rPr lang="en-US" sz="17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Python para buscar o dado, e cinco prompts no Claude Code que viram um projeto de verdade: pipeline, modelagem, testes, IA nos textos e métrica governada.</a:t>
            </a:r>
            <a:endParaRPr lang="en-US" sz="1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299043"/>
            <a:ext cx="3021135" cy="27939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2 · ANTES DE COMEÇAR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Três combinados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para hoje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3230085" cy="1595001"/>
          </a:xfrm>
          <a:prstGeom prst="roundRect">
            <a:avLst>
              <a:gd name="adj" fmla="val 9555"/>
            </a:avLst>
          </a:prstGeom>
          <a:solidFill>
            <a:srgbClr val="0059DB"/>
          </a:solidFill>
          <a:ln/>
        </p:spPr>
      </p:sp>
      <p:sp>
        <p:nvSpPr>
          <p:cNvPr id="5" name="Shape 3"/>
          <p:cNvSpPr/>
          <p:nvPr/>
        </p:nvSpPr>
        <p:spPr>
          <a:xfrm>
            <a:off x="984225" y="1779146"/>
            <a:ext cx="1615142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3123" y="1817245"/>
            <a:ext cx="1494840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Não precisa digitar junto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84225" y="2191886"/>
            <a:ext cx="2897020" cy="59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gravação, o código e os prompts ficam disponíveis. Se preferir, só assista e refaça depois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44462" y="1582301"/>
            <a:ext cx="3230184" cy="1595001"/>
          </a:xfrm>
          <a:prstGeom prst="roundRect">
            <a:avLst>
              <a:gd name="adj" fmla="val 9555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66706" y="1779146"/>
            <a:ext cx="1027384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455604" y="1817245"/>
            <a:ext cx="883572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nível de hoje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366706" y="2191886"/>
            <a:ext cx="2897123" cy="788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nenhum código à mão: você copia o prompt e o Claude Code escreve. Começamos montando o terminal juntos (6 passos)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527042" y="1582301"/>
            <a:ext cx="3902672" cy="1595001"/>
          </a:xfrm>
          <a:prstGeom prst="roundRect">
            <a:avLst>
              <a:gd name="adj" fmla="val 9555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49287" y="1779146"/>
            <a:ext cx="1144757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838185" y="1817245"/>
            <a:ext cx="1005640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Travou? Siga daí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7749287" y="2191886"/>
            <a:ext cx="3596510" cy="788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cada etapa tem o arquivo pronto no gabarito: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github.com/lvgalvao/ImersaoControlTower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pasta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aulas/aula-02-engenheiro/vertice/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Copie e continue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61981" y="3367797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377" y="3405896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cada entrega, um ponto de controle: </a:t>
            </a:r>
            <a:pPr algn="l" indent="0" marL="0">
              <a:lnSpc>
                <a:spcPts val="138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chegou aqui? comenta OK no chat</a:t>
            </a:r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Primeiro o terminal, depois uma API em Python, depois o projeto.</a:t>
            </a:r>
            <a:endParaRPr lang="en-US" sz="11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1099523" y="6387940"/>
            <a:ext cx="343399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51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2 · ONDE PARAMOS ONTEM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Ontem deu certo.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Mas foi tudo à mão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645799"/>
            <a:ext cx="2552636" cy="1728050"/>
          </a:xfrm>
          <a:prstGeom prst="roundRect">
            <a:avLst>
              <a:gd name="adj" fmla="val 8819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4225" y="1842645"/>
            <a:ext cx="575752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3123" y="1880744"/>
            <a:ext cx="41387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bronze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84225" y="2179186"/>
            <a:ext cx="2192473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b="1" spc="-52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984225" y="2585576"/>
            <a:ext cx="2192473" cy="59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tabelas de CSV, Excel, JSON e XML, lidas sem converter nada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67013" y="1645799"/>
            <a:ext cx="2552636" cy="1728050"/>
          </a:xfrm>
          <a:prstGeom prst="roundRect">
            <a:avLst>
              <a:gd name="adj" fmla="val 8819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89258" y="1842645"/>
            <a:ext cx="791051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778156" y="1880744"/>
            <a:ext cx="63778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pergunta 1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3689258" y="2179186"/>
            <a:ext cx="2192473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b="1" spc="-52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17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3689258" y="2585576"/>
            <a:ext cx="2192473" cy="59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projetos em risco, 7 críticos, com as 3 ferramentas juntadas numa view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72046" y="1645799"/>
            <a:ext cx="2552636" cy="1728050"/>
          </a:xfrm>
          <a:prstGeom prst="roundRect">
            <a:avLst>
              <a:gd name="adj" fmla="val 8819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94290" y="1842645"/>
            <a:ext cx="815260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83188" y="1880744"/>
            <a:ext cx="66296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pergunta 2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6394290" y="2179186"/>
            <a:ext cx="2192473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b="1" spc="-52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R$ 6,47 mi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6394290" y="2585576"/>
            <a:ext cx="2192473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estouro previsto, calculado em SQL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877078" y="1645799"/>
            <a:ext cx="2552636" cy="1728050"/>
          </a:xfrm>
          <a:prstGeom prst="roundRect">
            <a:avLst>
              <a:gd name="adj" fmla="val 8819"/>
            </a:avLst>
          </a:prstGeom>
          <a:solidFill>
            <a:srgbClr val="0059DB"/>
          </a:solidFill>
          <a:ln/>
        </p:spPr>
      </p:sp>
      <p:sp>
        <p:nvSpPr>
          <p:cNvPr id="20" name="Shape 18"/>
          <p:cNvSpPr/>
          <p:nvPr/>
        </p:nvSpPr>
        <p:spPr>
          <a:xfrm>
            <a:off x="9099323" y="1842645"/>
            <a:ext cx="514039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88220" y="1880744"/>
            <a:ext cx="349694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Genie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9099323" y="2179186"/>
            <a:ext cx="2192473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b="1" spc="-52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 de 4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9099323" y="2585576"/>
            <a:ext cx="2192473" cy="59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perguntas do dono certas na bronze: "nenhum atraso custa nada"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61981" y="3627843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4377" y="3665942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pergunta de hoje: sexta que vem os gerentes atualizam tudo de novo. Quem roda? Na mão?</a:t>
            </a:r>
            <a:endParaRPr lang="en-US" sz="11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11097340" y="6387940"/>
            <a:ext cx="345669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51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2 · ANTES DO PROMPT 1 · O TERMINAL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Seis passos,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uma vez só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3454314" cy="1397858"/>
          </a:xfrm>
          <a:prstGeom prst="roundRect">
            <a:avLst>
              <a:gd name="adj" fmla="val 10902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4225" y="1779146"/>
            <a:ext cx="1000298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3123" y="1817245"/>
            <a:ext cx="85540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· Python e Git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84225" y="2191886"/>
            <a:ext cx="3130218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python3 --version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3.10 a 3.12. Evite o 3.13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68691" y="1582301"/>
            <a:ext cx="3454314" cy="1397858"/>
          </a:xfrm>
          <a:prstGeom prst="roundRect">
            <a:avLst>
              <a:gd name="adj" fmla="val 10902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90935" y="1779146"/>
            <a:ext cx="1444787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79833" y="1817245"/>
            <a:ext cx="1317671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· a CLI do Databricks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590935" y="2191886"/>
            <a:ext cx="3130218" cy="59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brew install databricks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no Mac,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winget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no Windows. v0.250 ou mais nova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75401" y="1582301"/>
            <a:ext cx="3454314" cy="1397858"/>
          </a:xfrm>
          <a:prstGeom prst="roundRect">
            <a:avLst>
              <a:gd name="adj" fmla="val 10902"/>
            </a:avLst>
          </a:prstGeom>
          <a:solidFill>
            <a:srgbClr val="0059DB"/>
          </a:solidFill>
          <a:ln/>
        </p:spPr>
      </p:sp>
      <p:sp>
        <p:nvSpPr>
          <p:cNvPr id="13" name="Shape 11"/>
          <p:cNvSpPr/>
          <p:nvPr/>
        </p:nvSpPr>
        <p:spPr>
          <a:xfrm>
            <a:off x="8197645" y="1779146"/>
            <a:ext cx="721203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86543" y="1817245"/>
            <a:ext cx="565144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· o login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197645" y="2191886"/>
            <a:ext cx="3130218" cy="59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databricks auth login --profile vertice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Viu </a:t>
            </a:r>
            <a:pPr algn="l" indent="0" marL="0">
              <a:lnSpc>
                <a:spcPts val="155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refresh token is invalid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? Rode de novo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61981" y="3132555"/>
            <a:ext cx="3454314" cy="1397858"/>
          </a:xfrm>
          <a:prstGeom prst="roundRect">
            <a:avLst>
              <a:gd name="adj" fmla="val 10902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84225" y="3329400"/>
            <a:ext cx="1303702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73123" y="3367499"/>
            <a:ext cx="1170942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· o seu repositório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984225" y="3742140"/>
            <a:ext cx="3130218" cy="59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numa pasta nova, o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do curso na raiz e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 repo create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68691" y="3132555"/>
            <a:ext cx="3454314" cy="1397858"/>
          </a:xfrm>
          <a:prstGeom prst="roundRect">
            <a:avLst>
              <a:gd name="adj" fmla="val 10902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90935" y="3329400"/>
            <a:ext cx="1193373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679833" y="3367499"/>
            <a:ext cx="1056201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· o Claude Code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590935" y="3742140"/>
            <a:ext cx="3130218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abra na raiz do repositório e instale as skills: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databricks aitools install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975401" y="3132555"/>
            <a:ext cx="3454314" cy="1397858"/>
          </a:xfrm>
          <a:prstGeom prst="roundRect">
            <a:avLst>
              <a:gd name="adj" fmla="val 10902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97645" y="3329400"/>
            <a:ext cx="879552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86543" y="3367499"/>
            <a:ext cx="729827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· as travas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8197645" y="3742140"/>
            <a:ext cx="3130218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.claude/settings.json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proíbe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bundle destroy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 -rf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 --force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61981" y="4695509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14377" y="4733608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Daqui em diante, todo comando leva </a:t>
            </a:r>
            <a:pPr algn="l" indent="0" marL="0">
              <a:lnSpc>
                <a:spcPts val="138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--profile</a:t>
            </a:r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O profile é o apelido do seu login.</a:t>
            </a:r>
            <a:endParaRPr lang="en-US" sz="1100" dirty="0"/>
          </a:p>
        </p:txBody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11090593" y="6387940"/>
            <a:ext cx="352686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51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INGESTÃO · NA VIDA REAL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 empresa, o dado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não chega pronto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876278" y="1582301"/>
            <a:ext cx="113162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JEITO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2192977" y="1582301"/>
            <a:ext cx="458543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COMO FUNCIONA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830643" y="1582301"/>
            <a:ext cx="217885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QUANDO USAR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154288" y="1582301"/>
            <a:ext cx="2247574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FAROL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61981" y="1880744"/>
            <a:ext cx="1316699" cy="549857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76278" y="1982341"/>
            <a:ext cx="1131629" cy="346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Carga completa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078680" y="1880744"/>
            <a:ext cx="4637666" cy="549857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192977" y="1982341"/>
            <a:ext cx="4585435" cy="346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read_files</a:t>
            </a:r>
            <a:pPr algn="l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relê a pasta inteira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716346" y="1880744"/>
            <a:ext cx="2323645" cy="549857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30643" y="1982341"/>
            <a:ext cx="2178853" cy="346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pouco dado, primeira carga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39991" y="1880744"/>
            <a:ext cx="2389723" cy="549857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54288" y="1982341"/>
            <a:ext cx="2247574" cy="346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1: as 9 tabelas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61981" y="2481399"/>
            <a:ext cx="1316699" cy="549857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76278" y="2582996"/>
            <a:ext cx="1131629" cy="346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Incremental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078680" y="2481399"/>
            <a:ext cx="4637666" cy="549857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192977" y="2582996"/>
            <a:ext cx="4585435" cy="346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 Loader ou streaming table: lê só o arquivo novo e lembra onde parou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716346" y="2481399"/>
            <a:ext cx="2323645" cy="549857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30643" y="2582996"/>
            <a:ext cx="2178853" cy="346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pasta que recebe arquivo todo dia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039991" y="2481399"/>
            <a:ext cx="2389723" cy="549857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54288" y="2582996"/>
            <a:ext cx="2247574" cy="346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próximo passo da bronze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61981" y="3082054"/>
            <a:ext cx="1316699" cy="549857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76278" y="3183652"/>
            <a:ext cx="1131629" cy="346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Conector pronto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078680" y="3082054"/>
            <a:ext cx="4637666" cy="549857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2192977" y="3183652"/>
            <a:ext cx="4585435" cy="346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Lakeflow Connect: Salesforce, SQL Server, SharePoint, Google Drive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716346" y="3082054"/>
            <a:ext cx="2323645" cy="549857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830643" y="3183652"/>
            <a:ext cx="2178853" cy="346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fonte já tem conector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039991" y="3082054"/>
            <a:ext cx="2389723" cy="549857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154288" y="3183652"/>
            <a:ext cx="2247574" cy="346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recurso "Data Ingestion" de ontem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61981" y="3682709"/>
            <a:ext cx="1316699" cy="38287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76278" y="3784307"/>
            <a:ext cx="1131629" cy="179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API com Python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078680" y="3682709"/>
            <a:ext cx="4637666" cy="38287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2192977" y="3784307"/>
            <a:ext cx="4585435" cy="179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requests</a:t>
            </a:r>
            <a:pPr algn="l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busca, o Spark grava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716346" y="3682709"/>
            <a:ext cx="2323645" cy="38287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830643" y="3784307"/>
            <a:ext cx="2178853" cy="179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fonte sem conector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039991" y="3682709"/>
            <a:ext cx="2389723" cy="38287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154288" y="3784307"/>
            <a:ext cx="2247574" cy="179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daqui a pouco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61981" y="4116384"/>
            <a:ext cx="1316699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76278" y="4217981"/>
            <a:ext cx="1131629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Banco externo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078680" y="4116384"/>
            <a:ext cx="4637666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2192977" y="4217981"/>
            <a:ext cx="4585435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Lakehouse Federation: consulta o banco sem copiar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716346" y="4116384"/>
            <a:ext cx="2323645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830643" y="4217981"/>
            <a:ext cx="2178853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ERP em Postgres ou SQL Server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9039991" y="4116384"/>
            <a:ext cx="2389723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9154288" y="4217981"/>
            <a:ext cx="2247574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fora do escopo de hoje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761981" y="4645306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914377" y="4683405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Alguém precisa ir buscar. Quando a fonte não tem conector, entra o Python. E qualquer caminho termina no mesmo lugar: uma tabela na bronze.</a:t>
            </a:r>
            <a:endParaRPr lang="en-US" sz="1100" dirty="0"/>
          </a:p>
        </p:txBody>
      </p:sp>
      <p:pic>
        <p:nvPicPr>
          <p:cNvPr id="5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51" name="Text 48"/>
          <p:cNvSpPr txBox="1"/>
          <p:nvPr/>
        </p:nvSpPr>
        <p:spPr>
          <a:xfrm>
            <a:off x="11091585" y="6387940"/>
            <a:ext cx="351654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51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PYTHON · POR QUE ELE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SQL pergunta.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Python vai buscar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5257669" cy="1200715"/>
          </a:xfrm>
          <a:prstGeom prst="roundRect">
            <a:avLst>
              <a:gd name="adj" fmla="val 12692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4225" y="1779146"/>
            <a:ext cx="988889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3123" y="1817245"/>
            <a:ext cx="843537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Lê quase tudo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84225" y="2191886"/>
            <a:ext cx="5005707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API, banco de dados, Excel, PDF, JSON, XML, site. Se tem dado, tem uma biblioteca para ler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72046" y="1582301"/>
            <a:ext cx="5257669" cy="1200715"/>
          </a:xfrm>
          <a:prstGeom prst="roundRect">
            <a:avLst>
              <a:gd name="adj" fmla="val 12692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94290" y="1779146"/>
            <a:ext cx="2041276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83188" y="1817245"/>
            <a:ext cx="193801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Uma biblioteca para cada coisa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394290" y="2191886"/>
            <a:ext cx="5005707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ninguém escreve do zero: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requests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para API,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pandas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para tabela,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scikit-learn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para modelo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61981" y="2935413"/>
            <a:ext cx="5257669" cy="1200715"/>
          </a:xfrm>
          <a:prstGeom prst="roundRect">
            <a:avLst>
              <a:gd name="adj" fmla="val 12692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84225" y="3132258"/>
            <a:ext cx="1327117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73123" y="3170357"/>
            <a:ext cx="1195294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Roda em todo lugar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984225" y="3544997"/>
            <a:ext cx="5005707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seu computador, no notebook do Databricks, num job agendado. O mesmo código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72046" y="2935413"/>
            <a:ext cx="5257669" cy="1200715"/>
          </a:xfrm>
          <a:prstGeom prst="roundRect">
            <a:avLst>
              <a:gd name="adj" fmla="val 12692"/>
            </a:avLst>
          </a:prstGeom>
          <a:solidFill>
            <a:srgbClr val="0059DB"/>
          </a:solidFill>
          <a:ln/>
        </p:spPr>
      </p:sp>
      <p:sp>
        <p:nvSpPr>
          <p:cNvPr id="17" name="Shape 15"/>
          <p:cNvSpPr/>
          <p:nvPr/>
        </p:nvSpPr>
        <p:spPr>
          <a:xfrm>
            <a:off x="6394290" y="3132258"/>
            <a:ext cx="1064591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83188" y="3170357"/>
            <a:ext cx="922267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É a língua da IA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6394290" y="3544997"/>
            <a:ext cx="5005707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quem treina modelo, chama LLM ou automatiza deploy escreve em Python. Amanhã o modelo da Vértice é Python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61981" y="4301224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377" y="4339323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Você não precisa decorar nada: hoje o Claude Code escreve, você lê e entende o que cada linha faz.</a:t>
            </a:r>
            <a:endParaRPr lang="en-US" sz="11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1091188" y="6387940"/>
            <a:ext cx="352067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51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PYTHON · E O SQL?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SQL e Python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mesmo lugar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876278" y="1582301"/>
            <a:ext cx="4526207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TAREFA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56994" y="1582301"/>
            <a:ext cx="2089907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MELHOR COM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695115" y="1582301"/>
            <a:ext cx="376511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 VÉRTICE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61981" y="1880744"/>
            <a:ext cx="4580716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76278" y="1982341"/>
            <a:ext cx="4526207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Perguntar para uma tabela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42697" y="1880744"/>
            <a:ext cx="2238121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56994" y="1982341"/>
            <a:ext cx="2089907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SQL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580818" y="1880744"/>
            <a:ext cx="3848897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695115" y="1982341"/>
            <a:ext cx="3765115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os 6 exemplos da noite 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61981" y="2316303"/>
            <a:ext cx="4580716" cy="38476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76278" y="2417900"/>
            <a:ext cx="4526207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Buscar dado lá fora (API, site)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42697" y="2316303"/>
            <a:ext cx="2238121" cy="38476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56994" y="2417900"/>
            <a:ext cx="2089907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Python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580818" y="2316303"/>
            <a:ext cx="3848897" cy="38476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695115" y="2417900"/>
            <a:ext cx="3765115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os feriados, agora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61981" y="2751862"/>
            <a:ext cx="4580716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76278" y="2853460"/>
            <a:ext cx="4526207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Limpar e juntar em escala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42697" y="2751862"/>
            <a:ext cx="2238121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56994" y="2853460"/>
            <a:ext cx="2089907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os dois (Spark)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580818" y="2751862"/>
            <a:ext cx="3848897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695115" y="2853460"/>
            <a:ext cx="3765115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silver, hoje em SQL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61981" y="3187422"/>
            <a:ext cx="4580716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76278" y="3289019"/>
            <a:ext cx="4526207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Treinar um modelo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342697" y="3187422"/>
            <a:ext cx="2238121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456994" y="3289019"/>
            <a:ext cx="2089907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Python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580818" y="3187422"/>
            <a:ext cx="3848897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695115" y="3289019"/>
            <a:ext cx="3765115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score de estouro, amanhã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61981" y="3622981"/>
            <a:ext cx="4580716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76278" y="3724579"/>
            <a:ext cx="4526207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Automatizar: deploy, scripts, app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42697" y="3622981"/>
            <a:ext cx="2238121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5456994" y="3724579"/>
            <a:ext cx="2089907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Python (e CLI)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580818" y="3622981"/>
            <a:ext cx="3848897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695115" y="3724579"/>
            <a:ext cx="3765115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Claude Code faz por você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61981" y="4160138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914377" y="4198237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Databricks os dois rodam no mesmo motor (Spark) e leem as mesmas tabelas. Não é um ou outro: é cada um no que faz melhor.</a:t>
            </a:r>
            <a:endParaRPr lang="en-US" sz="1100" dirty="0"/>
          </a:p>
        </p:txBody>
      </p:sp>
      <p:pic>
        <p:nvPicPr>
          <p:cNvPr id="3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40" name="Text 37"/>
          <p:cNvSpPr txBox="1"/>
          <p:nvPr/>
        </p:nvSpPr>
        <p:spPr>
          <a:xfrm>
            <a:off x="11101606" y="6387940"/>
            <a:ext cx="341233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51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PYTHON · AS BIBLIOTECAS DA SEMANA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Seis nomes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para reconhecer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3454314" cy="1200715"/>
          </a:xfrm>
          <a:prstGeom prst="roundRect">
            <a:avLst>
              <a:gd name="adj" fmla="val 12692"/>
            </a:avLst>
          </a:prstGeom>
          <a:solidFill>
            <a:srgbClr val="0059DB"/>
          </a:solidFill>
          <a:ln/>
        </p:spPr>
      </p:sp>
      <p:sp>
        <p:nvSpPr>
          <p:cNvPr id="5" name="Shape 3"/>
          <p:cNvSpPr/>
          <p:nvPr/>
        </p:nvSpPr>
        <p:spPr>
          <a:xfrm>
            <a:off x="984225" y="1779146"/>
            <a:ext cx="1023118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3123" y="1817245"/>
            <a:ext cx="87913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hoje · requests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84225" y="2191886"/>
            <a:ext cx="3130218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conversa com a API: pede, recebe o JSON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68691" y="1582301"/>
            <a:ext cx="3454314" cy="1200715"/>
          </a:xfrm>
          <a:prstGeom prst="roundRect">
            <a:avLst>
              <a:gd name="adj" fmla="val 12692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90935" y="1779146"/>
            <a:ext cx="756425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79833" y="1817245"/>
            <a:ext cx="601774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hoje · json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590935" y="2191886"/>
            <a:ext cx="3130218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já vem no Python: guarda a resposta num arquivo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75401" y="1582301"/>
            <a:ext cx="3454314" cy="1200715"/>
          </a:xfrm>
          <a:prstGeom prst="roundRect">
            <a:avLst>
              <a:gd name="adj" fmla="val 12692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97645" y="1779146"/>
            <a:ext cx="1186726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86543" y="1817245"/>
            <a:ext cx="1049287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sempre · pyspark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197645" y="2191886"/>
            <a:ext cx="3130218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motor do Databricks: tabela grande, distribuída. O SQL roda nele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61981" y="2935413"/>
            <a:ext cx="3454314" cy="1200715"/>
          </a:xfrm>
          <a:prstGeom prst="roundRect">
            <a:avLst>
              <a:gd name="adj" fmla="val 12692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84225" y="3132258"/>
            <a:ext cx="1214308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73123" y="3170357"/>
            <a:ext cx="107797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amanhã · pandas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984225" y="3544997"/>
            <a:ext cx="3130218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tabela pequena, em memória, para preparar o treino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68691" y="2935413"/>
            <a:ext cx="3454314" cy="1200715"/>
          </a:xfrm>
          <a:prstGeom prst="roundRect">
            <a:avLst>
              <a:gd name="adj" fmla="val 12692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90935" y="3132258"/>
            <a:ext cx="1440323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679833" y="3170357"/>
            <a:ext cx="131302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amanhã · scikit-learn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590935" y="3544997"/>
            <a:ext cx="3130218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modelo que prevê o estouro em 30 dias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975401" y="2935413"/>
            <a:ext cx="3454314" cy="1200715"/>
          </a:xfrm>
          <a:prstGeom prst="roundRect">
            <a:avLst>
              <a:gd name="adj" fmla="val 12692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97645" y="3132258"/>
            <a:ext cx="1158648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86543" y="3170357"/>
            <a:ext cx="102008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amanhã · mlflow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8197645" y="3544997"/>
            <a:ext cx="3130218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caderno do cientista: cada treino anotado</a:t>
            </a:r>
            <a:endParaRPr lang="en-US" sz="115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11091684" y="6387940"/>
            <a:ext cx="351551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/ 51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INGESTÃO · UMA API EM PYTHON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Extrair, pousar,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carregar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10667733" cy="1904952"/>
          </a:xfrm>
          <a:prstGeom prst="roundRect">
            <a:avLst>
              <a:gd name="adj" fmla="val 7333"/>
            </a:avLst>
          </a:prstGeom>
          <a:solidFill>
            <a:srgbClr val="101016"/>
          </a:solidFill>
          <a:ln w="6350">
            <a:solidFill>
              <a:srgbClr val="2F2F39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027" y="1728347"/>
            <a:ext cx="10375641" cy="16128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1981" y="3626950"/>
            <a:ext cx="5943352" cy="1397858"/>
          </a:xfrm>
          <a:prstGeom prst="roundRect">
            <a:avLst>
              <a:gd name="adj" fmla="val 8177"/>
            </a:avLst>
          </a:prstGeom>
          <a:solidFill>
            <a:srgbClr val="0C0C10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8826" y="3798396"/>
            <a:ext cx="5778252" cy="1061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json, requests</a:t>
            </a:r>
            <a:endParaRPr lang="en-US" sz="950" dirty="0"/>
          </a:p>
          <a:p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 = </a:t>
            </a:r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F6C3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"https://brasilapi.com.br/api/feriados/v1/2026"</a:t>
            </a:r>
            <a:pPr algn="l" indent="0" marL="0">
              <a:lnSpc>
                <a:spcPts val="1380"/>
              </a:lnSpc>
              <a:buNone/>
            </a:pPr>
            <a:endParaRPr lang="en-US" sz="950" dirty="0"/>
          </a:p>
          <a:p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resposta = requests.get(url, timeout=30)</a:t>
            </a:r>
            <a:endParaRPr lang="en-US" sz="950" dirty="0"/>
          </a:p>
          <a:p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resposta.raise_for_status()   </a:t>
            </a:r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6E7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API caiu? para aqui</a:t>
            </a:r>
            <a:pPr algn="l" indent="0" marL="0">
              <a:lnSpc>
                <a:spcPts val="1380"/>
              </a:lnSpc>
              <a:buNone/>
            </a:pPr>
            <a:endParaRPr lang="en-US" sz="950" dirty="0"/>
          </a:p>
          <a:p>
            <a:pPr algn="l" indent="0" marL="0">
              <a:lnSpc>
                <a:spcPts val="1380"/>
              </a:lnSpc>
              <a:buNone/>
            </a:pPr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open(</a:t>
            </a:r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F6C3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"feriados_2026.json"</a:t>
            </a:r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F6C3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"w"</a:t>
            </a:r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f:</a:t>
            </a:r>
            <a:endParaRPr lang="en-US" sz="950" dirty="0"/>
          </a:p>
          <a:p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json.dump(resposta.json(), f)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857729" y="3626950"/>
            <a:ext cx="4571886" cy="1397858"/>
          </a:xfrm>
          <a:prstGeom prst="roundRect">
            <a:avLst>
              <a:gd name="adj" fmla="val 10902"/>
            </a:avLst>
          </a:prstGeom>
          <a:solidFill>
            <a:srgbClr val="0059DB"/>
          </a:solidFill>
          <a:ln/>
        </p:spPr>
      </p:sp>
      <p:sp>
        <p:nvSpPr>
          <p:cNvPr id="9" name="Shape 6"/>
          <p:cNvSpPr/>
          <p:nvPr/>
        </p:nvSpPr>
        <p:spPr>
          <a:xfrm>
            <a:off x="7079974" y="3823795"/>
            <a:ext cx="1633497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168872" y="3861894"/>
            <a:ext cx="151392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 que pousar o arquivo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7079974" y="4236535"/>
            <a:ext cx="4292493" cy="59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JSON fica no volume do jeito que veio: dá para reprocessar sem chamar a API de novo. É o mesmo caminho da noite 1</a:t>
            </a:r>
            <a:endParaRPr lang="en-US" sz="11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1092081" y="6387940"/>
            <a:ext cx="351138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 / 51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 0 · AQUECIMENTO NO CLAUDE CODE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Uma fonte nova,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 um prompt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6018757" cy="2000200"/>
          </a:xfrm>
          <a:prstGeom prst="roundRect">
            <a:avLst>
              <a:gd name="adj" fmla="val 5714"/>
            </a:avLst>
          </a:prstGeom>
          <a:solidFill>
            <a:srgbClr val="0C0C10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58826" y="1753747"/>
            <a:ext cx="5856673" cy="1663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Busque os feriados nacionais de 2026 na API</a:t>
            </a:r>
            <a:endParaRPr lang="en-US" sz="1000" dirty="0"/>
          </a:p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https://brasilapi.com.br/api/feriados/v1/2026</a:t>
            </a:r>
            <a:endParaRPr lang="en-US" sz="1000" dirty="0"/>
          </a:p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 um script Python (requests). Salve a resposta</a:t>
            </a:r>
            <a:endParaRPr lang="en-US" sz="1000" dirty="0"/>
          </a:p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 feriados_2026.json, suba o arquivo para</a:t>
            </a:r>
            <a:endParaRPr lang="en-US" sz="1000" dirty="0"/>
          </a:p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/Volumes/lakehouse_vertice/bronze/raw/feriados/</a:t>
            </a:r>
            <a:endParaRPr lang="en-US" sz="1000" dirty="0"/>
          </a:p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crie a tabela lakehouse_vertice.bronze.feriados</a:t>
            </a:r>
            <a:endParaRPr lang="en-US" sz="1000" dirty="0"/>
          </a:p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 read_files. No fim, mostre os feriados de</a:t>
            </a:r>
            <a:endParaRPr lang="en-US" sz="1000" dirty="0"/>
          </a:p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novembro com o dia da semana.</a:t>
            </a:r>
            <a:endParaRPr lang="en-US" sz="1000" dirty="0"/>
          </a:p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o profile vertice.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971233" y="1582301"/>
            <a:ext cx="4458482" cy="2933924"/>
          </a:xfrm>
          <a:prstGeom prst="roundRect">
            <a:avLst>
              <a:gd name="adj" fmla="val 5194"/>
            </a:avLst>
          </a:prstGeom>
          <a:solidFill>
            <a:srgbClr val="0059DB"/>
          </a:solidFill>
          <a:ln/>
        </p:spPr>
      </p:sp>
      <p:sp>
        <p:nvSpPr>
          <p:cNvPr id="7" name="Shape 5"/>
          <p:cNvSpPr/>
          <p:nvPr/>
        </p:nvSpPr>
        <p:spPr>
          <a:xfrm>
            <a:off x="7193477" y="1779146"/>
            <a:ext cx="1601549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282375" y="1817245"/>
            <a:ext cx="1480704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o Claude Code faz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193477" y="219823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83972" y="2115688"/>
            <a:ext cx="3976437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escreve e roda o script Python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193477" y="2480109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83972" y="2397561"/>
            <a:ext cx="3976437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cria a pasta e copia o arquivo para o volume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193477" y="2761983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83972" y="2679435"/>
            <a:ext cx="3976437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roda o 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read_files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no warehouse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193477" y="304385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83972" y="2961308"/>
            <a:ext cx="3976437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pede licença antes de cada comando: leia e aprove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193477" y="3512355"/>
            <a:ext cx="645898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282375" y="3550454"/>
            <a:ext cx="48682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Travou?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7193477" y="3925095"/>
            <a:ext cx="4174552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baixe o gabarito do GitHub do curso e rode: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00-buscar-feriados.py --profile vertice</a:t>
            </a:r>
            <a:endParaRPr lang="en-US" sz="115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1046938" y="6387940"/>
            <a:ext cx="398087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 / 51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PONTO DE CONTROLE · A API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Chegou aqui?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Comenta OK no chat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5238619" cy="1619805"/>
          </a:xfrm>
          <a:prstGeom prst="roundRect">
            <a:avLst>
              <a:gd name="adj" fmla="val 9408"/>
            </a:avLst>
          </a:prstGeom>
          <a:solidFill>
            <a:srgbClr val="0059DB"/>
          </a:solidFill>
          <a:ln/>
        </p:spPr>
      </p:sp>
      <p:sp>
        <p:nvSpPr>
          <p:cNvPr id="5" name="Shape 3"/>
          <p:cNvSpPr/>
          <p:nvPr/>
        </p:nvSpPr>
        <p:spPr>
          <a:xfrm>
            <a:off x="984225" y="1779146"/>
            <a:ext cx="833218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3123" y="1817245"/>
            <a:ext cx="681640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 sua tela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84225" y="2115688"/>
            <a:ext cx="4985895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300" b="1" spc="-6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em novembro</a:t>
            </a:r>
            <a:endParaRPr lang="en-US" sz="3300" dirty="0"/>
          </a:p>
        </p:txBody>
      </p:sp>
      <p:sp>
        <p:nvSpPr>
          <p:cNvPr id="8" name="Text 6"/>
          <p:cNvSpPr txBox="1"/>
          <p:nvPr/>
        </p:nvSpPr>
        <p:spPr>
          <a:xfrm>
            <a:off x="984225" y="2610975"/>
            <a:ext cx="4985895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02/11 (segunda) e 20/11 (sexta). O 15/11 cai num domingo. No ano, 14 feriados na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bronze.feriados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91095" y="1582301"/>
            <a:ext cx="5238619" cy="1619805"/>
          </a:xfrm>
          <a:prstGeom prst="roundRect">
            <a:avLst>
              <a:gd name="adj" fmla="val 9408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13340" y="1779146"/>
            <a:ext cx="846414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02237" y="1817245"/>
            <a:ext cx="69536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Não bateu?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413340" y="2191886"/>
            <a:ext cx="4985895" cy="59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erro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such directory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é a pasta nova: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databricks fs mkdir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antes do cp. Ou rode o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00-buscar-feriados.py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do GitHub do curso</a:t>
            </a:r>
            <a:endParaRPr lang="en-US" sz="11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1083846" y="6387940"/>
            <a:ext cx="359703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 / 51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ANTES DO PROMPT 1 · O EXEMPLO 05 QUE FICOU PARA TRÁS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 três ferramentas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numa fila só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5820622" cy="1816055"/>
          </a:xfrm>
          <a:prstGeom prst="roundRect">
            <a:avLst>
              <a:gd name="adj" fmla="val 6294"/>
            </a:avLst>
          </a:prstGeom>
          <a:solidFill>
            <a:srgbClr val="0C0C10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58826" y="1753747"/>
            <a:ext cx="5650613" cy="1479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F6C3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'excel'</a:t>
            </a: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ferramenta, COUNT(*) </a:t>
            </a: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linhas</a:t>
            </a:r>
            <a:endParaRPr lang="en-US" sz="1000" dirty="0"/>
          </a:p>
          <a:p>
            <a:pPr algn="l" indent="0" marL="0">
              <a:lnSpc>
                <a:spcPts val="1450"/>
              </a:lnSpc>
              <a:buNone/>
            </a:pP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lakehouse_vertice.bronze.excel_tarefas</a:t>
            </a:r>
            <a:endParaRPr lang="en-US" sz="1000" dirty="0"/>
          </a:p>
          <a:p>
            <a:pPr algn="l" indent="0" marL="0">
              <a:lnSpc>
                <a:spcPts val="1450"/>
              </a:lnSpc>
              <a:buNone/>
            </a:pP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 ALL</a:t>
            </a:r>
            <a:pPr algn="l" indent="0" marL="0">
              <a:lnSpc>
                <a:spcPts val="1450"/>
              </a:lnSpc>
              <a:buNone/>
            </a:pPr>
            <a:endParaRPr lang="en-US" sz="1000" dirty="0"/>
          </a:p>
          <a:p>
            <a:pPr algn="l" indent="0" marL="0">
              <a:lnSpc>
                <a:spcPts val="1450"/>
              </a:lnSpc>
              <a:buNone/>
            </a:pP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F6C3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'clickup'</a:t>
            </a: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  COUNT(*)</a:t>
            </a:r>
            <a:endParaRPr lang="en-US" sz="1000" dirty="0"/>
          </a:p>
          <a:p>
            <a:pPr algn="l" indent="0" marL="0">
              <a:lnSpc>
                <a:spcPts val="1450"/>
              </a:lnSpc>
              <a:buNone/>
            </a:pP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lakehouse_vertice.bronze.clickup_tarefas</a:t>
            </a:r>
            <a:endParaRPr lang="en-US" sz="1000" dirty="0"/>
          </a:p>
          <a:p>
            <a:pPr algn="l" indent="0" marL="0">
              <a:lnSpc>
                <a:spcPts val="1450"/>
              </a:lnSpc>
              <a:buNone/>
            </a:pP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 ALL</a:t>
            </a:r>
            <a:pPr algn="l" indent="0" marL="0">
              <a:lnSpc>
                <a:spcPts val="1450"/>
              </a:lnSpc>
              <a:buNone/>
            </a:pPr>
            <a:endParaRPr lang="en-US" sz="1000" dirty="0"/>
          </a:p>
          <a:p>
            <a:pPr algn="l" indent="0" marL="0">
              <a:lnSpc>
                <a:spcPts val="1450"/>
              </a:lnSpc>
              <a:buNone/>
            </a:pP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F6C3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'msproject'</a:t>
            </a: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COUNT(*)</a:t>
            </a:r>
            <a:endParaRPr lang="en-US" sz="1000" dirty="0"/>
          </a:p>
          <a:p>
            <a:pPr algn="l" indent="0" marL="0">
              <a:lnSpc>
                <a:spcPts val="1450"/>
              </a:lnSpc>
              <a:buNone/>
            </a:pP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lakehouse_vertice.bronze.msproject_tarefas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61981" y="3525352"/>
            <a:ext cx="25399" cy="704832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377" y="3563452"/>
            <a:ext cx="5894954" cy="628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UNION ALL</a:t>
            </a:r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empilha uma consulta embaixo da outra. A regra: as mesmas colunas, na mesma ordem. O resto do exemplo é fazer as três ferramentas terem as mesmas colunas.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773098" y="1582301"/>
            <a:ext cx="4656517" cy="2857726"/>
          </a:xfrm>
          <a:prstGeom prst="roundRect">
            <a:avLst>
              <a:gd name="adj" fmla="val 5333"/>
            </a:avLst>
          </a:prstGeom>
          <a:solidFill>
            <a:srgbClr val="0059DB"/>
          </a:solidFill>
          <a:ln/>
        </p:spPr>
      </p:sp>
      <p:sp>
        <p:nvSpPr>
          <p:cNvPr id="9" name="Shape 7"/>
          <p:cNvSpPr/>
          <p:nvPr/>
        </p:nvSpPr>
        <p:spPr>
          <a:xfrm>
            <a:off x="6995342" y="1779146"/>
            <a:ext cx="1519100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084240" y="1817245"/>
            <a:ext cx="1394957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Rode agora · 5 minutos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995342" y="219823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85838" y="2115688"/>
            <a:ext cx="4182394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abra 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exemplo-01-a-05-sql-na-bronze.sql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95342" y="2480109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85838" y="2397561"/>
            <a:ext cx="4182394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exemplo 05, </a:t>
            </a:r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bloco 1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o UNION ALL ao lado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95342" y="2761983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85838" y="2679435"/>
            <a:ext cx="4182394" cy="617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exemplo 05, </a:t>
            </a:r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bloco 3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cria a view 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bronze.rascunho_tarefas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com 4.917 tarefas de 60 projetos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95342" y="3436157"/>
            <a:ext cx="996032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084240" y="3474256"/>
            <a:ext cx="85096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 que agora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6995342" y="3848897"/>
            <a:ext cx="4380509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verificação da noite 1 e o prompt 2 de hoje leem essa view. Sem ela, dá erro</a:t>
            </a:r>
            <a:endParaRPr lang="en-US" sz="115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1055074" y="6387940"/>
            <a:ext cx="389626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 / 51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PONTO DE CONTROLE · EXEMPLO 05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Chegou aqui?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Comenta OK no chat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5238619" cy="1587758"/>
          </a:xfrm>
          <a:prstGeom prst="roundRect">
            <a:avLst>
              <a:gd name="adj" fmla="val 9598"/>
            </a:avLst>
          </a:prstGeom>
          <a:solidFill>
            <a:srgbClr val="0059DB"/>
          </a:solidFill>
          <a:ln/>
        </p:spPr>
      </p:sp>
      <p:sp>
        <p:nvSpPr>
          <p:cNvPr id="5" name="Shape 3"/>
          <p:cNvSpPr/>
          <p:nvPr/>
        </p:nvSpPr>
        <p:spPr>
          <a:xfrm>
            <a:off x="984225" y="1779146"/>
            <a:ext cx="990873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3123" y="1817245"/>
            <a:ext cx="845600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seu número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84225" y="2115688"/>
            <a:ext cx="4985895" cy="584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600" b="1" spc="-92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4.917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984225" y="2776071"/>
            <a:ext cx="4985895" cy="197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tarefas de 60 projetos na view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bronze.rascunho_tarefas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91095" y="1582301"/>
            <a:ext cx="5238619" cy="1587758"/>
          </a:xfrm>
          <a:prstGeom prst="roundRect">
            <a:avLst>
              <a:gd name="adj" fmla="val 9598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13340" y="1779146"/>
            <a:ext cx="846414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02237" y="1817245"/>
            <a:ext cx="69536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Não bateu?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413340" y="2191886"/>
            <a:ext cx="4985895" cy="59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exemplo inteiro está pronto em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aulas/aula-01-analista/exemplo-01-a-05-sql-na-bronze.sql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Rode o bloco 3 de novo, de cima a baixo</a:t>
            </a:r>
            <a:endParaRPr lang="en-US" sz="11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1052891" y="6387940"/>
            <a:ext cx="391896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 / 51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ANTES DO PROMPT 1 · POR QUE O RASCUNHO NÃO É PRODUTO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rascunho funciona.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Mas é frágil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5257669" cy="1530907"/>
          </a:xfrm>
          <a:prstGeom prst="roundRect">
            <a:avLst>
              <a:gd name="adj" fmla="val 9955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4225" y="1779146"/>
            <a:ext cx="1511957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3123" y="1817245"/>
            <a:ext cx="138752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Excel · a linha de TOTAL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84225" y="2115688"/>
            <a:ext cx="5005707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b="1" spc="-52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2×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984225" y="2522078"/>
            <a:ext cx="5005707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1.141.354 horas com o TOTAL, 570.677 sem. Esqueça 20 linhas e o Excel inteiro dobra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046" y="1582301"/>
            <a:ext cx="5257669" cy="1530907"/>
          </a:xfrm>
          <a:prstGeom prst="roundRect">
            <a:avLst>
              <a:gd name="adj" fmla="val 9955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94290" y="1779146"/>
            <a:ext cx="1965375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83188" y="1817245"/>
            <a:ext cx="185908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MS Project · as tarefas-resumo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394290" y="2115688"/>
            <a:ext cx="5005707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b="1" spc="-52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3×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6394290" y="2522078"/>
            <a:ext cx="5005707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1.257.975 horas com as 105 tarefas-resumo, 419.325 só nas 1.155 tarefas de verdade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61981" y="3265604"/>
            <a:ext cx="5257669" cy="1530907"/>
          </a:xfrm>
          <a:prstGeom prst="roundRect">
            <a:avLst>
              <a:gd name="adj" fmla="val 9955"/>
            </a:avLst>
          </a:prstGeom>
          <a:solidFill>
            <a:srgbClr val="0059DB"/>
          </a:solidFill>
          <a:ln/>
        </p:spPr>
      </p:sp>
      <p:sp>
        <p:nvSpPr>
          <p:cNvPr id="15" name="Shape 13"/>
          <p:cNvSpPr/>
          <p:nvPr/>
        </p:nvSpPr>
        <p:spPr>
          <a:xfrm>
            <a:off x="984225" y="3462449"/>
            <a:ext cx="1271357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73123" y="3500548"/>
            <a:ext cx="1137304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Custos · o try_cast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984225" y="3798991"/>
            <a:ext cx="5005707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b="1" spc="-52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R$ 5,4 mi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984225" y="4205381"/>
            <a:ext cx="5005707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somem sem erro nenhum: 187,94 em vez de 193,35. São 671 lançamentos com vírgula decimal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046" y="3265604"/>
            <a:ext cx="5257669" cy="1530907"/>
          </a:xfrm>
          <a:prstGeom prst="roundRect">
            <a:avLst>
              <a:gd name="adj" fmla="val 9955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94290" y="3462449"/>
            <a:ext cx="2048419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83188" y="3500548"/>
            <a:ext cx="194544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Compras · a mesma consultoria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6394290" y="3798991"/>
            <a:ext cx="5005707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b="1" spc="-52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grafias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6394290" y="4205381"/>
            <a:ext cx="5005707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CodeForge Consultoria Ltda, CODEFORGE CONSULTORIA LTDA, Codeforge Consultoria e Code Forge Consultoria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61981" y="4961607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4377" y="4999706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Cada regra escrita uma vez, com teste, num pipeline que roda sozinho: é o prompt 2.</a:t>
            </a:r>
            <a:endParaRPr lang="en-US" sz="11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11046144" y="6387940"/>
            <a:ext cx="398913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 / 51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380990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RECURSO DO DATABRICKS · WORKSPACE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704832"/>
            <a:ext cx="11094443" cy="363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spc="-2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Workspace e bundle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rcRect l="10085" r="10085" t="0" b="0"/>
          <a:stretch/>
        </p:blipFill>
        <p:spPr>
          <a:xfrm>
            <a:off x="761981" y="1182261"/>
            <a:ext cx="6455308" cy="406389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95085" y="1182261"/>
            <a:ext cx="4034630" cy="4063898"/>
          </a:xfrm>
          <a:prstGeom prst="roundRect">
            <a:avLst>
              <a:gd name="adj" fmla="val 3777"/>
            </a:avLst>
          </a:prstGeom>
          <a:solidFill>
            <a:srgbClr val="0059DB"/>
          </a:solidFill>
          <a:ln/>
        </p:spPr>
      </p:sp>
      <p:sp>
        <p:nvSpPr>
          <p:cNvPr id="6" name="Shape 3"/>
          <p:cNvSpPr/>
          <p:nvPr/>
        </p:nvSpPr>
        <p:spPr>
          <a:xfrm>
            <a:off x="7617329" y="1379106"/>
            <a:ext cx="616034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06227" y="1417205"/>
            <a:ext cx="45576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é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7617329" y="179819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807824" y="1715648"/>
            <a:ext cx="3535631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"disco" do Databricks: pastas, notebooks, arquivos SQL, dashboards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617329" y="228574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807824" y="2203196"/>
            <a:ext cx="3535631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bundle deploy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copia o repositório para 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.bundle/vertice/dev/files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617329" y="2773293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807824" y="2690745"/>
            <a:ext cx="3535631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código vem do Git, nunca é editado aqui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617329" y="3036117"/>
            <a:ext cx="650958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706227" y="3074216"/>
            <a:ext cx="49208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Farol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7617329" y="3448857"/>
            <a:ext cx="3733746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2 em diante: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src/silver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gold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metricas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</a:t>
            </a:r>
            <a:endParaRPr lang="en-US" sz="11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1047136" y="6387940"/>
            <a:ext cx="397881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 / 51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2 · COMO RODAR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Claude Code + o bundle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vertice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5238619" cy="2811591"/>
          </a:xfrm>
          <a:prstGeom prst="roundRect">
            <a:avLst>
              <a:gd name="adj" fmla="val 5420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4225" y="1779146"/>
            <a:ext cx="676159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3123" y="1817245"/>
            <a:ext cx="51829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Uma vez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84225" y="219823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74721" y="2115688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instalar a CLI do Databricks e o Claude Code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84225" y="2480109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74721" y="2397561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databricks auth login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no seu workspace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84225" y="2761983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74721" y="2679435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abrir o Claude Code na pasta da noite 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84225" y="3037506"/>
            <a:ext cx="1053578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73123" y="3075605"/>
            <a:ext cx="91081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cada prompt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84225" y="3412147"/>
            <a:ext cx="4794130" cy="711182"/>
          </a:xfrm>
          <a:prstGeom prst="roundRect">
            <a:avLst>
              <a:gd name="adj" fmla="val 16071"/>
            </a:avLst>
          </a:prstGeom>
          <a:solidFill>
            <a:srgbClr val="0C0C10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81070" y="3583592"/>
            <a:ext cx="4583061" cy="374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databricks bundle deploy --profile SEU-PERFIL</a:t>
            </a:r>
            <a:endParaRPr lang="en-US" sz="1000" dirty="0"/>
          </a:p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databricks bundle run vertice_farol --profile SEU-PERFIL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305392" y="1582301"/>
            <a:ext cx="758512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7263325" y="1582301"/>
            <a:ext cx="3332254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NASCE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696010" y="1582301"/>
            <a:ext cx="64418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30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TEMPO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91095" y="1880744"/>
            <a:ext cx="957933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05392" y="1982341"/>
            <a:ext cx="758512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149028" y="1880744"/>
            <a:ext cx="3432684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263325" y="1982341"/>
            <a:ext cx="3332254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API → bronze.feriados (aquecimento)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0581713" y="1880744"/>
            <a:ext cx="848001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696010" y="1982341"/>
            <a:ext cx="644183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~1 min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91095" y="2308068"/>
            <a:ext cx="957933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305392" y="2409666"/>
            <a:ext cx="758512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149028" y="2308068"/>
            <a:ext cx="3432684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263325" y="2409666"/>
            <a:ext cx="3332254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bundle + conferência da bronze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0581713" y="2308068"/>
            <a:ext cx="848001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696010" y="2409666"/>
            <a:ext cx="644183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~40 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191095" y="2735393"/>
            <a:ext cx="957933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305392" y="2836990"/>
            <a:ext cx="758512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149028" y="2735393"/>
            <a:ext cx="3432684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263325" y="2836990"/>
            <a:ext cx="3332254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silver: as 3 ferramentas viram uma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0581713" y="2735393"/>
            <a:ext cx="848001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10696010" y="2836990"/>
            <a:ext cx="644183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~2 min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191095" y="3162717"/>
            <a:ext cx="957933" cy="37652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305392" y="3264314"/>
            <a:ext cx="758512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149028" y="3162717"/>
            <a:ext cx="3432684" cy="37652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7263325" y="3264314"/>
            <a:ext cx="3332254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gold + testes: a modelagem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10581713" y="3162717"/>
            <a:ext cx="848001" cy="37652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10696010" y="3264314"/>
            <a:ext cx="644183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~3 min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191095" y="3590041"/>
            <a:ext cx="957933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305392" y="3691639"/>
            <a:ext cx="758512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7149028" y="3590041"/>
            <a:ext cx="3432684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7263325" y="3691639"/>
            <a:ext cx="3332254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IA no status semanal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10581713" y="3590041"/>
            <a:ext cx="848001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10696010" y="3691639"/>
            <a:ext cx="644183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~2 min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191095" y="4017366"/>
            <a:ext cx="957933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6305392" y="4118963"/>
            <a:ext cx="758512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7149028" y="4017366"/>
            <a:ext cx="3432684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7263325" y="4118963"/>
            <a:ext cx="3332254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métrica governada (mv_projetos)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10581713" y="4017366"/>
            <a:ext cx="848001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10696010" y="4118963"/>
            <a:ext cx="644183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~10 s</a:t>
            </a:r>
            <a:endParaRPr lang="en-US" sz="1050" dirty="0"/>
          </a:p>
        </p:txBody>
      </p:sp>
      <p:pic>
        <p:nvPicPr>
          <p:cNvPr id="5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57" name="Text 54"/>
          <p:cNvSpPr txBox="1"/>
          <p:nvPr/>
        </p:nvSpPr>
        <p:spPr>
          <a:xfrm>
            <a:off x="11046739" y="6387940"/>
            <a:ext cx="398294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 / 51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 1 · O PROJETO VIRA CÓDIGO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Sexta que vem,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quem roda tudo de novo?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5238619" cy="2950990"/>
          </a:xfrm>
          <a:prstGeom prst="roundRect">
            <a:avLst>
              <a:gd name="adj" fmla="val 5164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4225" y="1779146"/>
            <a:ext cx="1149520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3123" y="1817245"/>
            <a:ext cx="101059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você pede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84225" y="219823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74721" y="2115688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bundle 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vertice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na raiz do seu repositório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84225" y="2480109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74721" y="2397561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job 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vertice_farol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toda segunda às 6h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84225" y="2761983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74721" y="2679435"/>
            <a:ext cx="4787780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primeira tarefa só </a:t>
            </a:r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confere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 bronze: as 9 tabelas com as linhas esperadas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84225" y="3230482"/>
            <a:ext cx="617224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73123" y="3268581"/>
            <a:ext cx="45700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 quê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84225" y="3649571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174721" y="3567023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Git, o projeto tem histórico e revisão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84225" y="3931445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174721" y="3848897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bundle deploy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sobe igual em qualquer máquina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84225" y="4213318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174721" y="4130770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melhor o dado da semana passada do que meio dado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91095" y="1582301"/>
            <a:ext cx="5238619" cy="2950990"/>
          </a:xfrm>
          <a:prstGeom prst="roundRect">
            <a:avLst>
              <a:gd name="adj" fmla="val 5164"/>
            </a:avLst>
          </a:prstGeom>
          <a:solidFill>
            <a:srgbClr val="0059DB"/>
          </a:solidFill>
          <a:ln/>
        </p:spPr>
      </p:sp>
      <p:sp>
        <p:nvSpPr>
          <p:cNvPr id="22" name="Shape 20"/>
          <p:cNvSpPr/>
          <p:nvPr/>
        </p:nvSpPr>
        <p:spPr>
          <a:xfrm>
            <a:off x="6413340" y="1779146"/>
            <a:ext cx="1388730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502237" y="1817245"/>
            <a:ext cx="1259372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conferir · ~40 s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413340" y="2191886"/>
            <a:ext cx="4985895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uma caixa verde no job, com 9 linhas </a:t>
            </a:r>
            <a:pPr algn="l" indent="0" marL="0">
              <a:lnSpc>
                <a:spcPts val="155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ok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Esse desenho cresce a noite inteira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13340" y="2751267"/>
            <a:ext cx="2108445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02237" y="2789366"/>
            <a:ext cx="200787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Teste se a conferência tem dente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6413340" y="3164007"/>
            <a:ext cx="4985895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troque um número esperado (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projetos 61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), faça deploy e rode. O job falha com a sua mensagem. Desfaça e rode de novo</a:t>
            </a:r>
            <a:endParaRPr lang="en-US" sz="115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11057157" y="6387940"/>
            <a:ext cx="387459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17 / 51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380990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RECURSO DO DATABRICKS · JOBS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704832"/>
            <a:ext cx="11094443" cy="363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spc="-2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Jobs &amp; Pipelines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rcRect l="10085" r="10085" t="0" b="0"/>
          <a:stretch/>
        </p:blipFill>
        <p:spPr>
          <a:xfrm>
            <a:off x="761981" y="1182261"/>
            <a:ext cx="6455308" cy="406389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95085" y="1182261"/>
            <a:ext cx="4034630" cy="4063898"/>
          </a:xfrm>
          <a:prstGeom prst="roundRect">
            <a:avLst>
              <a:gd name="adj" fmla="val 3777"/>
            </a:avLst>
          </a:prstGeom>
          <a:solidFill>
            <a:srgbClr val="0059DB"/>
          </a:solidFill>
          <a:ln/>
        </p:spPr>
      </p:sp>
      <p:sp>
        <p:nvSpPr>
          <p:cNvPr id="6" name="Shape 3"/>
          <p:cNvSpPr/>
          <p:nvPr/>
        </p:nvSpPr>
        <p:spPr>
          <a:xfrm>
            <a:off x="7617329" y="1379106"/>
            <a:ext cx="616034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06227" y="1417205"/>
            <a:ext cx="45576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é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7617329" y="179819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807824" y="1715648"/>
            <a:ext cx="3535631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lista de tudo que roda sozinho, com agenda e as últimas execuções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617329" y="228574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807824" y="2203196"/>
            <a:ext cx="3535631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vermelho e verde lado a lado: o histórico conta a história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617329" y="2754244"/>
            <a:ext cx="650958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706227" y="2792343"/>
            <a:ext cx="49208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Farol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7617329" y="3166983"/>
            <a:ext cx="3733746" cy="59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job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vertice_farol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(agendado, pausado no ensaio) e o pipeline. Os ✕ são os ensaios com erro, corrigidos no código</a:t>
            </a:r>
            <a:endParaRPr lang="en-US" sz="11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1047236" y="6387940"/>
            <a:ext cx="397778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18 / 51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 1 · O JOB VERTICE_FAROL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ordem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não é sugestão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10667733" cy="4177005"/>
          </a:xfrm>
          <a:prstGeom prst="roundRect">
            <a:avLst>
              <a:gd name="adj" fmla="val 3344"/>
            </a:avLst>
          </a:prstGeom>
          <a:solidFill>
            <a:srgbClr val="101016"/>
          </a:solidFill>
          <a:ln w="6350">
            <a:solidFill>
              <a:srgbClr val="2F2F39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027" y="1728347"/>
            <a:ext cx="10375641" cy="38849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1981" y="5873603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14377" y="5911702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tarefas na noite 2; a noite 3 pendura as 3 do modelo no mesmo job (em azul). Se a conferência falha, nada roda.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047632" y="6387940"/>
            <a:ext cx="397365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19 / 51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PONTO DE CONTROLE · PROMPT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Chegou aqui?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Comenta OK no chat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5238619" cy="1784901"/>
          </a:xfrm>
          <a:prstGeom prst="roundRect">
            <a:avLst>
              <a:gd name="adj" fmla="val 8538"/>
            </a:avLst>
          </a:prstGeom>
          <a:solidFill>
            <a:srgbClr val="0059DB"/>
          </a:solidFill>
          <a:ln/>
        </p:spPr>
      </p:sp>
      <p:sp>
        <p:nvSpPr>
          <p:cNvPr id="5" name="Shape 3"/>
          <p:cNvSpPr/>
          <p:nvPr/>
        </p:nvSpPr>
        <p:spPr>
          <a:xfrm>
            <a:off x="984225" y="1779146"/>
            <a:ext cx="833218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3123" y="1817245"/>
            <a:ext cx="681640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 sua tela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84225" y="2115688"/>
            <a:ext cx="4985895" cy="584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600" b="1" spc="-92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 ok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984225" y="2776071"/>
            <a:ext cx="4985895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job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vertice_farol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com uma caixa verde: a conferência da bronze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91095" y="1582301"/>
            <a:ext cx="5238619" cy="1784901"/>
          </a:xfrm>
          <a:prstGeom prst="roundRect">
            <a:avLst>
              <a:gd name="adj" fmla="val 8538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13340" y="1779146"/>
            <a:ext cx="846414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02237" y="1817245"/>
            <a:ext cx="69536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Não bateu?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413340" y="2191886"/>
            <a:ext cx="4985895" cy="59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compare com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vertice/databricks.yml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vertice/src/conferencia/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Se a bronze não tem 9 tabelas, rode a verificação da noite 1</a:t>
            </a:r>
            <a:endParaRPr lang="en-US" sz="11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1018066" y="6387940"/>
            <a:ext cx="428114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 / 51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 2 · A ENTREGA MAIS IMPORTANTE DA NOITE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Integrar é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combinar as colunas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3454314" cy="1595001"/>
          </a:xfrm>
          <a:prstGeom prst="roundRect">
            <a:avLst>
              <a:gd name="adj" fmla="val 9555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4225" y="1779146"/>
            <a:ext cx="1366208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3123" y="1817245"/>
            <a:ext cx="123594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Contrato de colunas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84225" y="2191886"/>
            <a:ext cx="3130218" cy="788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Excel, ClickUp e Project viram, cada um, uma visão com as mesmas colunas. Depois é empilhar. Ferramenta nova amanhã é mais uma visão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68691" y="1582301"/>
            <a:ext cx="3454314" cy="1595001"/>
          </a:xfrm>
          <a:prstGeom prst="roundRect">
            <a:avLst>
              <a:gd name="adj" fmla="val 9555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90935" y="1779146"/>
            <a:ext cx="1218376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79833" y="1817245"/>
            <a:ext cx="108220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de-para é dado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590935" y="2191886"/>
            <a:ext cx="3130218" cy="59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quem diz que a lista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901200095028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do ClickUp é o PRJ-012 é o cadastro do PMO, não um IF no código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75401" y="1582301"/>
            <a:ext cx="3454314" cy="1595001"/>
          </a:xfrm>
          <a:prstGeom prst="roundRect">
            <a:avLst>
              <a:gd name="adj" fmla="val 9555"/>
            </a:avLst>
          </a:prstGeom>
          <a:solidFill>
            <a:srgbClr val="0059DB"/>
          </a:solidFill>
          <a:ln/>
        </p:spPr>
      </p:sp>
      <p:sp>
        <p:nvSpPr>
          <p:cNvPr id="13" name="Shape 11"/>
          <p:cNvSpPr/>
          <p:nvPr/>
        </p:nvSpPr>
        <p:spPr>
          <a:xfrm>
            <a:off x="8197645" y="1779146"/>
            <a:ext cx="1228595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86543" y="1817245"/>
            <a:ext cx="1092831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EXPECT é contrato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197645" y="2191886"/>
            <a:ext cx="3130218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tarefa sem projeto ou % acima de 100: o pipeline para em vez de gravar errado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61981" y="3342398"/>
            <a:ext cx="10667733" cy="711182"/>
          </a:xfrm>
          <a:prstGeom prst="roundRect">
            <a:avLst>
              <a:gd name="adj" fmla="val 16071"/>
            </a:avLst>
          </a:prstGeom>
          <a:solidFill>
            <a:srgbClr val="0C0C10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58826" y="3513843"/>
            <a:ext cx="10691609" cy="374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CONSTRAINT</a:t>
            </a: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achou_o_projeto   </a:t>
            </a: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</a:t>
            </a: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(projeto_id </a:t>
            </a: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 NOT NULL</a:t>
            </a: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           </a:t>
            </a: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VIOLATION FAIL UPDATE</a:t>
            </a:r>
            <a:pPr algn="l" indent="0" marL="0">
              <a:lnSpc>
                <a:spcPts val="1450"/>
              </a:lnSpc>
              <a:buNone/>
            </a:pPr>
            <a:endParaRPr lang="en-US" sz="1000" dirty="0"/>
          </a:p>
          <a:p>
            <a:pPr algn="l" indent="0" marL="0">
              <a:lnSpc>
                <a:spcPts val="1450"/>
              </a:lnSpc>
              <a:buNone/>
            </a:pP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CONSTRAINT</a:t>
            </a: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pct_entre_0_e_100 </a:t>
            </a: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</a:t>
            </a: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(pct_concluido </a:t>
            </a: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BETWEEN</a:t>
            </a: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 </a:t>
            </a: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100) </a:t>
            </a: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VIOLATION FAIL UPDATE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61981" y="4193276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14377" y="4231375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teste da integração: 4.917 tarefas, nenhuma sem projeto, e o custo total não mudou um centavo (R$ 193,35 mi).</a:t>
            </a:r>
            <a:endParaRPr lang="en-US" sz="11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1055074" y="6387940"/>
            <a:ext cx="389626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21 / 51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 2 · ENQUANTO RODA · COMO A BRONZE ENTROU ONTEM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Ler do jeito que chegou,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sem consertar nada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10667733" cy="3026791"/>
          </a:xfrm>
          <a:prstGeom prst="roundRect">
            <a:avLst>
              <a:gd name="adj" fmla="val 4615"/>
            </a:avLst>
          </a:prstGeom>
          <a:solidFill>
            <a:srgbClr val="101016"/>
          </a:solidFill>
          <a:ln w="6350">
            <a:solidFill>
              <a:srgbClr val="2F2F39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027" y="1728347"/>
            <a:ext cx="10375641" cy="273469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1981" y="4761488"/>
            <a:ext cx="3454314" cy="1397858"/>
          </a:xfrm>
          <a:prstGeom prst="roundRect">
            <a:avLst>
              <a:gd name="adj" fmla="val 10902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84225" y="4958333"/>
            <a:ext cx="1785099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073123" y="4996432"/>
            <a:ext cx="167159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Lê primeiro, entende depois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984225" y="5371073"/>
            <a:ext cx="3130218" cy="59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Excel,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inferColumnTypes =&gt; false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tudo vira texto e a limpeza decide depois, na silver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68691" y="4761488"/>
            <a:ext cx="3454314" cy="1397858"/>
          </a:xfrm>
          <a:prstGeom prst="roundRect">
            <a:avLst>
              <a:gd name="adj" fmla="val 10902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90935" y="4958333"/>
            <a:ext cx="1074016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9833" y="4996432"/>
            <a:ext cx="93206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estrutura fica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4590935" y="5371073"/>
            <a:ext cx="3130218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JSON e no XML, lista dentro de lista continua lista: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custom_fields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Baseline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975401" y="4761488"/>
            <a:ext cx="3454314" cy="1397858"/>
          </a:xfrm>
          <a:prstGeom prst="roundRect">
            <a:avLst>
              <a:gd name="adj" fmla="val 10902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197645" y="4958333"/>
            <a:ext cx="924894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286543" y="4996432"/>
            <a:ext cx="776982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onde veio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8197645" y="5371073"/>
            <a:ext cx="3130218" cy="59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_metadata.file_name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grava o arquivo de cada linha. É assim que a planilha diz de qual projeto é</a:t>
            </a:r>
            <a:endParaRPr lang="en-US" sz="115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1026202" y="6387940"/>
            <a:ext cx="419653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22 / 51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380990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RECURSO DO DATABRICKS · LAKEFLOW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704832"/>
            <a:ext cx="11094443" cy="363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spc="-2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Lakeflow pipeline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1820118"/>
            <a:ext cx="6455308" cy="278818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95085" y="1182261"/>
            <a:ext cx="4034630" cy="4063898"/>
          </a:xfrm>
          <a:prstGeom prst="roundRect">
            <a:avLst>
              <a:gd name="adj" fmla="val 3777"/>
            </a:avLst>
          </a:prstGeom>
          <a:solidFill>
            <a:srgbClr val="0059DB"/>
          </a:solidFill>
          <a:ln/>
        </p:spPr>
      </p:sp>
      <p:sp>
        <p:nvSpPr>
          <p:cNvPr id="6" name="Shape 3"/>
          <p:cNvSpPr/>
          <p:nvPr/>
        </p:nvSpPr>
        <p:spPr>
          <a:xfrm>
            <a:off x="7617329" y="1379106"/>
            <a:ext cx="616034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06227" y="1417205"/>
            <a:ext cx="45576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é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7617329" y="179819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807824" y="1715648"/>
            <a:ext cx="3535631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você escreve o </a:t>
            </a:r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quê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(SQL de cada tabela), o Databricks resolve o </a:t>
            </a:r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quando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 a ordem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617329" y="228574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807824" y="2203196"/>
            <a:ext cx="3535631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desenha o grafo sozinho, a partir dos 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617329" y="2567618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807824" y="2485070"/>
            <a:ext cx="3535631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expectativas de qualidade em cada tabela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617329" y="2830442"/>
            <a:ext cx="650958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706227" y="2868541"/>
            <a:ext cx="49208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Farol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7617329" y="3243181"/>
            <a:ext cx="3733746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2: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vertice_medalhao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as 3 ferramentas desaguando em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silver.tarefas</a:t>
            </a:r>
            <a:endParaRPr lang="en-US" sz="11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1024019" y="6387940"/>
            <a:ext cx="421923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23 / 51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 2 · O PIPELINE VERTICE_MEDALHAO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8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Você declara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cada tabela é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; o Lakeflow acha a ordem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2015281"/>
            <a:ext cx="10667733" cy="4144065"/>
          </a:xfrm>
          <a:prstGeom prst="roundRect">
            <a:avLst>
              <a:gd name="adj" fmla="val 3371"/>
            </a:avLst>
          </a:prstGeom>
          <a:solidFill>
            <a:srgbClr val="101016"/>
          </a:solidFill>
          <a:ln w="6350">
            <a:solidFill>
              <a:srgbClr val="2F2F39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027" y="2161327"/>
            <a:ext cx="10375641" cy="3851972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017272" y="6387940"/>
            <a:ext cx="428940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24 / 51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 2 · O PIPELINE NO WORKSPACE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grafo que o Lakeflow desenha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sozinho</a:t>
            </a:r>
            <a:endParaRPr lang="en-US" sz="3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349" y="1455304"/>
            <a:ext cx="10584996" cy="4571886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1018364" y="6387940"/>
            <a:ext cx="427805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25 / 51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 2 · SILVER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tabelas limpas: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sujeira resolvida uma vez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876278" y="1582301"/>
            <a:ext cx="154158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SILVER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2587163" y="1582301"/>
            <a:ext cx="474857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30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LINHAS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3272351" y="1582301"/>
            <a:ext cx="836478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A LIMPEZA FEZ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61981" y="1880744"/>
            <a:ext cx="1710885" cy="549857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76278" y="1982341"/>
            <a:ext cx="1541583" cy="346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tarefas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72866" y="1880744"/>
            <a:ext cx="685188" cy="549857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587163" y="1982341"/>
            <a:ext cx="474857" cy="346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4.917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58054" y="1880744"/>
            <a:ext cx="8271660" cy="549857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272351" y="1982341"/>
            <a:ext cx="8364789" cy="346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 3 ferramentas viram uma</a:t>
            </a:r>
            <a:pPr algn="l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sem linha de TOTAL, sem tarefa-resumo, data de série e milissegundo convertidas (Excel 1.643 · ClickUp 2.119 · Project 1.155)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61981" y="2481399"/>
            <a:ext cx="1710885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76278" y="2582996"/>
            <a:ext cx="1541583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projetos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472866" y="2481399"/>
            <a:ext cx="685188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587163" y="2582996"/>
            <a:ext cx="474857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60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158054" y="2481399"/>
            <a:ext cx="8271660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272351" y="2582996"/>
            <a:ext cx="8364789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em 2 formatos unificada; ferramenta de 8 jeitos vira excel, clickup ou msproject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61981" y="2908723"/>
            <a:ext cx="1710885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76278" y="3010321"/>
            <a:ext cx="1541583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status_semanal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472866" y="2908723"/>
            <a:ext cx="685188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587163" y="3010321"/>
            <a:ext cx="474857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3.911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158054" y="2908723"/>
            <a:ext cx="8271660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272351" y="3010321"/>
            <a:ext cx="8364789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farol em minúsculas; status vazio sinalizado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61981" y="3336048"/>
            <a:ext cx="1710885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76278" y="3437645"/>
            <a:ext cx="1541583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custos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472866" y="3336048"/>
            <a:ext cx="685188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2587163" y="3437645"/>
            <a:ext cx="474857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23.640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158054" y="3336048"/>
            <a:ext cx="8271660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272351" y="3437645"/>
            <a:ext cx="8364789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vírgula decimal recuperada: os 671 lançamentos voltam (R$ 193,35 mi)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61981" y="3763372"/>
            <a:ext cx="1710885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76278" y="3864970"/>
            <a:ext cx="1541583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colaboradores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472866" y="3763372"/>
            <a:ext cx="685188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2587163" y="3864970"/>
            <a:ext cx="474857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520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158054" y="3763372"/>
            <a:ext cx="8271660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3272351" y="3864970"/>
            <a:ext cx="8364789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duplicatas do RH removidas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61981" y="4190697"/>
            <a:ext cx="1710885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76278" y="4292294"/>
            <a:ext cx="1541583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apontamentos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472866" y="4190697"/>
            <a:ext cx="685188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2587163" y="4292294"/>
            <a:ext cx="474857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30.883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158054" y="4190697"/>
            <a:ext cx="8271660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3272351" y="4292294"/>
            <a:ext cx="8364789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semana alinhada à sexta do status; hora extra sinalizada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61981" y="4618021"/>
            <a:ext cx="1710885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876278" y="4719619"/>
            <a:ext cx="1541583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entregas_fornecedor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2472866" y="4618021"/>
            <a:ext cx="685188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2587163" y="4719619"/>
            <a:ext cx="474857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640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158054" y="4618021"/>
            <a:ext cx="8271660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3272351" y="4719619"/>
            <a:ext cx="8364789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CodeForge de 4 jeitos vira 1; atraso calculado</a:t>
            </a:r>
            <a:endParaRPr lang="en-US" sz="1050" dirty="0"/>
          </a:p>
        </p:txBody>
      </p:sp>
      <p:pic>
        <p:nvPicPr>
          <p:cNvPr id="4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50" name="Text 47"/>
          <p:cNvSpPr txBox="1"/>
          <p:nvPr/>
        </p:nvSpPr>
        <p:spPr>
          <a:xfrm>
            <a:off x="11017967" y="6387940"/>
            <a:ext cx="428217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26 / 51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 2 · SILVER.TAREFAS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Excel, ClickUp e Project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 mesma tabela</a:t>
            </a:r>
            <a:endParaRPr lang="en-US" sz="3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rcRect l="0" r="0" t="0" b="46458"/>
          <a:stretch/>
        </p:blipFill>
        <p:spPr>
          <a:xfrm>
            <a:off x="761981" y="1455304"/>
            <a:ext cx="10667733" cy="431789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61981" y="5836695"/>
            <a:ext cx="11094443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Mesmas colunas, mesmo tipo, mesma régua, não importa de onde veio. É aqui que o "juntar à mão" da noite 1 vira código testado.</a:t>
            </a:r>
            <a:endParaRPr lang="en-US" sz="1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028384" y="6387940"/>
            <a:ext cx="417383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27 / 51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PONTO DE CONTROLE · PROMPT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Chegou aqui?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Comenta OK no chat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5238619" cy="1784901"/>
          </a:xfrm>
          <a:prstGeom prst="roundRect">
            <a:avLst>
              <a:gd name="adj" fmla="val 8538"/>
            </a:avLst>
          </a:prstGeom>
          <a:solidFill>
            <a:srgbClr val="0059DB"/>
          </a:solidFill>
          <a:ln/>
        </p:spPr>
      </p:sp>
      <p:sp>
        <p:nvSpPr>
          <p:cNvPr id="5" name="Shape 3"/>
          <p:cNvSpPr/>
          <p:nvPr/>
        </p:nvSpPr>
        <p:spPr>
          <a:xfrm>
            <a:off x="984225" y="1779146"/>
            <a:ext cx="833218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3123" y="1817245"/>
            <a:ext cx="681640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 sua tela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84225" y="2115688"/>
            <a:ext cx="4985895" cy="584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600" b="1" spc="-92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4.917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984225" y="2776071"/>
            <a:ext cx="4985895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tarefas na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silver.tarefas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(Excel 1.643 · ClickUp 2.119 · Project 1.155) e R$ 193,35 mi de custo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91095" y="1582301"/>
            <a:ext cx="5238619" cy="1784901"/>
          </a:xfrm>
          <a:prstGeom prst="roundRect">
            <a:avLst>
              <a:gd name="adj" fmla="val 8538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13340" y="1779146"/>
            <a:ext cx="846414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02237" y="1817245"/>
            <a:ext cx="69536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Não bateu?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413340" y="2191886"/>
            <a:ext cx="4985895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copie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vertice/src/silver/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para a sua pasta, faça deploy e rode o job de novo</a:t>
            </a:r>
            <a:endParaRPr lang="en-US" sz="11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1018463" y="6387940"/>
            <a:ext cx="427701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28 / 51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MODELAGEM · O GRÃO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Antes de criar a tabela,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diga o que é uma linha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876278" y="1582301"/>
            <a:ext cx="2915387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TABELA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3908129" y="1582301"/>
            <a:ext cx="351334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UMA LINHA É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514938" y="1582301"/>
            <a:ext cx="585574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30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LINHAS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306585" y="1582301"/>
            <a:ext cx="312918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PAPEL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61981" y="1880744"/>
            <a:ext cx="3031851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76278" y="1982341"/>
            <a:ext cx="2915387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silver.tarefas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93832" y="1880744"/>
            <a:ext cx="3606809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908129" y="1982341"/>
            <a:ext cx="3513343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uma tarefa, de qualquer ferramenta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400641" y="1880744"/>
            <a:ext cx="791647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514938" y="1982341"/>
            <a:ext cx="585574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4.917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92287" y="1880744"/>
            <a:ext cx="3237427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06585" y="1982341"/>
            <a:ext cx="3129186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modelo comum das 3 ferramentas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61981" y="2316303"/>
            <a:ext cx="3031851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76278" y="2417900"/>
            <a:ext cx="2915387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silver.projetos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793832" y="2316303"/>
            <a:ext cx="3606809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908129" y="2417900"/>
            <a:ext cx="3513343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 projeto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00641" y="2316303"/>
            <a:ext cx="791647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514938" y="2417900"/>
            <a:ext cx="585574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92287" y="2316303"/>
            <a:ext cx="3237427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306585" y="2417900"/>
            <a:ext cx="3129186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cadastro e o de-para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61981" y="2751862"/>
            <a:ext cx="3031851" cy="38476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76278" y="2853460"/>
            <a:ext cx="2915387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gold.projeto_situacao_atual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793832" y="2751862"/>
            <a:ext cx="3606809" cy="38476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908129" y="2853460"/>
            <a:ext cx="3513343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 projeto, hoje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400641" y="2751862"/>
            <a:ext cx="791647" cy="38476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514938" y="2853460"/>
            <a:ext cx="585574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60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92287" y="2751862"/>
            <a:ext cx="3237427" cy="38476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06585" y="2853460"/>
            <a:ext cx="3129186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fotografia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61981" y="3187422"/>
            <a:ext cx="3031851" cy="38476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76278" y="3289019"/>
            <a:ext cx="2915387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gold.fato_projeto_semana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793832" y="3187422"/>
            <a:ext cx="3606809" cy="38476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3908129" y="3289019"/>
            <a:ext cx="3513343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 projeto numa sexta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400641" y="3187422"/>
            <a:ext cx="791647" cy="38476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514938" y="3289019"/>
            <a:ext cx="585574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4.235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192287" y="3187422"/>
            <a:ext cx="3237427" cy="38476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306585" y="3289019"/>
            <a:ext cx="3129186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filme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61981" y="3622981"/>
            <a:ext cx="3031851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76278" y="3724579"/>
            <a:ext cx="2915387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gold.utilizacao_pessoa_semana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793832" y="3622981"/>
            <a:ext cx="3606809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3908129" y="3724579"/>
            <a:ext cx="3513343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uma pessoa, num projeto, numa semana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400641" y="3622981"/>
            <a:ext cx="791647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7514938" y="3724579"/>
            <a:ext cx="585574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30.883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192287" y="3622981"/>
            <a:ext cx="3237427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8306585" y="3724579"/>
            <a:ext cx="3129186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 pessoas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61981" y="4058541"/>
            <a:ext cx="3031851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876278" y="4160138"/>
            <a:ext cx="2915387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gold.mv_projetos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793832" y="4058541"/>
            <a:ext cx="3606809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3908129" y="4160138"/>
            <a:ext cx="3513343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nenhuma: guarda a fórmula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400641" y="4058541"/>
            <a:ext cx="791647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7514938" y="4160138"/>
            <a:ext cx="585574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192287" y="4058541"/>
            <a:ext cx="3237427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8306585" y="4160138"/>
            <a:ext cx="3129186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camada semântica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761981" y="4595698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914377" y="4633797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grão decide o que dá para somar. Errou o grão, o número dobra sem dar erro nenhum.</a:t>
            </a:r>
            <a:endParaRPr lang="en-US" sz="1100" dirty="0"/>
          </a:p>
        </p:txBody>
      </p:sp>
      <p:pic>
        <p:nvPicPr>
          <p:cNvPr id="5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59" name="Text 56"/>
          <p:cNvSpPr txBox="1"/>
          <p:nvPr/>
        </p:nvSpPr>
        <p:spPr>
          <a:xfrm>
            <a:off x="11018860" y="6387940"/>
            <a:ext cx="427289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29 / 51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MODELAGEM · O ERRO DE GRÃO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Uma linha de outro tipo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 as horas multiplicam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5238619" cy="2940869"/>
          </a:xfrm>
          <a:prstGeom prst="roundRect">
            <a:avLst>
              <a:gd name="adj" fmla="val 5182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4225" y="1779146"/>
            <a:ext cx="1511957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3123" y="1817245"/>
            <a:ext cx="138752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Excel · a linha de TOTAL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84225" y="2115688"/>
            <a:ext cx="4985895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b="1" spc="-52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1.141.354 h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984225" y="2522078"/>
            <a:ext cx="4985895" cy="197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somando a coluna inteira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984225" y="2858917"/>
            <a:ext cx="4985895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b="1" spc="-52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570.677 h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984225" y="3265307"/>
            <a:ext cx="4985895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sem as 20 linhas de TOTAL: o TOTAL já é a soma das linhas de cima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84225" y="3799289"/>
            <a:ext cx="4794130" cy="527037"/>
          </a:xfrm>
          <a:prstGeom prst="roundRect">
            <a:avLst>
              <a:gd name="adj" fmla="val 21687"/>
            </a:avLst>
          </a:prstGeom>
          <a:solidFill>
            <a:srgbClr val="0C0C10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81070" y="3970734"/>
            <a:ext cx="4583061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tarefa &lt;&gt; </a:t>
            </a: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F6C3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'TOTAL'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91095" y="1582301"/>
            <a:ext cx="5238619" cy="2940869"/>
          </a:xfrm>
          <a:prstGeom prst="roundRect">
            <a:avLst>
              <a:gd name="adj" fmla="val 5182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13340" y="1779146"/>
            <a:ext cx="1965375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02237" y="1817245"/>
            <a:ext cx="185908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MS Project · as tarefas-resumo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413340" y="2115688"/>
            <a:ext cx="4985895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b="1" spc="-52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1.257.975 h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413340" y="2522078"/>
            <a:ext cx="4985895" cy="197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somando as 1.260 linhas do XML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413340" y="2858917"/>
            <a:ext cx="4985895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b="1" spc="-52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419.325 h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6413340" y="3265307"/>
            <a:ext cx="4985895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sem as 105 tarefas-resumo: a fase soma as tarefas de baixo, e o projeto soma as fases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13340" y="3799289"/>
            <a:ext cx="4794130" cy="527037"/>
          </a:xfrm>
          <a:prstGeom prst="roundRect">
            <a:avLst>
              <a:gd name="adj" fmla="val 21687"/>
            </a:avLst>
          </a:prstGeom>
          <a:solidFill>
            <a:srgbClr val="0C0C10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10185" y="3970734"/>
            <a:ext cx="4583061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Summary = 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61981" y="4675567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4377" y="4713666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regra: toda linha de uma tabela é a mesma coisa. Total e resumo são outra coisa, e saem na silver.</a:t>
            </a:r>
            <a:endParaRPr lang="en-US" sz="11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11015883" y="6387940"/>
            <a:ext cx="430384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30 / 51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MODELAGEM · FOTOGRAFIA × FILME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Duas golds de projeto,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duas perguntas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5238619" cy="1956842"/>
          </a:xfrm>
          <a:prstGeom prst="roundRect">
            <a:avLst>
              <a:gd name="adj" fmla="val 7788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4225" y="1779146"/>
            <a:ext cx="2365713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3123" y="1817245"/>
            <a:ext cx="2275434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fotografia · projeto_situacao_atual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84225" y="2115688"/>
            <a:ext cx="4985895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b="1" spc="-52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60 linhas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984225" y="265542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74721" y="2572876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 projeto, em 16/10/2026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84225" y="2937298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74721" y="2854750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% vem das tarefas das 3 ferramentas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84225" y="3219171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74721" y="3136623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responde: quem atrasa hoje? quanto vai custar?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91095" y="1582301"/>
            <a:ext cx="5238619" cy="1956842"/>
          </a:xfrm>
          <a:prstGeom prst="roundRect">
            <a:avLst>
              <a:gd name="adj" fmla="val 7788"/>
            </a:avLst>
          </a:prstGeom>
          <a:solidFill>
            <a:srgbClr val="0059DB"/>
          </a:solidFill>
          <a:ln/>
        </p:spPr>
      </p:sp>
      <p:sp>
        <p:nvSpPr>
          <p:cNvPr id="15" name="Shape 13"/>
          <p:cNvSpPr/>
          <p:nvPr/>
        </p:nvSpPr>
        <p:spPr>
          <a:xfrm>
            <a:off x="6413340" y="1779146"/>
            <a:ext cx="1987401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02237" y="1817245"/>
            <a:ext cx="1881990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filme · fato_projeto_semana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6413340" y="2115688"/>
            <a:ext cx="4985895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b="1" spc="-52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4.235 linhas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6413340" y="265542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03835" y="2572876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 projeto em cada sexta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13340" y="2937298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03835" y="2854750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% vem do status semanal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13340" y="3219171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03835" y="3136623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responde: quem está piorando? E amanhã treina o modelo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61981" y="3704239"/>
            <a:ext cx="25399" cy="495288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4377" y="3742338"/>
            <a:ext cx="10935951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Pergunta para a turma: de onde vem o histórico? Excel, ClickUp e Project só guardam o % de hoje. O único lugar com o % de cada semana é o status que o gerente publica toda sexta.</a:t>
            </a:r>
            <a:endParaRPr lang="en-US" sz="11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11052891" y="6387940"/>
            <a:ext cx="391896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31 / 51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MODELAGEM · ESTRELA OU TABELA LARGA?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modelo serve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quem vai ler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644807"/>
            <a:ext cx="5488049" cy="2142575"/>
          </a:xfrm>
          <a:prstGeom prst="roundRect">
            <a:avLst>
              <a:gd name="adj" fmla="val 6520"/>
            </a:avLst>
          </a:prstGeom>
          <a:solidFill>
            <a:srgbClr val="101016"/>
          </a:solidFill>
          <a:ln w="6350">
            <a:solidFill>
              <a:srgbClr val="2F2F39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027" y="1790854"/>
            <a:ext cx="5195956" cy="185048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40525" y="1582301"/>
            <a:ext cx="4989189" cy="2267687"/>
          </a:xfrm>
          <a:prstGeom prst="roundRect">
            <a:avLst>
              <a:gd name="adj" fmla="val 6720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662769" y="186169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853265" y="1779146"/>
            <a:ext cx="4528373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livro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(Kimball): fato e dimensão separados, ligados por JOIN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662769" y="2349243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853265" y="2266695"/>
            <a:ext cx="4528373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 silver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é assim. Cada assunto no seu grão, todos apontando para o cadastro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662769" y="2836792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853265" y="2754244"/>
            <a:ext cx="4528373" cy="617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 gold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a fotografia já traz o cadastro junto. Quem lê é o Genie e o dashboard: tabela larga com COMMENT é menos JOIN para a IA errar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662769" y="353001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853265" y="3447468"/>
            <a:ext cx="4528373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 isso não tem 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dim_projeto</a:t>
            </a:r>
            <a:endParaRPr lang="en-US" sz="12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1024019" y="6387940"/>
            <a:ext cx="421923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32 / 51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 3 · A GOLD NO CATÁLOGO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objetos,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uma pergunta cada</a:t>
            </a:r>
            <a:endParaRPr lang="en-US" sz="3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2080043"/>
            <a:ext cx="6286343" cy="281442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238819" y="1455304"/>
            <a:ext cx="4190895" cy="2944640"/>
          </a:xfrm>
          <a:prstGeom prst="roundRect">
            <a:avLst>
              <a:gd name="adj" fmla="val 5175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461063" y="1652149"/>
            <a:ext cx="1336146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549961" y="1690248"/>
            <a:ext cx="1204684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Quem cria cada um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7461063" y="2071239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651559" y="1988691"/>
            <a:ext cx="3698148" cy="1028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2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projeto_situacao_atual, fato_projeto_semana, utilizacao_pessoa_semana (pipeline), status_estruturado (IA), mv_projetos (métrica)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461063" y="317581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651559" y="3093266"/>
            <a:ext cx="3698148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3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score_estouro_30d (o modelo)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461063" y="3457687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651559" y="3375139"/>
            <a:ext cx="3698148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4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contratos (IA nos PDFs)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461063" y="3707811"/>
            <a:ext cx="25399" cy="495288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613460" y="3745910"/>
            <a:ext cx="3737771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Toda tabela tem COMMENT: é o que o Genie lê para entender o que cada coluna quer dizer.</a:t>
            </a:r>
            <a:endParaRPr lang="en-US" sz="11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1021836" y="6387940"/>
            <a:ext cx="424193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33 / 51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 3 · GOLD 1 DE 5 · PROJETO_SITUACAO_ATUAL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fotografia de hoje: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perguntas 1 e 2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5238619" cy="2845622"/>
          </a:xfrm>
          <a:prstGeom prst="roundRect">
            <a:avLst>
              <a:gd name="adj" fmla="val 5355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4225" y="1779146"/>
            <a:ext cx="1726363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3123" y="1817245"/>
            <a:ext cx="1610510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Uma linha por projeto (60)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84225" y="219823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74721" y="2115688"/>
            <a:ext cx="4787780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cadastro: cliente, segmento, ferramenta, gerente, contrato, prazo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84225" y="268578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74721" y="2603236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PV, EV, AC calculados sobre as </a:t>
            </a:r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tarefas das 3 ferramentas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84225" y="2967658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74721" y="2885110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SPI, CPI, EAC, </a:t>
            </a:r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estouro previsto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margem, atraso projetado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84225" y="3249531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74721" y="3166983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situação: ok, atenção, crítico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84225" y="3531405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174721" y="3448857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farol do gerente × farol calculado, e a coluna </a:t>
            </a:r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melancia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91095" y="1582301"/>
            <a:ext cx="5238619" cy="2845622"/>
          </a:xfrm>
          <a:prstGeom prst="roundRect">
            <a:avLst>
              <a:gd name="adj" fmla="val 5355"/>
            </a:avLst>
          </a:prstGeom>
          <a:solidFill>
            <a:srgbClr val="0059DB"/>
          </a:solidFill>
          <a:ln/>
        </p:spPr>
      </p:sp>
      <p:sp>
        <p:nvSpPr>
          <p:cNvPr id="18" name="Shape 16"/>
          <p:cNvSpPr/>
          <p:nvPr/>
        </p:nvSpPr>
        <p:spPr>
          <a:xfrm>
            <a:off x="6413340" y="1779146"/>
            <a:ext cx="434964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02237" y="1817245"/>
            <a:ext cx="26745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Hoje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6413340" y="2115688"/>
            <a:ext cx="4985895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b="1" spc="-52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· 10 · 4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6413340" y="2522078"/>
            <a:ext cx="4985895" cy="197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críticos · em atenção · melancias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413340" y="2871616"/>
            <a:ext cx="4985895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b="1" spc="-52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R$ 6,47 mi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6413340" y="3278006"/>
            <a:ext cx="4985895" cy="197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estouro previsto, o mesmo da noite 1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413340" y="3627545"/>
            <a:ext cx="4985895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b="1" spc="-52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0,92 · 0,97</a:t>
            </a:r>
            <a:endParaRPr lang="en-US" sz="2600" dirty="0"/>
          </a:p>
        </p:txBody>
      </p:sp>
      <p:sp>
        <p:nvSpPr>
          <p:cNvPr id="25" name="Text 23"/>
          <p:cNvSpPr txBox="1"/>
          <p:nvPr/>
        </p:nvSpPr>
        <p:spPr>
          <a:xfrm>
            <a:off x="6413340" y="4033935"/>
            <a:ext cx="4985895" cy="197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SPI e CPI da carteira · margem projetada 20,4%</a:t>
            </a:r>
            <a:endParaRPr lang="en-US" sz="115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11015189" y="6387940"/>
            <a:ext cx="431107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34 / 51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 3 · GOLD 2 DE 5 · FATO_PROJETO_SEMANA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evolução: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projeto × semana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5238619" cy="1987203"/>
          </a:xfrm>
          <a:prstGeom prst="roundRect">
            <a:avLst>
              <a:gd name="adj" fmla="val 7669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4225" y="1779146"/>
            <a:ext cx="872409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3123" y="1817245"/>
            <a:ext cx="72239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4.235 linhas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84225" y="219823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74721" y="2115688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PV, EV e AC </a:t>
            </a:r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acumulados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até cada sexta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84225" y="2480109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74721" y="2397561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SPI, CPI e EAC semana a semana; farol do gerente vigente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84225" y="2761983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74721" y="2679435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horas disponíveis, apontadas e ociosas da equipe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84225" y="304385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74721" y="2961308"/>
            <a:ext cx="4787780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EV histórico vem do status semanal: as ferramentas só guardam o % de hoje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91095" y="1582301"/>
            <a:ext cx="5238619" cy="1987203"/>
          </a:xfrm>
          <a:prstGeom prst="roundRect">
            <a:avLst>
              <a:gd name="adj" fmla="val 7669"/>
            </a:avLst>
          </a:prstGeom>
          <a:solidFill>
            <a:srgbClr val="0059DB"/>
          </a:solidFill>
          <a:ln/>
        </p:spPr>
      </p:sp>
      <p:sp>
        <p:nvSpPr>
          <p:cNvPr id="16" name="Shape 14"/>
          <p:cNvSpPr/>
          <p:nvPr/>
        </p:nvSpPr>
        <p:spPr>
          <a:xfrm>
            <a:off x="6413340" y="1779146"/>
            <a:ext cx="1044450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02237" y="1817245"/>
            <a:ext cx="901320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Para que serve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13340" y="219823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03835" y="2115688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linha do SPI e do CPI da carteira no dashboard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13340" y="2480109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03835" y="2397561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"qual era o SPI do PRJ-016 em setembro?" no Genie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13340" y="2761983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03835" y="2679435"/>
            <a:ext cx="4787780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base do modelo da noite 3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cada linha é um "momento" do projeto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61981" y="3721900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4377" y="3759999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Cuidado que vira teste: PV, EV e AC já são acumulados. Somar semanas do mesmo projeto conta duas vezes.</a:t>
            </a:r>
            <a:endParaRPr lang="en-US" sz="11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11016181" y="6387940"/>
            <a:ext cx="430075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35 / 51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 3 · GOLD 3 DE 5 · UTILIZACAO_PESSOA_SEMANA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Pergunta 3: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gente parada × gente pedida</a:t>
            </a:r>
            <a:endParaRPr lang="en-US" sz="3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rcRect l="18266" r="18266" t="0" b="0"/>
          <a:stretch/>
        </p:blipFill>
        <p:spPr>
          <a:xfrm>
            <a:off x="761981" y="1582301"/>
            <a:ext cx="5238619" cy="38099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91095" y="1582301"/>
            <a:ext cx="5238619" cy="2681816"/>
          </a:xfrm>
          <a:prstGeom prst="roundRect">
            <a:avLst>
              <a:gd name="adj" fmla="val 5683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13340" y="1779146"/>
            <a:ext cx="1754144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502237" y="1817245"/>
            <a:ext cx="1639402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Pessoa × projeto × semana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413340" y="219823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603835" y="2115688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utilização = apontado ÷ disponível; custo da hora parada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13340" y="2480109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603835" y="2397561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 o SPI do projeto na mesma semana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13340" y="2755633"/>
            <a:ext cx="800378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502237" y="2793732"/>
            <a:ext cx="64748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resposta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413340" y="3174722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603835" y="3092174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COL0017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 </a:t>
            </a:r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COL0018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SREs seniores, a ~5,5% no PRJ-007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413340" y="345659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603835" y="3374048"/>
            <a:ext cx="4787780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PRJ-011 está sem SRE há </a:t>
            </a:r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 semanas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57 dias de impacto no status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13340" y="394414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603835" y="3861596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decisão óbvia vira simulação na noite 4</a:t>
            </a:r>
            <a:endParaRPr lang="en-US" sz="12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1015784" y="6387940"/>
            <a:ext cx="430487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36 / 51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 3 · TESTES DE QUALIDADE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Melhor o dado de ontem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 o dado errado de hoje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5238619" cy="2345274"/>
          </a:xfrm>
          <a:prstGeom prst="roundRect">
            <a:avLst>
              <a:gd name="adj" fmla="val 6498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4225" y="1779146"/>
            <a:ext cx="1931145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3123" y="1817245"/>
            <a:ext cx="1823484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 testes, depois do medalhão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84225" y="219823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74721" y="2115688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os 60 projetos têm cronograma na silver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84225" y="2480109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74721" y="2397561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cada projeto veio da ferramenta do cadastro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84225" y="2761983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74721" y="2679435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horas da silver = linha de TOTAL de cada planilha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84225" y="304385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74721" y="2961308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uma linha por pessoa; CodeForge virou 1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84225" y="3325729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174721" y="3243181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limpeza não mudou o custo total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84225" y="3607603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174721" y="3525055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 do status bate com o das ferramentas (&lt; 1%)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91095" y="1582301"/>
            <a:ext cx="5238619" cy="2345274"/>
          </a:xfrm>
          <a:prstGeom prst="roundRect">
            <a:avLst>
              <a:gd name="adj" fmla="val 6498"/>
            </a:avLst>
          </a:prstGeom>
          <a:solidFill>
            <a:srgbClr val="0059DB"/>
          </a:solidFill>
          <a:ln/>
        </p:spPr>
      </p:sp>
      <p:sp>
        <p:nvSpPr>
          <p:cNvPr id="20" name="Shape 18"/>
          <p:cNvSpPr/>
          <p:nvPr/>
        </p:nvSpPr>
        <p:spPr>
          <a:xfrm>
            <a:off x="6413340" y="1779146"/>
            <a:ext cx="983134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02237" y="1817245"/>
            <a:ext cx="837552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Como quebra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6413340" y="2115688"/>
            <a:ext cx="4985895" cy="524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WHEN passou THEN 'ok'</a:t>
            </a:r>
            <a:endParaRPr lang="en-US" sz="950" dirty="0"/>
          </a:p>
          <a:p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ELSE raise_error('Teste ' || n</a:t>
            </a:r>
            <a:endParaRPr lang="en-US" sz="950" dirty="0"/>
          </a:p>
          <a:p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|| ' falhou') END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413340" y="2742040"/>
            <a:ext cx="4985895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raise_error interrompe o job antes de o dashboard mostrar meio dado com cara de dado inteiro. Verificação da noite: </a:t>
            </a:r>
            <a:pPr algn="l" indent="0" marL="0">
              <a:lnSpc>
                <a:spcPts val="155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 de 20 ok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115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11026202" y="6387940"/>
            <a:ext cx="419653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37 / 51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380990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RECURSO DO DATABRICKS · LINEAGE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704832"/>
            <a:ext cx="11094443" cy="363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spc="-2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Lineage: de onde veio, para onde vai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rcRect l="14698" r="14698" t="0" b="0"/>
          <a:stretch/>
        </p:blipFill>
        <p:spPr>
          <a:xfrm>
            <a:off x="761981" y="1182261"/>
            <a:ext cx="5257669" cy="355591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61981" y="4788971"/>
            <a:ext cx="5467975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 lista: quem lê 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A3A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projeto_situacao_atual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(Genie, dashboard, metric view, job) e de onde ela vem</a:t>
            </a:r>
            <a:endParaRPr lang="en-US" sz="1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rcRect l="9246" r="9246" t="0" b="0"/>
          <a:stretch/>
        </p:blipFill>
        <p:spPr>
          <a:xfrm>
            <a:off x="6172046" y="1182261"/>
            <a:ext cx="5257669" cy="3555911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172046" y="4788971"/>
            <a:ext cx="5467975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 grafo: silver → gold → metric view e as features do ml, coluna a coluna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761981" y="5284259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377" y="5322358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Ninguém desenhou isto. O Unity Catalog anota sozinho cada leitura e cada escrita.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016280" y="6387940"/>
            <a:ext cx="429972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38 / 51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PONTO DE CONTROLE · PROMPT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Chegou aqui?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Comenta OK no chat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5238619" cy="1784901"/>
          </a:xfrm>
          <a:prstGeom prst="roundRect">
            <a:avLst>
              <a:gd name="adj" fmla="val 8538"/>
            </a:avLst>
          </a:prstGeom>
          <a:solidFill>
            <a:srgbClr val="0059DB"/>
          </a:solidFill>
          <a:ln/>
        </p:spPr>
      </p:sp>
      <p:sp>
        <p:nvSpPr>
          <p:cNvPr id="5" name="Shape 3"/>
          <p:cNvSpPr/>
          <p:nvPr/>
        </p:nvSpPr>
        <p:spPr>
          <a:xfrm>
            <a:off x="984225" y="1779146"/>
            <a:ext cx="833218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3123" y="1817245"/>
            <a:ext cx="681640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 sua tela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84225" y="2115688"/>
            <a:ext cx="4985895" cy="584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600" b="1" spc="-92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· 10 · 4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984225" y="2776071"/>
            <a:ext cx="4985895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críticos, em atenção e melancias na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gold.projeto_situacao_atual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Estouro previsto: R$ 6,47 mi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91095" y="1582301"/>
            <a:ext cx="5238619" cy="1784901"/>
          </a:xfrm>
          <a:prstGeom prst="roundRect">
            <a:avLst>
              <a:gd name="adj" fmla="val 8538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13340" y="1779146"/>
            <a:ext cx="846414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02237" y="1817245"/>
            <a:ext cx="69536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Não bateu?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413340" y="2191886"/>
            <a:ext cx="4985895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copie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vertice/src/gold/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vertice/src/testes/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Se um teste falhou, a mensagem diz qual número não fechou</a:t>
            </a:r>
            <a:endParaRPr lang="en-US" sz="11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1016677" y="6387940"/>
            <a:ext cx="429559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39 / 51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380990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RECURSO DO DATABRICKS · FUNÇÕES DE IA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704832"/>
            <a:ext cx="11094443" cy="363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spc="-2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Funções de IA dentro do SQL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rcRect l="10232" r="10232" t="0" b="0"/>
          <a:stretch/>
        </p:blipFill>
        <p:spPr>
          <a:xfrm>
            <a:off x="761981" y="1182261"/>
            <a:ext cx="6455308" cy="406389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95085" y="1182261"/>
            <a:ext cx="4034630" cy="4063898"/>
          </a:xfrm>
          <a:prstGeom prst="roundRect">
            <a:avLst>
              <a:gd name="adj" fmla="val 3777"/>
            </a:avLst>
          </a:prstGeom>
          <a:solidFill>
            <a:srgbClr val="0059DB"/>
          </a:solidFill>
          <a:ln/>
        </p:spPr>
      </p:sp>
      <p:sp>
        <p:nvSpPr>
          <p:cNvPr id="6" name="Shape 3"/>
          <p:cNvSpPr/>
          <p:nvPr/>
        </p:nvSpPr>
        <p:spPr>
          <a:xfrm>
            <a:off x="7617329" y="1379106"/>
            <a:ext cx="616034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06227" y="1417205"/>
            <a:ext cx="45576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é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7617329" y="179819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807824" y="1715648"/>
            <a:ext cx="3535631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ai_classify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ai_extract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ai_query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ai_parse_document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IA como função SQL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617329" y="228574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807824" y="2203196"/>
            <a:ext cx="3535631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roda sobre a tabela inteira, sem API key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617329" y="2548568"/>
            <a:ext cx="650958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706227" y="2586667"/>
            <a:ext cx="49208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Farol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7617329" y="2961308"/>
            <a:ext cx="3733746" cy="59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2: a causa de cada bloqueio, lida no texto livre do status semanal. O PRJ-011 grita </a:t>
            </a:r>
            <a:pPr algn="l" indent="0" marL="0">
              <a:lnSpc>
                <a:spcPts val="155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falta de SRE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há 12 semanas</a:t>
            </a:r>
            <a:endParaRPr lang="en-US" sz="11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1009136" y="6387940"/>
            <a:ext cx="437401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40 / 51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 4 · GOLD 4 DE 5 · STATUS_ESTRUTURADO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texto livre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vira coluna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10667733" cy="867646"/>
          </a:xfrm>
          <a:prstGeom prst="roundRect">
            <a:avLst>
              <a:gd name="adj" fmla="val 13173"/>
            </a:avLst>
          </a:prstGeom>
          <a:solidFill>
            <a:srgbClr val="0C0C10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58826" y="1753747"/>
            <a:ext cx="10691609" cy="531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ai_classify</a:t>
            </a:r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(texto_status, </a:t>
            </a:r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F6C3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'["change_freeze","falta_sre","dependencia_fornecedor","rotatividade",</a:t>
            </a:r>
            <a:endParaRPr lang="en-US" sz="950" dirty="0"/>
          </a:p>
          <a:p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F6C3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"mudanca_escopo","bug_retrabalho","aprovacao_cliente","sem_bloqueio"]'</a:t>
            </a:r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algn="l" indent="0" marL="0">
              <a:lnSpc>
                <a:spcPts val="1380"/>
              </a:lnSpc>
              <a:buNone/>
            </a:pPr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ai_extract</a:t>
            </a:r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(texto_status, </a:t>
            </a:r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F6C3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'{"bloqueio": ..., "quem_destrava": ..., "dias_impacto": {"type": "number"}}'</a:t>
            </a:r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61981" y="2615043"/>
            <a:ext cx="3437348" cy="1530907"/>
          </a:xfrm>
          <a:prstGeom prst="roundRect">
            <a:avLst>
              <a:gd name="adj" fmla="val 9955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84225" y="2811888"/>
            <a:ext cx="1203989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73123" y="2849987"/>
            <a:ext cx="1067242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Regra · custo zero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984225" y="3148430"/>
            <a:ext cx="3112573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b="1" spc="-52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2.954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984225" y="3554820"/>
            <a:ext cx="3112573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"sem bloqueios" e status vazio: não precisa de IA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77124" y="2615043"/>
            <a:ext cx="3437348" cy="1530907"/>
          </a:xfrm>
          <a:prstGeom prst="roundRect">
            <a:avLst>
              <a:gd name="adj" fmla="val 9955"/>
            </a:avLst>
          </a:prstGeom>
          <a:solidFill>
            <a:srgbClr val="0059DB"/>
          </a:solidFill>
          <a:ln/>
        </p:spPr>
      </p:sp>
      <p:sp>
        <p:nvSpPr>
          <p:cNvPr id="12" name="Shape 10"/>
          <p:cNvSpPr/>
          <p:nvPr/>
        </p:nvSpPr>
        <p:spPr>
          <a:xfrm>
            <a:off x="4599369" y="2811888"/>
            <a:ext cx="1264015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88266" y="2849987"/>
            <a:ext cx="112966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IA · últimos 90 dias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599369" y="3148430"/>
            <a:ext cx="3112573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b="1" spc="-52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163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4599369" y="3554820"/>
            <a:ext cx="3112573" cy="197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status com bloqueio, em ~2 minutos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92267" y="2615043"/>
            <a:ext cx="3437348" cy="1530907"/>
          </a:xfrm>
          <a:prstGeom prst="roundRect">
            <a:avLst>
              <a:gd name="adj" fmla="val 9955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14512" y="2811888"/>
            <a:ext cx="1645502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03410" y="2849987"/>
            <a:ext cx="152641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Palavra-chave · histórico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8214512" y="3148430"/>
            <a:ext cx="3112573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b="1" spc="-52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794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8214512" y="3554820"/>
            <a:ext cx="3112573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onde a IA custaria caro e não muda decisão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61981" y="4285647"/>
            <a:ext cx="25399" cy="495288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4377" y="4323746"/>
            <a:ext cx="10935951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Causas nos últimos 90 dias: escopo 42 · bug 37 · aprovação do cliente 35 · fornecedor 28 · </a:t>
            </a:r>
            <a:pPr algn="l" indent="0" marL="0">
              <a:lnSpc>
                <a:spcPts val="138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falta de SRE 12</a:t>
            </a:r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· rotatividade 9. O MERGE só processa status novo: IA cobra por chamada.</a:t>
            </a:r>
            <a:endParaRPr lang="en-US" sz="11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11046144" y="6387940"/>
            <a:ext cx="398913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41 / 51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 4 · PRÉVIA: AMANHÃ, NO DASHBOARD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 que travou,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projeto a projeto</a:t>
            </a:r>
            <a:endParaRPr lang="en-US" sz="3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300" y="1455304"/>
            <a:ext cx="8877096" cy="4444889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1017272" y="6387940"/>
            <a:ext cx="428940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42 / 51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 5 · GOLD 5 DE 5 · MV_PROJETOS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SPI definido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uma vez só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5238619" cy="2616829"/>
          </a:xfrm>
          <a:prstGeom prst="roundRect">
            <a:avLst>
              <a:gd name="adj" fmla="val 4368"/>
            </a:avLst>
          </a:prstGeom>
          <a:solidFill>
            <a:srgbClr val="0C0C10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58826" y="1753747"/>
            <a:ext cx="5045330" cy="2280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VIEW</a:t>
            </a:r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gold.mv_projetos </a:t>
            </a:r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METRICS</a:t>
            </a:r>
            <a:pPr algn="l" indent="0" marL="0">
              <a:lnSpc>
                <a:spcPts val="1380"/>
              </a:lnSpc>
              <a:buNone/>
            </a:pPr>
            <a:endParaRPr lang="en-US" sz="950" dirty="0"/>
          </a:p>
          <a:p>
            <a:pPr algn="l" indent="0" marL="0">
              <a:lnSpc>
                <a:spcPts val="1380"/>
              </a:lnSpc>
              <a:buNone/>
            </a:pPr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LANGUAGE YAML AS</a:t>
            </a:r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$$</a:t>
            </a:r>
            <a:endParaRPr lang="en-US" sz="950" dirty="0"/>
          </a:p>
          <a:p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gold.projeto_situacao_atual</a:t>
            </a:r>
            <a:endParaRPr lang="en-US" sz="950" dirty="0"/>
          </a:p>
          <a:p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filter: status = 'em_andamento'</a:t>
            </a:r>
            <a:endParaRPr lang="en-US" sz="950" dirty="0"/>
          </a:p>
          <a:p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measures:</a:t>
            </a:r>
            <a:endParaRPr lang="en-US" sz="950" dirty="0"/>
          </a:p>
          <a:p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name: spi</a:t>
            </a:r>
            <a:endParaRPr lang="en-US" sz="950" dirty="0"/>
          </a:p>
          <a:p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expr: SUM(ev) / SUM(pv)</a:t>
            </a:r>
            <a:endParaRPr lang="en-US" sz="950" dirty="0"/>
          </a:p>
          <a:p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name: estouro_previsto</a:t>
            </a:r>
            <a:endParaRPr lang="en-US" sz="950" dirty="0"/>
          </a:p>
          <a:p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expr: SUM(estouro_previsto)</a:t>
            </a:r>
            <a:endParaRPr lang="en-US" sz="950" dirty="0"/>
          </a:p>
          <a:p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name: projetos_em_risco</a:t>
            </a:r>
            <a:endParaRPr lang="en-US" sz="950" dirty="0"/>
          </a:p>
          <a:p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expr: COUNT(1) FILTER (WHERE</a:t>
            </a:r>
            <a:endParaRPr lang="en-US" sz="950" dirty="0"/>
          </a:p>
          <a:p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situacao IN ('atenção','crítico'))</a:t>
            </a:r>
            <a:endParaRPr lang="en-US" sz="950" dirty="0"/>
          </a:p>
          <a:p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$$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191095" y="1582301"/>
            <a:ext cx="5238619" cy="3139004"/>
          </a:xfrm>
          <a:prstGeom prst="roundRect">
            <a:avLst>
              <a:gd name="adj" fmla="val 4855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13340" y="1779146"/>
            <a:ext cx="1114397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02237" y="1817245"/>
            <a:ext cx="97406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 que importa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13340" y="219823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03835" y="2115688"/>
            <a:ext cx="4787780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dashboard, Genie e app pedem </a:t>
            </a:r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MEASURE(spi)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 recebem a mesma fórmula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13340" y="268578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03835" y="2603236"/>
            <a:ext cx="4787780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ninguém reescreve SPI num CASE escondido dentro de um gráfico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13340" y="3173333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03835" y="3090785"/>
            <a:ext cx="4787780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uma metric view só, de propósito: é a dos números da diretoria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13340" y="3629133"/>
            <a:ext cx="4794130" cy="895328"/>
          </a:xfrm>
          <a:prstGeom prst="roundRect">
            <a:avLst>
              <a:gd name="adj" fmla="val 12766"/>
            </a:avLst>
          </a:prstGeom>
          <a:solidFill>
            <a:srgbClr val="0C0C10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10185" y="3800578"/>
            <a:ext cx="4583061" cy="558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MEASURE(spi), MEASURE(estouro_previsto)</a:t>
            </a:r>
            <a:endParaRPr lang="en-US" sz="1000" dirty="0"/>
          </a:p>
          <a:p>
            <a:pPr algn="l" indent="0" marL="0">
              <a:lnSpc>
                <a:spcPts val="1450"/>
              </a:lnSpc>
              <a:buNone/>
            </a:pP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gold.mv_projetos</a:t>
            </a:r>
            <a:endParaRPr lang="en-US" sz="1000" dirty="0"/>
          </a:p>
          <a:p>
            <a:pPr algn="l" indent="0" marL="0">
              <a:lnSpc>
                <a:spcPts val="1450"/>
              </a:lnSpc>
              <a:buNone/>
            </a:pP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-- 0,92 · R$ 6.465.127</a:t>
            </a:r>
            <a:endParaRPr lang="en-US" sz="10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1015189" y="6387940"/>
            <a:ext cx="431107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43 / 51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380990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RECURSO DO DATABRICKS · METRIC 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704832"/>
            <a:ext cx="11094443" cy="363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spc="-2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Metric view: a fórmula num lugar só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710" y="1182261"/>
            <a:ext cx="5917850" cy="406389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95085" y="1182261"/>
            <a:ext cx="4034630" cy="4063898"/>
          </a:xfrm>
          <a:prstGeom prst="roundRect">
            <a:avLst>
              <a:gd name="adj" fmla="val 3777"/>
            </a:avLst>
          </a:prstGeom>
          <a:solidFill>
            <a:srgbClr val="0059DB"/>
          </a:solidFill>
          <a:ln/>
        </p:spPr>
      </p:sp>
      <p:sp>
        <p:nvSpPr>
          <p:cNvPr id="6" name="Shape 3"/>
          <p:cNvSpPr/>
          <p:nvPr/>
        </p:nvSpPr>
        <p:spPr>
          <a:xfrm>
            <a:off x="7617329" y="1379106"/>
            <a:ext cx="616034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06227" y="1417205"/>
            <a:ext cx="45576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é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7617329" y="179819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807824" y="1715648"/>
            <a:ext cx="3535631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guarda a </a:t>
            </a:r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fórmula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do KPI, não o número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617329" y="2080069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807824" y="1997521"/>
            <a:ext cx="3535631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MEASURE(cpi)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é sempre ΣEV ÷ ΣAC, em qualquer grão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617329" y="2567618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807824" y="2485070"/>
            <a:ext cx="3535631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comentário de cada medida ensina o Genie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617329" y="3036117"/>
            <a:ext cx="650958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706227" y="3074216"/>
            <a:ext cx="49208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Farol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7617329" y="3448857"/>
            <a:ext cx="3733746" cy="59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2: uma metric view só, a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mv_projetos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com 11 medidas: SPI 0,92 · CPI 0,97 · 7 críticos · 4 melancias</a:t>
            </a:r>
            <a:endParaRPr lang="en-US" sz="11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1008442" y="6387940"/>
            <a:ext cx="438123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44 / 51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PONTO DE CONTROLE · PROMPTS 4 E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Chegou aqui?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Comenta OK no chat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5238619" cy="1784901"/>
          </a:xfrm>
          <a:prstGeom prst="roundRect">
            <a:avLst>
              <a:gd name="adj" fmla="val 8538"/>
            </a:avLst>
          </a:prstGeom>
          <a:solidFill>
            <a:srgbClr val="0059DB"/>
          </a:solidFill>
          <a:ln/>
        </p:spPr>
      </p:sp>
      <p:sp>
        <p:nvSpPr>
          <p:cNvPr id="5" name="Shape 3"/>
          <p:cNvSpPr/>
          <p:nvPr/>
        </p:nvSpPr>
        <p:spPr>
          <a:xfrm>
            <a:off x="984225" y="1779146"/>
            <a:ext cx="833218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3123" y="1817245"/>
            <a:ext cx="681640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 sua tela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84225" y="2115688"/>
            <a:ext cx="4985895" cy="584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600" b="1" spc="-92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falta_sre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984225" y="2776071"/>
            <a:ext cx="4985895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causa do PRJ-011 em 12 semanas, lida pela IA. E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MEASURE(spi)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= 0,92 na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mv_projetos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91095" y="1582301"/>
            <a:ext cx="5238619" cy="1784901"/>
          </a:xfrm>
          <a:prstGeom prst="roundRect">
            <a:avLst>
              <a:gd name="adj" fmla="val 8538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13340" y="1779146"/>
            <a:ext cx="846414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02237" y="1817245"/>
            <a:ext cx="69536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Não bateu?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413340" y="2191886"/>
            <a:ext cx="4985895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copie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vertice/src/ia/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vertice/src/metricas/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A metric view roda pelo job, nunca colada no terminal</a:t>
            </a:r>
            <a:endParaRPr lang="en-US" sz="11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1009434" y="6387940"/>
            <a:ext cx="437091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45 / 51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2 · O QUE MUDOU DA NOITE 1 PARA CÁ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8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Os mesmos números,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agora sem ninguém juntar à mão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2680625" y="2015281"/>
            <a:ext cx="4949471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1 · BRONZE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668326" y="2015281"/>
            <a:ext cx="3792974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2 · GOLD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61981" y="2313723"/>
            <a:ext cx="1804347" cy="40123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76278" y="2415321"/>
            <a:ext cx="1638783" cy="19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Integração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6328" y="2313723"/>
            <a:ext cx="4987701" cy="40123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680625" y="2415321"/>
            <a:ext cx="4949471" cy="19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uma view com CASE, replace e conversão de data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554029" y="2313723"/>
            <a:ext cx="3875685" cy="40123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668326" y="2415321"/>
            <a:ext cx="3792974" cy="19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silver.tarefas, testada, num pipeline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61981" y="2765753"/>
            <a:ext cx="1804347" cy="40123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76278" y="2867350"/>
            <a:ext cx="1638783" cy="19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KPI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566328" y="2765753"/>
            <a:ext cx="4987701" cy="40123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680625" y="2867350"/>
            <a:ext cx="4949471" cy="19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fórmula repetida em cada query e gráfico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54029" y="2765753"/>
            <a:ext cx="3875685" cy="40123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68326" y="2867350"/>
            <a:ext cx="3792974" cy="19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mv_projetos: uma fórmula para todos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61981" y="3217782"/>
            <a:ext cx="1804347" cy="40123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76278" y="3319380"/>
            <a:ext cx="1638783" cy="19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 que atrasou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66328" y="3217782"/>
            <a:ext cx="4987701" cy="40123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680625" y="3319380"/>
            <a:ext cx="4949471" cy="19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ler 3.911 textos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554029" y="3217782"/>
            <a:ext cx="3875685" cy="40123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68326" y="3319380"/>
            <a:ext cx="3792974" cy="19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causa como coluna (IA)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61981" y="3669811"/>
            <a:ext cx="1804347" cy="40123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76278" y="3771409"/>
            <a:ext cx="1638783" cy="19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Fonte nova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566328" y="3669811"/>
            <a:ext cx="4987701" cy="40123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2680625" y="3771409"/>
            <a:ext cx="4949471" cy="19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só arquivo, subido à mão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554029" y="3669811"/>
            <a:ext cx="3875685" cy="40123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668326" y="3771409"/>
            <a:ext cx="3792974" cy="19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API em Python, num prompt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61981" y="4121841"/>
            <a:ext cx="1804347" cy="40123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76278" y="4223438"/>
            <a:ext cx="1638783" cy="19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Atualizar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566328" y="4121841"/>
            <a:ext cx="4987701" cy="40123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2680625" y="4223438"/>
            <a:ext cx="4949471" cy="19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rodar tudo de novo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554029" y="4121841"/>
            <a:ext cx="3875685" cy="40123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668326" y="4223438"/>
            <a:ext cx="3792974" cy="19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job toda segunda às 6h</a:t>
            </a:r>
            <a:endParaRPr lang="en-US" sz="1200" dirty="0"/>
          </a:p>
        </p:txBody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37" name="Text 34"/>
          <p:cNvSpPr txBox="1"/>
          <p:nvPr/>
        </p:nvSpPr>
        <p:spPr>
          <a:xfrm>
            <a:off x="11009037" y="6387940"/>
            <a:ext cx="437504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46 / 51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2 · FECHO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 4 perguntas do dono,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respondidas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876278" y="1582301"/>
            <a:ext cx="359702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PERGUNTA DO DONO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63552" y="1582301"/>
            <a:ext cx="209537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ONDE NASCE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806931" y="1582301"/>
            <a:ext cx="468882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APARECE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61981" y="1880744"/>
            <a:ext cx="3687273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76278" y="1982341"/>
            <a:ext cx="3597026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 Quais projetos atrasam, e de quais clientes?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49254" y="1880744"/>
            <a:ext cx="2243379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63552" y="1982341"/>
            <a:ext cx="2095376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 3 · gold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692633" y="1880744"/>
            <a:ext cx="4737081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06931" y="1982341"/>
            <a:ext cx="4688826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críticos, 10 em atenção, 4 melancias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61981" y="2316303"/>
            <a:ext cx="3687273" cy="5663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76278" y="2417900"/>
            <a:ext cx="3597026" cy="363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 Quanto esse atraso vai custar?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49254" y="2316303"/>
            <a:ext cx="2243379" cy="5663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63552" y="2417900"/>
            <a:ext cx="2095376" cy="363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prompts 3 e 5 · gold + métrica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92633" y="2316303"/>
            <a:ext cx="4737081" cy="5663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06931" y="2417900"/>
            <a:ext cx="4688826" cy="363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R$ 6,47 mi de estouro previsto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61981" y="2933428"/>
            <a:ext cx="3687273" cy="56632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76278" y="3035026"/>
            <a:ext cx="3597026" cy="363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 Tenho gente parada enquanto outro pede gente?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49254" y="2933428"/>
            <a:ext cx="2243379" cy="56632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63552" y="3035026"/>
            <a:ext cx="2095376" cy="363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prompts 3 e 4 · timesheet + IA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692633" y="2933428"/>
            <a:ext cx="4737081" cy="56632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806931" y="3035026"/>
            <a:ext cx="4688826" cy="363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SREs a ~5% no PRJ-007; o PRJ-011 pede SRE há 12 semanas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61981" y="3550553"/>
            <a:ext cx="3687273" cy="5663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76278" y="3652151"/>
            <a:ext cx="3597026" cy="363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 O que vai dar errado no próximo mês?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449254" y="3550553"/>
            <a:ext cx="2243379" cy="5663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563552" y="3652151"/>
            <a:ext cx="2095376" cy="363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silver · fornecedores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692633" y="3550553"/>
            <a:ext cx="4737081" cy="5663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806931" y="3652151"/>
            <a:ext cx="4688826" cy="363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entregas da CodeForge atrasadas e o freeze da Black Friday (01/11)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61981" y="4269276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14377" y="4307375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pergunta 4 ganha um modelo de previsão amanhã, e o dono passa a perguntar no Genie. Hoje ela já tem os sinais.</a:t>
            </a:r>
            <a:endParaRPr lang="en-US" sz="1100" dirty="0"/>
          </a:p>
        </p:txBody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34" name="Text 31"/>
          <p:cNvSpPr txBox="1"/>
          <p:nvPr/>
        </p:nvSpPr>
        <p:spPr>
          <a:xfrm>
            <a:off x="11019455" y="6387940"/>
            <a:ext cx="426670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47 / 51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2 · O QUE DEVE APARECER NA TELA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Seu número é diferente?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erro está no código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876278" y="1582301"/>
            <a:ext cx="3731064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MÉTRICA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692433" y="1582301"/>
            <a:ext cx="688790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VALOR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61981" y="1880744"/>
            <a:ext cx="3816155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76278" y="1982341"/>
            <a:ext cx="3731064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Tarefas na silver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8136" y="1880744"/>
            <a:ext cx="6851578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92433" y="1982341"/>
            <a:ext cx="6887903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4.917 · Excel 1.643 · ClickUp 2.119 · MS Project 1.155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61981" y="2308068"/>
            <a:ext cx="3816155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76278" y="2409666"/>
            <a:ext cx="3731064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Custo real (silver = bronze)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8136" y="2308068"/>
            <a:ext cx="6851578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92433" y="2409666"/>
            <a:ext cx="6887903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R$ 193,35 mi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61981" y="2735393"/>
            <a:ext cx="3816155" cy="37652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76278" y="2836990"/>
            <a:ext cx="3731064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 andamento · críticos · em atenção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8136" y="2735393"/>
            <a:ext cx="6851578" cy="37652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692433" y="2836990"/>
            <a:ext cx="6887903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41 · 7 · 10 · estouro previsto R$ 6,47 mi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61981" y="3162717"/>
            <a:ext cx="3816155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76278" y="3264314"/>
            <a:ext cx="3731064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SPI · CPI · margem da carteira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8136" y="3162717"/>
            <a:ext cx="6851578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692433" y="3264314"/>
            <a:ext cx="6887903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0,92 · 0,97 · 20,4%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61981" y="3590041"/>
            <a:ext cx="3816155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76278" y="3691639"/>
            <a:ext cx="3731064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Melancias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8136" y="3590041"/>
            <a:ext cx="6851578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692433" y="3691639"/>
            <a:ext cx="6887903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PRJ-012, PRJ-028, PRJ-034, PRJ-042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61981" y="4017366"/>
            <a:ext cx="3816155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76278" y="4118963"/>
            <a:ext cx="3731064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Fornecedores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8136" y="4017366"/>
            <a:ext cx="6851578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692433" y="4118963"/>
            <a:ext cx="6887903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entregas em atraso, todas da CodeForge (1,41 × o prazo)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61981" y="4444690"/>
            <a:ext cx="3816155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76278" y="4546288"/>
            <a:ext cx="3731064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Pessoas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78136" y="4444690"/>
            <a:ext cx="6851578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692433" y="4546288"/>
            <a:ext cx="6887903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COL0017 e COL0018 a ~5,5% no PRJ-007 · PRJ-011: falta de SRE, 12 semanas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61981" y="4872015"/>
            <a:ext cx="3816155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76278" y="4973612"/>
            <a:ext cx="3731064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API · IA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578136" y="4872015"/>
            <a:ext cx="6851578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692433" y="4973612"/>
            <a:ext cx="6887903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 feriados na bronze.feriados · 163 status lidos pela IA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61981" y="5375537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14377" y="5413637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dado é sempre o mesmo (seed 42). </a:t>
            </a:r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prd/99-verificacao.sql</a:t>
            </a:r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confere tudo: 20 linhas ok.</a:t>
            </a:r>
            <a:endParaRPr lang="en-US" sz="1100" dirty="0"/>
          </a:p>
        </p:txBody>
      </p:sp>
      <p:pic>
        <p:nvPicPr>
          <p:cNvPr id="4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41" name="Text 38"/>
          <p:cNvSpPr txBox="1"/>
          <p:nvPr/>
        </p:nvSpPr>
        <p:spPr>
          <a:xfrm>
            <a:off x="11009533" y="6387940"/>
            <a:ext cx="436988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48 / 51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2 · SE DER ERRADO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Sintoma, causa,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fazer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876278" y="1582301"/>
            <a:ext cx="3277772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SINTOMA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256576" y="1582301"/>
            <a:ext cx="295707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CAUSA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328511" y="1582301"/>
            <a:ext cx="414638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FAZER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61981" y="1880744"/>
            <a:ext cx="3380298" cy="36630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76278" y="1982341"/>
            <a:ext cx="3277772" cy="163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9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refresh token is invalid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42279" y="1880744"/>
            <a:ext cx="3071934" cy="36630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256576" y="1982341"/>
            <a:ext cx="2957073" cy="163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9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login expirado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214213" y="1880744"/>
            <a:ext cx="4215501" cy="36630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28511" y="1982341"/>
            <a:ext cx="4146383" cy="163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950" dirty="0">
                <a:solidFill>
                  <a:srgbClr val="F5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databricks auth login --profile ...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61981" y="2297849"/>
            <a:ext cx="3380298" cy="36630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76278" y="2399446"/>
            <a:ext cx="3277772" cy="163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9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dev_fulano_silver não existe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42279" y="2297849"/>
            <a:ext cx="3071934" cy="36630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256576" y="2399446"/>
            <a:ext cx="2957073" cy="163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950" dirty="0">
                <a:solidFill>
                  <a:srgbClr val="F5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mode: development</a:t>
            </a:r>
            <a:pPr algn="l" indent="0" marL="0">
              <a:lnSpc>
                <a:spcPts val="1240"/>
              </a:lnSpc>
              <a:buNone/>
            </a:pPr>
            <a:r>
              <a:rPr lang="en-US" sz="9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no bundle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214213" y="2297849"/>
            <a:ext cx="4215501" cy="36630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28511" y="2399446"/>
            <a:ext cx="4146383" cy="163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950" dirty="0">
                <a:solidFill>
                  <a:srgbClr val="F5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presets: trigger_pause_status: PAUSED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61981" y="2714954"/>
            <a:ext cx="3380298" cy="359957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76278" y="2816551"/>
            <a:ext cx="3277772" cy="156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9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pipeline para em achou_o_projeto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42279" y="2714954"/>
            <a:ext cx="3071934" cy="359957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256576" y="2816551"/>
            <a:ext cx="2957073" cy="156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9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arquivo que não casou com o de-para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214213" y="2714954"/>
            <a:ext cx="4215501" cy="359957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328511" y="2816551"/>
            <a:ext cx="4146383" cy="156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9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casar pelo nome do arquivo (Excel) e da lista (ClickUp)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61981" y="3125709"/>
            <a:ext cx="3380298" cy="36630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76278" y="3227307"/>
            <a:ext cx="3277772" cy="163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9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CAST_INVALID_INPUT '1827,44'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142279" y="3125709"/>
            <a:ext cx="3071934" cy="36630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256576" y="3227307"/>
            <a:ext cx="2957073" cy="163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9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vírgula decimal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214213" y="3125709"/>
            <a:ext cx="4215501" cy="36630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328511" y="3227307"/>
            <a:ext cx="4146383" cy="163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950" dirty="0">
                <a:solidFill>
                  <a:srgbClr val="F5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replace(',', '.')</a:t>
            </a:r>
            <a:pPr algn="l" indent="0" marL="0">
              <a:lnSpc>
                <a:spcPts val="1240"/>
              </a:lnSpc>
              <a:buNone/>
            </a:pPr>
            <a:r>
              <a:rPr lang="en-US" sz="9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antes do CAST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61981" y="3542815"/>
            <a:ext cx="3380298" cy="36630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76278" y="3644412"/>
            <a:ext cx="3277772" cy="163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9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METRIC_VIEW_INVALID_VIEW_DEFINITION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142279" y="3542815"/>
            <a:ext cx="3071934" cy="36630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256576" y="3644412"/>
            <a:ext cx="2957073" cy="163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9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YAML perdeu a indentação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214213" y="3542815"/>
            <a:ext cx="4215501" cy="36630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328511" y="3644412"/>
            <a:ext cx="4146383" cy="163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9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rodar pela </a:t>
            </a:r>
            <a:pPr algn="l" indent="0" marL="0">
              <a:lnSpc>
                <a:spcPts val="1240"/>
              </a:lnSpc>
              <a:buNone/>
            </a:pPr>
            <a:r>
              <a:rPr lang="en-US" sz="950" dirty="0">
                <a:solidFill>
                  <a:srgbClr val="F5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sql_task</a:t>
            </a:r>
            <a:pPr algn="l" indent="0" marL="0">
              <a:lnSpc>
                <a:spcPts val="1240"/>
              </a:lnSpc>
              <a:buNone/>
            </a:pPr>
            <a:r>
              <a:rPr lang="en-US" sz="9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ou pelo </a:t>
            </a:r>
            <a:pPr algn="l" indent="0" marL="0">
              <a:lnSpc>
                <a:spcPts val="1240"/>
              </a:lnSpc>
              <a:buNone/>
            </a:pPr>
            <a:r>
              <a:rPr lang="en-US" sz="950" dirty="0">
                <a:solidFill>
                  <a:srgbClr val="F5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run_sql.py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61981" y="3959920"/>
            <a:ext cx="3380298" cy="36630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76278" y="4061517"/>
            <a:ext cx="3277772" cy="163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9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such directory (volume)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142279" y="3959920"/>
            <a:ext cx="3071934" cy="36630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4256576" y="4061517"/>
            <a:ext cx="2957073" cy="163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9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pasta nova não existe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214213" y="3959920"/>
            <a:ext cx="4215501" cy="36630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7328511" y="4061517"/>
            <a:ext cx="4146383" cy="163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950" dirty="0">
                <a:solidFill>
                  <a:srgbClr val="F5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databricks fs mkdir</a:t>
            </a:r>
            <a:pPr algn="l" indent="0" marL="0">
              <a:lnSpc>
                <a:spcPts val="1240"/>
              </a:lnSpc>
              <a:buNone/>
            </a:pPr>
            <a:r>
              <a:rPr lang="en-US" sz="9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antes do cp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61981" y="4377025"/>
            <a:ext cx="3380298" cy="359957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876278" y="4478622"/>
            <a:ext cx="3277772" cy="156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9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IA leva 15 minutos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142279" y="4377025"/>
            <a:ext cx="3071934" cy="359957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4256576" y="4478622"/>
            <a:ext cx="2957073" cy="156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9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IA no histórico inteiro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214213" y="4377025"/>
            <a:ext cx="4215501" cy="359957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7328511" y="4478622"/>
            <a:ext cx="4146383" cy="156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9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só os 90 dias com bloqueio; regra no resto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61981" y="4851279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914377" y="4889378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 prompt não entregou? O gabarito está em </a:t>
            </a:r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aulas/aula-02-engenheiro/vertice/</a:t>
            </a:r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compare o arquivo.</a:t>
            </a:r>
            <a:endParaRPr lang="en-US" sz="1100" dirty="0"/>
          </a:p>
        </p:txBody>
      </p:sp>
      <p:pic>
        <p:nvPicPr>
          <p:cNvPr id="5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52" name="Text 49"/>
          <p:cNvSpPr txBox="1"/>
          <p:nvPr/>
        </p:nvSpPr>
        <p:spPr>
          <a:xfrm>
            <a:off x="11009930" y="6387940"/>
            <a:ext cx="436575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49 / 51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1767835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FRASE DO SEGUNDO DIA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2091677"/>
            <a:ext cx="11094443" cy="2102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spc="-3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"Juntei 20 planilhas, 25 listas do ClickUp e 15 cronogramas numa tabela só. </a:t>
            </a:r>
            <a:pPr algn="l" indent="0" marL="0">
              <a:lnSpc>
                <a:spcPts val="4140"/>
              </a:lnSpc>
              <a:buNone/>
            </a:pPr>
            <a:r>
              <a:rPr lang="en-US" sz="3600" b="1" spc="-36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Nenhuma tarefa ficou sem projeto</a:t>
            </a:r>
            <a:pPr algn="l" indent="0" marL="0">
              <a:lnSpc>
                <a:spcPts val="4140"/>
              </a:lnSpc>
              <a:buNone/>
            </a:pPr>
            <a:r>
              <a:rPr lang="en-US" sz="3600" b="1" spc="-3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e o custo não mudou um centavo."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61981" y="4639154"/>
            <a:ext cx="11094443" cy="323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0"/>
              </a:lnSpc>
              <a:buNone/>
            </a:pPr>
            <a:r>
              <a:rPr lang="en-US" sz="17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Amanhã o dono pergunta em português: dashboard, Genie e o modelo que avisa 40 dias antes.</a:t>
            </a:r>
            <a:endParaRPr lang="en-US" sz="1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010228" y="6387940"/>
            <a:ext cx="436266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50 / 51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2007244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3 · QUARTA, 21/10 · CIENTISTA DE DADOS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2331086"/>
            <a:ext cx="11094443" cy="1554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120"/>
              </a:lnSpc>
              <a:buNone/>
            </a:pPr>
            <a:r>
              <a:rPr lang="en-US" sz="6000" b="1" spc="-120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 o atraso</a:t>
            </a:r>
            <a:endParaRPr lang="en-US" sz="6000" dirty="0"/>
          </a:p>
          <a:p>
            <a:pPr algn="l" indent="0" marL="0">
              <a:lnSpc>
                <a:spcPts val="6120"/>
              </a:lnSpc>
              <a:buNone/>
            </a:pPr>
            <a:r>
              <a:rPr lang="en-US" sz="6000" b="1" spc="-120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antes de ele acontecer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761981" y="4075904"/>
            <a:ext cx="11094443" cy="647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0"/>
              </a:lnSpc>
              <a:buNone/>
            </a:pPr>
            <a:r>
              <a:rPr lang="en-US" sz="17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Pergunta 4: o que vai dar errado no próximo mês? Um modelo, treinado com o passado de cada projeto, que avisa 40 dias antes.</a:t>
            </a:r>
            <a:endParaRPr lang="en-US" sz="1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299043"/>
            <a:ext cx="3021135" cy="27939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Farol</dc:title>
  <dc:subject>PptxGenJS Presentation</dc:subject>
  <dc:creator>PptxGenJS</dc:creator>
  <cp:lastModifiedBy>PptxGenJS</cp:lastModifiedBy>
  <cp:revision>1</cp:revision>
  <dcterms:created xsi:type="dcterms:W3CDTF">2026-10-20T20:11:19Z</dcterms:created>
  <dcterms:modified xsi:type="dcterms:W3CDTF">2026-10-20T20:11:19Z</dcterms:modified>
</cp:coreProperties>
</file>